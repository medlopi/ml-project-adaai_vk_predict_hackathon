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12192000" cy="6858000"/>
  <p:embeddedFontLst>
    <p:embeddedFont>
      <p:font typeface="Helvetica Neue" panose="020B0604020202020204" charset="0"/>
      <p:regular r:id="rId16"/>
      <p:bold r:id="rId17"/>
      <p:italic r:id="rId18"/>
      <p:boldItalic r:id="rId19"/>
    </p:embeddedFont>
    <p:embeddedFont>
      <p:font typeface="Trebuchet MS" panose="020B0603020202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eOE+X4bE8sZmhOdNxlrS6rAZ3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D81CE6-B62D-4A4B-B2EB-DFE3472FCBB5}">
  <a:tblStyle styleId="{8BD81CE6-B62D-4A4B-B2EB-DFE3472FCB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461" autoAdjust="0"/>
  </p:normalViewPr>
  <p:slideViewPr>
    <p:cSldViewPr snapToGrid="0">
      <p:cViewPr varScale="1">
        <p:scale>
          <a:sx n="97" d="100"/>
          <a:sy n="97" d="100"/>
        </p:scale>
        <p:origin x="273" y="5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/>
              <a:t>Сюда картинку с </a:t>
            </a:r>
            <a:r>
              <a:rPr lang="ru-RU" dirty="0" err="1"/>
              <a:t>хедом</a:t>
            </a:r>
            <a:r>
              <a:rPr lang="ru-RU" dirty="0"/>
              <a:t>, </a:t>
            </a:r>
            <a:r>
              <a:rPr lang="en-US" dirty="0"/>
              <a:t>df.info(), </a:t>
            </a:r>
            <a:r>
              <a:rPr lang="en-US" dirty="0" err="1"/>
              <a:t>df.describe</a:t>
            </a:r>
            <a:r>
              <a:rPr lang="en-US" dirty="0"/>
              <a:t>(), </a:t>
            </a:r>
            <a:r>
              <a:rPr lang="ru-RU" dirty="0"/>
              <a:t>распределение признаков до чистки и после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Распределение какого-то признака, какой-то другой график, </a:t>
            </a:r>
            <a:r>
              <a:rPr lang="en-US" dirty="0"/>
              <a:t>2,</a:t>
            </a:r>
            <a:r>
              <a:rPr lang="ru-RU" dirty="0"/>
              <a:t>4,6,</a:t>
            </a:r>
            <a:r>
              <a:rPr lang="en-US" dirty="0"/>
              <a:t> -2, -1</a:t>
            </a: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Полностью че то переделать, почистить, </a:t>
            </a:r>
            <a:r>
              <a:rPr lang="ru-RU" dirty="0" err="1"/>
              <a:t>мб</a:t>
            </a:r>
            <a:r>
              <a:rPr lang="ru-RU" dirty="0"/>
              <a:t> добавить что-то про </a:t>
            </a:r>
            <a:r>
              <a:rPr lang="ru-RU" dirty="0" err="1"/>
              <a:t>полиномиал</a:t>
            </a:r>
            <a:r>
              <a:rPr lang="ru-RU" dirty="0"/>
              <a:t> </a:t>
            </a:r>
            <a:r>
              <a:rPr lang="ru-RU" dirty="0" err="1"/>
              <a:t>фичерс</a:t>
            </a:r>
            <a:endParaRPr dirty="0"/>
          </a:p>
        </p:txBody>
      </p:sp>
      <p:sp>
        <p:nvSpPr>
          <p:cNvPr id="101" name="Google Shape;1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Сделать тут схему вместо текста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Поменять данные на верные, добавить</a:t>
            </a:r>
            <a:r>
              <a:rPr lang="en-US" dirty="0"/>
              <a:t> private test</a:t>
            </a:r>
            <a:endParaRPr dirty="0"/>
          </a:p>
        </p:txBody>
      </p:sp>
      <p:sp>
        <p:nvSpPr>
          <p:cNvPr id="121" name="Google Shape;1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Добавить 1-2 бленда, обновить результаты старых</a:t>
            </a:r>
            <a:endParaRPr dirty="0"/>
          </a:p>
        </p:txBody>
      </p:sp>
      <p:sp>
        <p:nvSpPr>
          <p:cNvPr id="156" name="Google Shape;1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Обновить инфу</a:t>
            </a:r>
            <a:endParaRPr dirty="0"/>
          </a:p>
        </p:txBody>
      </p:sp>
      <p:sp>
        <p:nvSpPr>
          <p:cNvPr id="169" name="Google Shape;1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title"/>
          </p:nvPr>
        </p:nvSpPr>
        <p:spPr>
          <a:xfrm>
            <a:off x="10397500" y="484018"/>
            <a:ext cx="73025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0F2C6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body" idx="1"/>
          </p:nvPr>
        </p:nvSpPr>
        <p:spPr>
          <a:xfrm>
            <a:off x="1420170" y="2110702"/>
            <a:ext cx="9230360" cy="21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0F2C6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10397500" y="484018"/>
            <a:ext cx="73025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0F2C6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10397500" y="484018"/>
            <a:ext cx="73025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0F2C6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7199" y="464363"/>
            <a:ext cx="448275" cy="4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6"/>
          <p:cNvSpPr/>
          <p:nvPr/>
        </p:nvSpPr>
        <p:spPr>
          <a:xfrm>
            <a:off x="3298685" y="464362"/>
            <a:ext cx="8345805" cy="586740"/>
          </a:xfrm>
          <a:custGeom>
            <a:avLst/>
            <a:gdLst/>
            <a:ahLst/>
            <a:cxnLst/>
            <a:rect l="l" t="t" r="r" b="b"/>
            <a:pathLst>
              <a:path w="8345805" h="586740" extrusionOk="0">
                <a:moveTo>
                  <a:pt x="0" y="0"/>
                </a:moveTo>
                <a:lnTo>
                  <a:pt x="0" y="586259"/>
                </a:lnTo>
              </a:path>
              <a:path w="8345805" h="586740" extrusionOk="0">
                <a:moveTo>
                  <a:pt x="2800729" y="0"/>
                </a:moveTo>
                <a:lnTo>
                  <a:pt x="2800729" y="586259"/>
                </a:lnTo>
              </a:path>
              <a:path w="8345805" h="586740" extrusionOk="0">
                <a:moveTo>
                  <a:pt x="6978395" y="0"/>
                </a:moveTo>
                <a:lnTo>
                  <a:pt x="6978395" y="586259"/>
                </a:lnTo>
              </a:path>
              <a:path w="8345805" h="586740" extrusionOk="0">
                <a:moveTo>
                  <a:pt x="8345181" y="0"/>
                </a:moveTo>
                <a:lnTo>
                  <a:pt x="8345181" y="586259"/>
                </a:lnTo>
              </a:path>
            </a:pathLst>
          </a:custGeom>
          <a:noFill/>
          <a:ln w="12675" cap="flat" cmpd="sng">
            <a:solidFill>
              <a:srgbClr val="102D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" name="Google Shape;9;p16"/>
          <p:cNvSpPr txBox="1">
            <a:spLocks noGrp="1"/>
          </p:cNvSpPr>
          <p:nvPr>
            <p:ph type="title"/>
          </p:nvPr>
        </p:nvSpPr>
        <p:spPr>
          <a:xfrm>
            <a:off x="10397500" y="484018"/>
            <a:ext cx="73025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F2C6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body" idx="1"/>
          </p:nvPr>
        </p:nvSpPr>
        <p:spPr>
          <a:xfrm>
            <a:off x="1420170" y="2110702"/>
            <a:ext cx="9230360" cy="21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7" name="Google Shape;47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13859" y="962173"/>
              <a:ext cx="886498" cy="886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49;p1"/>
            <p:cNvSpPr/>
            <p:nvPr/>
          </p:nvSpPr>
          <p:spPr>
            <a:xfrm>
              <a:off x="6090211" y="985335"/>
              <a:ext cx="5088890" cy="840740"/>
            </a:xfrm>
            <a:custGeom>
              <a:avLst/>
              <a:gdLst/>
              <a:ahLst/>
              <a:cxnLst/>
              <a:rect l="l" t="t" r="r" b="b"/>
              <a:pathLst>
                <a:path w="5088890" h="840739" extrusionOk="0">
                  <a:moveTo>
                    <a:pt x="0" y="0"/>
                  </a:moveTo>
                  <a:lnTo>
                    <a:pt x="0" y="840172"/>
                  </a:lnTo>
                </a:path>
                <a:path w="5088890" h="840739" extrusionOk="0">
                  <a:moveTo>
                    <a:pt x="2552369" y="0"/>
                  </a:moveTo>
                  <a:lnTo>
                    <a:pt x="2552369" y="840172"/>
                  </a:lnTo>
                </a:path>
                <a:path w="5088890" h="840739" extrusionOk="0">
                  <a:moveTo>
                    <a:pt x="5088834" y="0"/>
                  </a:moveTo>
                  <a:lnTo>
                    <a:pt x="5088834" y="840172"/>
                  </a:lnTo>
                </a:path>
              </a:pathLst>
            </a:custGeom>
            <a:noFill/>
            <a:ln w="12675" cap="flat" cmpd="sng">
              <a:solidFill>
                <a:srgbClr val="102D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0" name="Google Shape;50;p1"/>
          <p:cNvSpPr txBox="1"/>
          <p:nvPr/>
        </p:nvSpPr>
        <p:spPr>
          <a:xfrm>
            <a:off x="2062247" y="1165997"/>
            <a:ext cx="322707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0F2C68"/>
                </a:solidFill>
                <a:latin typeface="Trebuchet MS"/>
              </a:rPr>
              <a:t>Машинное обучение и анализ данных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6246720" y="1112071"/>
            <a:ext cx="2152015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75" rIns="0" bIns="0" anchor="t" anchorCtr="0">
            <a:noAutofit/>
          </a:bodyPr>
          <a:lstStyle/>
          <a:p>
            <a:pPr marL="12700" marR="5080" lvl="0" indent="0" algn="l" rtl="0">
              <a:lnSpc>
                <a:spcPct val="96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0F2C68"/>
                </a:solidFill>
                <a:latin typeface="Trebuchet MS"/>
              </a:rPr>
              <a:t>Школа информатики, физики и технологий</a:t>
            </a:r>
            <a:endParaRPr sz="16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987965" y="2057400"/>
            <a:ext cx="10191135" cy="3421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5" rIns="0" bIns="0" anchor="t" anchorCtr="0">
            <a:noAutofit/>
          </a:bodyPr>
          <a:lstStyle/>
          <a:p>
            <a:pPr marL="85725" marR="5080" lvl="0" indent="0" algn="l" rtl="0">
              <a:lnSpc>
                <a:spcPct val="101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rgbClr val="0F2C68"/>
                </a:solidFill>
                <a:latin typeface="Trebuchet MS"/>
              </a:rPr>
              <a:t>VK Predict CMC Hackathon</a:t>
            </a:r>
            <a:endParaRPr dirty="0"/>
          </a:p>
          <a:p>
            <a:endParaRPr dirty="0"/>
          </a:p>
          <a:p>
            <a:r>
              <a:rPr sz="1700" b="0" dirty="0" err="1">
                <a:solidFill>
                  <a:srgbClr val="0F2C68"/>
                </a:solidFill>
                <a:latin typeface="Trebuchet MS"/>
              </a:rPr>
              <a:t>Прогнозирование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склонности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пользователя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к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секретному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событию</a:t>
            </a:r>
            <a:endParaRPr sz="1700" b="0" dirty="0">
              <a:solidFill>
                <a:srgbClr val="0F2C68"/>
              </a:solidFill>
              <a:latin typeface="Trebuchet MS"/>
            </a:endParaRPr>
          </a:p>
          <a:p>
            <a:endParaRPr sz="1700" b="0" dirty="0">
              <a:solidFill>
                <a:srgbClr val="0F2C68"/>
              </a:solidFill>
              <a:latin typeface="Trebuchet MS"/>
            </a:endParaRPr>
          </a:p>
          <a:p>
            <a:r>
              <a:rPr sz="1700" b="0" dirty="0" err="1">
                <a:solidFill>
                  <a:srgbClr val="0F2C68"/>
                </a:solidFill>
                <a:latin typeface="Trebuchet MS"/>
              </a:rPr>
              <a:t>Бинарная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классификация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на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анонимизированных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табличных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данных</a:t>
            </a:r>
            <a:endParaRPr sz="1700" b="0" dirty="0">
              <a:solidFill>
                <a:srgbClr val="0F2C68"/>
              </a:solidFill>
              <a:latin typeface="Trebuchet MS"/>
            </a:endParaRPr>
          </a:p>
          <a:p>
            <a:endParaRPr sz="1700" b="0" dirty="0">
              <a:solidFill>
                <a:srgbClr val="0F2C68"/>
              </a:solidFill>
              <a:latin typeface="Trebuchet MS"/>
            </a:endParaRPr>
          </a:p>
          <a:p>
            <a:r>
              <a:rPr sz="1700" b="0" dirty="0" err="1">
                <a:solidFill>
                  <a:srgbClr val="0F2C68"/>
                </a:solidFill>
                <a:latin typeface="Trebuchet MS"/>
              </a:rPr>
              <a:t>Направление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подготовки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01.0</a:t>
            </a:r>
            <a:r>
              <a:rPr lang="ru-RU" sz="1700" b="0" dirty="0">
                <a:solidFill>
                  <a:srgbClr val="0F2C68"/>
                </a:solidFill>
                <a:latin typeface="Trebuchet MS"/>
              </a:rPr>
              <a:t>3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.02 «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Прикладная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математика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и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информатика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»</a:t>
            </a:r>
            <a:r>
              <a:rPr lang="ru-RU" sz="1700" b="0" dirty="0">
                <a:solidFill>
                  <a:srgbClr val="0F2C68"/>
                </a:solidFill>
                <a:latin typeface="Trebuchet MS"/>
              </a:rPr>
              <a:t>, ПАДИИ</a:t>
            </a:r>
            <a:endParaRPr sz="1700" b="0" dirty="0">
              <a:solidFill>
                <a:srgbClr val="0F2C68"/>
              </a:solidFill>
              <a:latin typeface="Trebuchet MS"/>
            </a:endParaRPr>
          </a:p>
          <a:p>
            <a:r>
              <a:rPr sz="1700" b="0" dirty="0" err="1">
                <a:solidFill>
                  <a:srgbClr val="0F2C68"/>
                </a:solidFill>
                <a:latin typeface="Trebuchet MS"/>
              </a:rPr>
              <a:t>Выполнили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:</a:t>
            </a:r>
            <a:r>
              <a:rPr lang="ru-RU"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lang="ru-RU" sz="1700" b="0" dirty="0" err="1">
                <a:solidFill>
                  <a:srgbClr val="0F2C68"/>
                </a:solidFill>
                <a:latin typeface="Trebuchet MS"/>
              </a:rPr>
              <a:t>Пеганов</a:t>
            </a:r>
            <a:r>
              <a:rPr lang="ru-RU" sz="1700" b="0" dirty="0">
                <a:solidFill>
                  <a:srgbClr val="0F2C68"/>
                </a:solidFill>
                <a:latin typeface="Trebuchet MS"/>
              </a:rPr>
              <a:t> Илья, Поздеев Арсений, Сорочан Дмитрий (Фанта с хлебом)</a:t>
            </a:r>
            <a:endParaRPr sz="1700" b="0" dirty="0">
              <a:solidFill>
                <a:srgbClr val="0F2C68"/>
              </a:solidFill>
              <a:latin typeface="Trebuchet MS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8774020" y="1108093"/>
            <a:ext cx="1884680" cy="51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300" rIns="0" bIns="0" anchor="t" anchorCtr="0">
            <a:noAutofit/>
          </a:bodyPr>
          <a:lstStyle/>
          <a:p>
            <a:pPr marL="12700" marR="508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F2C68"/>
                </a:solidFill>
                <a:latin typeface="Trebuchet MS"/>
              </a:rPr>
              <a:t>Санкт-Петербург, 2026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>
                <a:solidFill>
                  <a:srgbClr val="0F2C68"/>
                </a:solidFill>
                <a:latin typeface="Trebuchet MS"/>
              </a:rPr>
              <a:t>VK Predict CMC Hackathon</a:t>
            </a:r>
            <a:endParaRPr dirty="0"/>
          </a:p>
        </p:txBody>
      </p:sp>
      <p:sp>
        <p:nvSpPr>
          <p:cNvPr id="62" name="Google Shape;62;p2" descr="$PPTXTitle"/>
          <p:cNvSpPr txBox="1">
            <a:spLocks noGrp="1"/>
          </p:cNvSpPr>
          <p:nvPr>
            <p:ph type="title"/>
          </p:nvPr>
        </p:nvSpPr>
        <p:spPr>
          <a:xfrm>
            <a:off x="10397500" y="484018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dirty="0">
                <a:solidFill>
                  <a:srgbClr val="0F2C68"/>
                </a:solidFill>
                <a:latin typeface="Calibri"/>
              </a:rPr>
              <a:t>2/15</a:t>
            </a:r>
            <a:endParaRPr sz="2400" baseline="300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53440" y="1924213"/>
            <a:ext cx="5166360" cy="4208229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500" b="1" dirty="0" err="1">
                <a:solidFill>
                  <a:srgbClr val="0B1F4D"/>
                </a:solidFill>
                <a:latin typeface="Trebuchet MS" panose="020B0603020202020204" pitchFamily="34" charset="0"/>
              </a:rPr>
              <a:t>Формулировка</a:t>
            </a:r>
            <a:endParaRPr sz="1500" b="1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endParaRPr lang="ru-RU" sz="1500" b="1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pPr algn="l"/>
            <a:r>
              <a:rPr lang="ru-RU" sz="1500" dirty="0">
                <a:solidFill>
                  <a:srgbClr val="0B1F4D"/>
                </a:solidFill>
                <a:latin typeface="Trebuchet MS" panose="020B0603020202020204" pitchFamily="34" charset="0"/>
              </a:rPr>
              <a:t>• Структурированные табличные данные вектор, состоящий из числовых категориальных признаков</a:t>
            </a:r>
            <a:r>
              <a:rPr lang="ru-RU" sz="2000" b="0" i="0" dirty="0">
                <a:solidFill>
                  <a:srgbClr val="F7F8FC"/>
                </a:solidFill>
                <a:effectLst/>
                <a:latin typeface="Trebuchet MS" panose="020B0603020202020204" pitchFamily="34" charset="0"/>
              </a:rPr>
              <a:t>.</a:t>
            </a:r>
          </a:p>
          <a:p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для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каждого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пользователя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нужно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предсказать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склонность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к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секретному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событию</a:t>
            </a:r>
            <a:endParaRPr sz="1500" b="0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на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выходе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нужен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непрерывный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score, а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не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жёсткий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класс</a:t>
            </a:r>
            <a:endParaRPr sz="1500" b="0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задача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решается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как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бинарная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классификация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с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ранжированием</a:t>
            </a:r>
            <a:r>
              <a:rPr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объектов</a:t>
            </a:r>
            <a:endParaRPr lang="en-US" sz="1500" b="0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r>
              <a:rPr lang="ru-RU"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</a:t>
            </a:r>
            <a:r>
              <a:rPr lang="en-US"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lang="ru-RU" sz="1500" dirty="0">
                <a:solidFill>
                  <a:srgbClr val="0B1F4D"/>
                </a:solidFill>
                <a:latin typeface="Trebuchet MS" panose="020B0603020202020204" pitchFamily="34" charset="0"/>
              </a:rPr>
              <a:t>Целевая метрика: </a:t>
            </a:r>
            <a:r>
              <a:rPr lang="en-US" sz="1500" dirty="0">
                <a:solidFill>
                  <a:srgbClr val="0B1F4D"/>
                </a:solidFill>
                <a:latin typeface="Trebuchet MS" panose="020B0603020202020204" pitchFamily="34" charset="0"/>
              </a:rPr>
              <a:t>ROC-AUC. </a:t>
            </a:r>
            <a:r>
              <a:rPr lang="ru-RU" sz="1500" dirty="0">
                <a:solidFill>
                  <a:srgbClr val="0B1F4D"/>
                </a:solidFill>
                <a:latin typeface="Trebuchet MS" panose="020B0603020202020204" pitchFamily="34" charset="0"/>
              </a:rPr>
              <a:t>Модель должна быть откалибрована для ранжирования объектов</a:t>
            </a:r>
            <a:endParaRPr lang="en-US" sz="1500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r>
              <a:rPr lang="ru-RU"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</a:t>
            </a:r>
            <a:r>
              <a:rPr lang="en-US" sz="150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lang="ru-RU" sz="1500" dirty="0">
                <a:solidFill>
                  <a:srgbClr val="0B1F4D"/>
                </a:solidFill>
                <a:latin typeface="Trebuchet MS" panose="020B0603020202020204" pitchFamily="34" charset="0"/>
              </a:rPr>
              <a:t>Дисбаланс классов: крайне низкая доля положительного класса в обучающей выборке</a:t>
            </a:r>
            <a:endParaRPr sz="1500" dirty="0">
              <a:solidFill>
                <a:srgbClr val="0B1F4D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500070" y="1230871"/>
            <a:ext cx="8567729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dirty="0" err="1">
                <a:solidFill>
                  <a:srgbClr val="0B1F4D"/>
                </a:solidFill>
                <a:latin typeface="Trebuchet MS" panose="020B0603020202020204" pitchFamily="34" charset="0"/>
              </a:rPr>
              <a:t>Данные</a:t>
            </a:r>
            <a:r>
              <a:rPr sz="3000" b="1" dirty="0">
                <a:solidFill>
                  <a:srgbClr val="0B1F4D"/>
                </a:solidFill>
                <a:latin typeface="Trebuchet MS" panose="020B0603020202020204" pitchFamily="34" charset="0"/>
              </a:rPr>
              <a:t> и </a:t>
            </a:r>
            <a:r>
              <a:rPr sz="3000" b="1" dirty="0" err="1">
                <a:solidFill>
                  <a:srgbClr val="0B1F4D"/>
                </a:solidFill>
                <a:latin typeface="Trebuchet MS" panose="020B0603020202020204" pitchFamily="34" charset="0"/>
              </a:rPr>
              <a:t>метрика</a:t>
            </a:r>
            <a:endParaRPr sz="3000" b="1" dirty="0">
              <a:solidFill>
                <a:srgbClr val="0B1F4D"/>
              </a:solidFill>
              <a:latin typeface="Trebuchet MS" panose="020B0603020202020204" pitchFamily="34" charset="0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73" name="Google Shape;73;p3" descr="$PPTXTitle"/>
          <p:cNvSpPr txBox="1">
            <a:spLocks noGrp="1"/>
          </p:cNvSpPr>
          <p:nvPr>
            <p:ph type="title"/>
          </p:nvPr>
        </p:nvSpPr>
        <p:spPr>
          <a:xfrm>
            <a:off x="10591800" y="529421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3/15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58931" y="1828800"/>
            <a:ext cx="1145377" cy="526298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2300" b="1" dirty="0">
                <a:solidFill>
                  <a:srgbClr val="0B1F4D"/>
                </a:solidFill>
                <a:latin typeface="Trebuchet MS" panose="020B0603020202020204" pitchFamily="34" charset="0"/>
              </a:rPr>
              <a:t>247 972</a:t>
            </a:r>
          </a:p>
          <a:p>
            <a:pPr algn="ctr"/>
            <a:r>
              <a:rPr sz="1000" dirty="0" err="1">
                <a:solidFill>
                  <a:srgbClr val="0B1F4D"/>
                </a:solidFill>
                <a:latin typeface="Trebuchet MS" panose="020B0603020202020204" pitchFamily="34" charset="0"/>
              </a:rPr>
              <a:t>строк</a:t>
            </a:r>
            <a:r>
              <a:rPr sz="1000" dirty="0">
                <a:solidFill>
                  <a:srgbClr val="0B1F4D"/>
                </a:solidFill>
                <a:latin typeface="Trebuchet MS" panose="020B0603020202020204" pitchFamily="34" charset="0"/>
              </a:rPr>
              <a:t> в train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99211" y="1828800"/>
            <a:ext cx="1145377" cy="526298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2300" b="1" dirty="0">
                <a:solidFill>
                  <a:srgbClr val="0B1F4D"/>
                </a:solidFill>
                <a:latin typeface="Trebuchet MS" panose="020B0603020202020204" pitchFamily="34" charset="0"/>
              </a:rPr>
              <a:t>106 274</a:t>
            </a:r>
          </a:p>
          <a:p>
            <a:pPr algn="ctr"/>
            <a:r>
              <a:rPr sz="1000" dirty="0" err="1">
                <a:solidFill>
                  <a:srgbClr val="0B1F4D"/>
                </a:solidFill>
                <a:latin typeface="Trebuchet MS" panose="020B0603020202020204" pitchFamily="34" charset="0"/>
              </a:rPr>
              <a:t>строк</a:t>
            </a:r>
            <a:r>
              <a:rPr sz="1000" dirty="0">
                <a:solidFill>
                  <a:srgbClr val="0B1F4D"/>
                </a:solidFill>
                <a:latin typeface="Trebuchet MS" panose="020B0603020202020204" pitchFamily="34" charset="0"/>
              </a:rPr>
              <a:t> в test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56697" y="1828800"/>
            <a:ext cx="710964" cy="526298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2300" b="1" dirty="0">
                <a:solidFill>
                  <a:srgbClr val="0B1F4D"/>
                </a:solidFill>
                <a:latin typeface="Trebuchet MS" panose="020B0603020202020204" pitchFamily="34" charset="0"/>
              </a:rPr>
              <a:t>1367</a:t>
            </a:r>
          </a:p>
          <a:p>
            <a:pPr algn="ctr"/>
            <a:r>
              <a:rPr sz="100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признаков</a:t>
            </a:r>
            <a:endParaRPr sz="1000" dirty="0">
              <a:solidFill>
                <a:srgbClr val="0B1F4D"/>
              </a:solidFill>
              <a:latin typeface="Trebuchet MS" panose="020B0603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828048" y="1828800"/>
            <a:ext cx="848822" cy="526298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2300" b="1" dirty="0">
                <a:solidFill>
                  <a:srgbClr val="0B1F4D"/>
                </a:solidFill>
                <a:latin typeface="Trebuchet MS" panose="020B0603020202020204" pitchFamily="34" charset="0"/>
              </a:rPr>
              <a:t>1.35%</a:t>
            </a:r>
          </a:p>
          <a:p>
            <a:pPr algn="ctr"/>
            <a:r>
              <a:rPr sz="100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класс</a:t>
            </a:r>
            <a:r>
              <a:rPr sz="1000" dirty="0">
                <a:solidFill>
                  <a:srgbClr val="0B1F4D"/>
                </a:solidFill>
                <a:latin typeface="Trebuchet MS" panose="020B0603020202020204" pitchFamily="34" charset="0"/>
              </a:rPr>
              <a:t>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2EAB9-BADB-720B-8FAF-72AE1399F41C}"/>
              </a:ext>
            </a:extLst>
          </p:cNvPr>
          <p:cNvSpPr txBox="1"/>
          <p:nvPr/>
        </p:nvSpPr>
        <p:spPr>
          <a:xfrm>
            <a:off x="594360" y="2729480"/>
            <a:ext cx="60951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rgbClr val="0B1F4D"/>
                </a:solidFill>
                <a:latin typeface="Trebuchet MS" panose="020B0603020202020204" pitchFamily="34" charset="0"/>
              </a:rPr>
              <a:t>Особенности данных</a:t>
            </a:r>
          </a:p>
          <a:p>
            <a:endParaRPr lang="ru-RU" sz="1400" b="1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r>
              <a:rPr lang="ru-RU" sz="140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признаки </a:t>
            </a:r>
            <a:r>
              <a:rPr lang="ru-RU" sz="140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анонимизированы</a:t>
            </a:r>
            <a:r>
              <a:rPr lang="ru-RU" sz="1400" b="0" dirty="0">
                <a:solidFill>
                  <a:srgbClr val="0B1F4D"/>
                </a:solidFill>
                <a:latin typeface="Trebuchet MS" panose="020B0603020202020204" pitchFamily="34" charset="0"/>
              </a:rPr>
              <a:t>, семантики колонок нет</a:t>
            </a:r>
          </a:p>
          <a:p>
            <a:r>
              <a:rPr lang="ru-RU" sz="140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положительный класс редкий: около 1.35%</a:t>
            </a:r>
          </a:p>
          <a:p>
            <a:r>
              <a:rPr lang="ru-RU" sz="140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одиночные признаки слабые, основной сигнал проявляется в комбинациях</a:t>
            </a:r>
          </a:p>
          <a:p>
            <a:r>
              <a:rPr lang="ru-RU" sz="140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</a:t>
            </a:r>
            <a:r>
              <a:rPr lang="ru-RU" dirty="0">
                <a:solidFill>
                  <a:srgbClr val="0B1F4D"/>
                </a:solidFill>
                <a:latin typeface="Trebuchet MS" panose="020B0603020202020204" pitchFamily="34" charset="0"/>
              </a:rPr>
              <a:t>Некачественные данные: наличие шума в табличных признаках</a:t>
            </a:r>
          </a:p>
          <a:p>
            <a:endParaRPr lang="ru-RU" dirty="0">
              <a:solidFill>
                <a:srgbClr val="0B1F4D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500071" y="1230871"/>
            <a:ext cx="6465750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dirty="0">
                <a:solidFill>
                  <a:srgbClr val="0B1F4D"/>
                </a:solidFill>
                <a:latin typeface="Trebuchet MS" panose="020B0603020202020204" pitchFamily="34" charset="0"/>
              </a:rPr>
              <a:t>EDA: </a:t>
            </a:r>
            <a:r>
              <a:rPr sz="3000" b="1" dirty="0" err="1">
                <a:solidFill>
                  <a:srgbClr val="0B1F4D"/>
                </a:solidFill>
                <a:latin typeface="Trebuchet MS" panose="020B0603020202020204" pitchFamily="34" charset="0"/>
              </a:rPr>
              <a:t>базовая</a:t>
            </a:r>
            <a:r>
              <a:rPr sz="3000" b="1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3000" b="1" dirty="0" err="1">
                <a:solidFill>
                  <a:srgbClr val="0B1F4D"/>
                </a:solidFill>
                <a:latin typeface="Trebuchet MS" panose="020B0603020202020204" pitchFamily="34" charset="0"/>
              </a:rPr>
              <a:t>диагностика</a:t>
            </a:r>
            <a:endParaRPr sz="3000" b="1" dirty="0">
              <a:solidFill>
                <a:srgbClr val="0B1F4D"/>
              </a:solidFill>
              <a:latin typeface="Trebuchet MS" panose="020B0603020202020204" pitchFamily="34" charset="0"/>
              <a:sym typeface="Arial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84" name="Google Shape;84;p4" descr="$PPTXTitle"/>
          <p:cNvSpPr txBox="1">
            <a:spLocks noGrp="1"/>
          </p:cNvSpPr>
          <p:nvPr>
            <p:ph type="title"/>
          </p:nvPr>
        </p:nvSpPr>
        <p:spPr>
          <a:xfrm>
            <a:off x="10591800" y="63586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4/15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40080" y="1737359"/>
            <a:ext cx="5349240" cy="378382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50" b="1" dirty="0" err="1">
                <a:solidFill>
                  <a:srgbClr val="0B1F4D"/>
                </a:solidFill>
                <a:latin typeface="Trebuchet MS" panose="020B0603020202020204" pitchFamily="34" charset="0"/>
              </a:rPr>
              <a:t>Что</a:t>
            </a:r>
            <a:r>
              <a:rPr sz="1450" b="1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450" b="1" dirty="0" err="1">
                <a:solidFill>
                  <a:srgbClr val="0B1F4D"/>
                </a:solidFill>
                <a:latin typeface="Trebuchet MS" panose="020B0603020202020204" pitchFamily="34" charset="0"/>
              </a:rPr>
              <a:t>проверял</a:t>
            </a:r>
            <a:r>
              <a:rPr lang="ru-RU" sz="1450" b="1" dirty="0">
                <a:solidFill>
                  <a:srgbClr val="0B1F4D"/>
                </a:solidFill>
                <a:latin typeface="Trebuchet MS" panose="020B0603020202020204" pitchFamily="34" charset="0"/>
              </a:rPr>
              <a:t>и</a:t>
            </a:r>
            <a:endParaRPr sz="1450" b="1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endParaRPr sz="1450" b="1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размерности</a:t>
            </a:r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train/test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и</a:t>
            </a:r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баланс</a:t>
            </a:r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таргета</a:t>
            </a:r>
            <a:endParaRPr sz="1450" b="0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наличие</a:t>
            </a:r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пропусков</a:t>
            </a:r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и</a:t>
            </a:r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типы</a:t>
            </a:r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данных</a:t>
            </a:r>
            <a:endParaRPr sz="1450" b="0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квазиконстантные</a:t>
            </a:r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и</a:t>
            </a:r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слабые</a:t>
            </a:r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признаки</a:t>
            </a:r>
            <a:endParaRPr sz="1450" b="0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корреляции</a:t>
            </a:r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и</a:t>
            </a:r>
            <a:r>
              <a:rPr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признаки-близнецы</a:t>
            </a:r>
            <a:endParaRPr sz="1450" b="0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r>
              <a:rPr lang="ru-RU"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совпадающие строки </a:t>
            </a:r>
            <a:r>
              <a:rPr lang="ru-RU"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train</a:t>
            </a:r>
            <a:r>
              <a:rPr lang="ru-RU"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/</a:t>
            </a:r>
            <a:r>
              <a:rPr lang="ru-RU" sz="1450" b="0" dirty="0" err="1">
                <a:solidFill>
                  <a:srgbClr val="0B1F4D"/>
                </a:solidFill>
                <a:latin typeface="Trebuchet MS" panose="020B0603020202020204" pitchFamily="34" charset="0"/>
              </a:rPr>
              <a:t>test</a:t>
            </a:r>
            <a:r>
              <a:rPr lang="ru-RU"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 как возможную утечку</a:t>
            </a:r>
          </a:p>
          <a:p>
            <a:r>
              <a:rPr lang="ru-RU"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</a:t>
            </a:r>
            <a:r>
              <a:rPr lang="ru-RU" sz="1450" dirty="0">
                <a:solidFill>
                  <a:srgbClr val="0B1F4D"/>
                </a:solidFill>
                <a:latin typeface="Trebuchet MS" panose="020B0603020202020204" pitchFamily="34" charset="0"/>
              </a:rPr>
              <a:t>оценили связь отдельных признаков с </a:t>
            </a:r>
            <a:r>
              <a:rPr lang="ru-RU" sz="1450" dirty="0" err="1">
                <a:solidFill>
                  <a:srgbClr val="0B1F4D"/>
                </a:solidFill>
                <a:latin typeface="Trebuchet MS" panose="020B0603020202020204" pitchFamily="34" charset="0"/>
              </a:rPr>
              <a:t>target</a:t>
            </a:r>
            <a:r>
              <a:rPr lang="ru-RU" sz="1450" dirty="0">
                <a:solidFill>
                  <a:srgbClr val="0B1F4D"/>
                </a:solidFill>
                <a:latin typeface="Trebuchet MS" panose="020B0603020202020204" pitchFamily="34" charset="0"/>
              </a:rPr>
              <a:t>;</a:t>
            </a:r>
          </a:p>
          <a:p>
            <a:r>
              <a:rPr lang="ru-RU"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</a:t>
            </a:r>
            <a:r>
              <a:rPr lang="ru-RU" sz="1450" dirty="0">
                <a:solidFill>
                  <a:srgbClr val="0B1F4D"/>
                </a:solidFill>
                <a:latin typeface="Trebuchet MS" panose="020B0603020202020204" pitchFamily="34" charset="0"/>
              </a:rPr>
              <a:t>построили </a:t>
            </a:r>
            <a:r>
              <a:rPr lang="ru-RU" sz="1450" dirty="0" err="1">
                <a:solidFill>
                  <a:srgbClr val="0B1F4D"/>
                </a:solidFill>
                <a:latin typeface="Trebuchet MS" panose="020B0603020202020204" pitchFamily="34" charset="0"/>
              </a:rPr>
              <a:t>top</a:t>
            </a:r>
            <a:r>
              <a:rPr lang="ru-RU" sz="1450" dirty="0">
                <a:solidFill>
                  <a:srgbClr val="0B1F4D"/>
                </a:solidFill>
                <a:latin typeface="Trebuchet MS" panose="020B0603020202020204" pitchFamily="34" charset="0"/>
              </a:rPr>
              <a:t>-N наборы признаков по важности, по корреляции;</a:t>
            </a:r>
          </a:p>
          <a:p>
            <a:r>
              <a:rPr lang="ru-RU"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</a:t>
            </a:r>
            <a:r>
              <a:rPr lang="ru-RU" sz="1450" dirty="0">
                <a:solidFill>
                  <a:srgbClr val="0B1F4D"/>
                </a:solidFill>
                <a:latin typeface="Trebuchet MS" panose="020B0603020202020204" pitchFamily="34" charset="0"/>
              </a:rPr>
              <a:t>сравнили </a:t>
            </a:r>
            <a:r>
              <a:rPr lang="ru-RU" sz="1450" dirty="0" err="1">
                <a:solidFill>
                  <a:srgbClr val="0B1F4D"/>
                </a:solidFill>
                <a:latin typeface="Trebuchet MS" panose="020B0603020202020204" pitchFamily="34" charset="0"/>
              </a:rPr>
              <a:t>train</a:t>
            </a:r>
            <a:r>
              <a:rPr lang="ru-RU" sz="1450" dirty="0">
                <a:solidFill>
                  <a:srgbClr val="0B1F4D"/>
                </a:solidFill>
                <a:latin typeface="Trebuchet MS" panose="020B0603020202020204" pitchFamily="34" charset="0"/>
              </a:rPr>
              <a:t>/</a:t>
            </a:r>
            <a:r>
              <a:rPr lang="ru-RU" sz="1450" dirty="0" err="1">
                <a:solidFill>
                  <a:srgbClr val="0B1F4D"/>
                </a:solidFill>
                <a:latin typeface="Trebuchet MS" panose="020B0603020202020204" pitchFamily="34" charset="0"/>
              </a:rPr>
              <a:t>test</a:t>
            </a:r>
            <a:r>
              <a:rPr lang="ru-RU" sz="1450" dirty="0">
                <a:solidFill>
                  <a:srgbClr val="0B1F4D"/>
                </a:solidFill>
                <a:latin typeface="Trebuchet MS" panose="020B0603020202020204" pitchFamily="34" charset="0"/>
              </a:rPr>
              <a:t> распределения и нашли признаки с возможным смещением;</a:t>
            </a:r>
          </a:p>
          <a:p>
            <a:r>
              <a:rPr lang="ru-RU" sz="1450" b="0" dirty="0">
                <a:solidFill>
                  <a:srgbClr val="0B1F4D"/>
                </a:solidFill>
                <a:latin typeface="Trebuchet MS" panose="020B0603020202020204" pitchFamily="34" charset="0"/>
              </a:rPr>
              <a:t>• </a:t>
            </a:r>
            <a:r>
              <a:rPr lang="ru-RU" sz="1450" dirty="0">
                <a:solidFill>
                  <a:srgbClr val="0B1F4D"/>
                </a:solidFill>
                <a:latin typeface="Trebuchet MS" panose="020B0603020202020204" pitchFamily="34" charset="0"/>
              </a:rPr>
              <a:t>изучили распределения признаков, долю нулей, выбросы и тяжёлые хвосты;</a:t>
            </a:r>
          </a:p>
          <a:p>
            <a:endParaRPr lang="ru-RU" sz="1450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br>
              <a:rPr lang="ru-RU" sz="1450" dirty="0">
                <a:solidFill>
                  <a:srgbClr val="0B1F4D"/>
                </a:solidFill>
                <a:latin typeface="Trebuchet MS" panose="020B0603020202020204" pitchFamily="34" charset="0"/>
              </a:rPr>
            </a:br>
            <a:endParaRPr lang="ru-RU" sz="1450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endParaRPr lang="ru-RU" sz="1450" dirty="0">
              <a:solidFill>
                <a:srgbClr val="0B1F4D"/>
              </a:solidFill>
              <a:latin typeface="Trebuchet MS" panose="020B0603020202020204" pitchFamily="34" charset="0"/>
            </a:endParaRPr>
          </a:p>
          <a:p>
            <a:br>
              <a:rPr lang="ru-RU" sz="1450" dirty="0">
                <a:solidFill>
                  <a:srgbClr val="0B1F4D"/>
                </a:solidFill>
                <a:latin typeface="Trebuchet MS" panose="020B0603020202020204" pitchFamily="34" charset="0"/>
              </a:rPr>
            </a:br>
            <a:br>
              <a:rPr lang="ru-RU" sz="1450" dirty="0">
                <a:solidFill>
                  <a:srgbClr val="0B1F4D"/>
                </a:solidFill>
                <a:latin typeface="Trebuchet MS" panose="020B0603020202020204" pitchFamily="34" charset="0"/>
              </a:rPr>
            </a:br>
            <a:endParaRPr sz="1450" dirty="0">
              <a:solidFill>
                <a:srgbClr val="0B1F4D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500071" y="1230871"/>
            <a:ext cx="6465750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dirty="0">
                <a:solidFill>
                  <a:srgbClr val="0B1F4D"/>
                </a:solidFill>
                <a:latin typeface="Arial"/>
              </a:rPr>
              <a:t>Feature engineering</a:t>
            </a:r>
            <a:endParaRPr sz="3000" b="1" dirty="0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07" name="Google Shape;107;p6" descr="$PPTXTitle"/>
          <p:cNvSpPr txBox="1">
            <a:spLocks noGrp="1"/>
          </p:cNvSpPr>
          <p:nvPr>
            <p:ph type="title"/>
          </p:nvPr>
        </p:nvSpPr>
        <p:spPr>
          <a:xfrm>
            <a:off x="10515600" y="529421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6/15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40080" y="1783080"/>
            <a:ext cx="5349240" cy="196894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50" b="1" dirty="0" err="1">
                <a:solidFill>
                  <a:srgbClr val="0B1F4D"/>
                </a:solidFill>
                <a:latin typeface="Arial"/>
              </a:rPr>
              <a:t>Что</a:t>
            </a:r>
            <a:r>
              <a:rPr sz="145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0B1F4D"/>
                </a:solidFill>
                <a:latin typeface="Arial"/>
              </a:rPr>
              <a:t>добавляли</a:t>
            </a:r>
            <a:endParaRPr sz="1450" b="1" dirty="0">
              <a:solidFill>
                <a:srgbClr val="0B1F4D"/>
              </a:solidFill>
              <a:latin typeface="Arial"/>
            </a:endParaRPr>
          </a:p>
          <a:p>
            <a:endParaRPr sz="1450" b="1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frequency encoding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для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частот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значений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rank-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преобразования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для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устойчивого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порядка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OOF target encoding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без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утечки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PCA / SVD и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компактные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stack-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признаки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meta-features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из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OOF-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предсказаний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базовых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моделей</a:t>
            </a:r>
            <a:endParaRPr sz="1450" b="0" dirty="0">
              <a:solidFill>
                <a:srgbClr val="0B1F4D"/>
              </a:solidFill>
              <a:latin typeface="Arial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263640" y="1783080"/>
            <a:ext cx="5074920" cy="1889429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50" b="1" dirty="0" err="1">
                <a:solidFill>
                  <a:srgbClr val="0B1F4D"/>
                </a:solidFill>
                <a:latin typeface="Arial"/>
              </a:rPr>
              <a:t>Как</a:t>
            </a:r>
            <a:r>
              <a:rPr sz="145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0B1F4D"/>
                </a:solidFill>
                <a:latin typeface="Arial"/>
              </a:rPr>
              <a:t>отбирали</a:t>
            </a:r>
            <a:endParaRPr sz="1450" b="1" dirty="0">
              <a:solidFill>
                <a:srgbClr val="0B1F4D"/>
              </a:solidFill>
              <a:latin typeface="Arial"/>
            </a:endParaRPr>
          </a:p>
          <a:p>
            <a:endParaRPr sz="1450" b="1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top300 / top500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по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важности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и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корреляциям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clean-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наборы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без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квазиконстант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и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близнецов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stable-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наборы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с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учётом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train/test drift</a:t>
            </a: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несколько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наборов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оставляли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для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ансамбля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,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даже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если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один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из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них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не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был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лучшим</a:t>
            </a:r>
            <a:endParaRPr sz="1450" b="0" dirty="0">
              <a:solidFill>
                <a:srgbClr val="0B1F4D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89B3C2-7BA6-B8B0-6640-50299AEAADC1}"/>
              </a:ext>
            </a:extLst>
          </p:cNvPr>
          <p:cNvSpPr txBox="1"/>
          <p:nvPr/>
        </p:nvSpPr>
        <p:spPr>
          <a:xfrm>
            <a:off x="535858" y="3957484"/>
            <a:ext cx="5727782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lang="en-US" sz="1450" dirty="0">
                <a:solidFill>
                  <a:srgbClr val="0B1F4D"/>
                </a:solidFill>
              </a:rPr>
              <a:t>raw baseline </a:t>
            </a:r>
            <a:r>
              <a:rPr lang="ru-RU" sz="1450" dirty="0">
                <a:solidFill>
                  <a:srgbClr val="0B1F4D"/>
                </a:solidFill>
              </a:rPr>
              <a:t>как контроль;</a:t>
            </a:r>
            <a:br>
              <a:rPr lang="ru-RU" sz="1450" dirty="0">
                <a:solidFill>
                  <a:srgbClr val="0B1F4D"/>
                </a:solidFill>
              </a:rPr>
            </a:br>
            <a:r>
              <a:rPr lang="ru-RU"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lang="en-US" sz="1450" dirty="0">
                <a:solidFill>
                  <a:srgbClr val="0B1F4D"/>
                </a:solidFill>
              </a:rPr>
              <a:t>clean dataset </a:t>
            </a:r>
            <a:r>
              <a:rPr lang="ru-RU" sz="1450" dirty="0">
                <a:solidFill>
                  <a:srgbClr val="0B1F4D"/>
                </a:solidFill>
              </a:rPr>
              <a:t>без мусорных и дублирующихся признаков;</a:t>
            </a:r>
            <a:br>
              <a:rPr lang="ru-RU" sz="1450" dirty="0">
                <a:solidFill>
                  <a:srgbClr val="0B1F4D"/>
                </a:solidFill>
              </a:rPr>
            </a:br>
            <a:r>
              <a:rPr lang="ru-RU"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lang="en-US" sz="1450" dirty="0">
                <a:solidFill>
                  <a:srgbClr val="0B1F4D"/>
                </a:solidFill>
              </a:rPr>
              <a:t>top300 / top500 / top700 </a:t>
            </a:r>
            <a:r>
              <a:rPr lang="ru-RU" sz="1450" dirty="0">
                <a:solidFill>
                  <a:srgbClr val="0B1F4D"/>
                </a:solidFill>
              </a:rPr>
              <a:t>наборы по важности;</a:t>
            </a:r>
            <a:br>
              <a:rPr lang="ru-RU" sz="1450" dirty="0">
                <a:solidFill>
                  <a:srgbClr val="0B1F4D"/>
                </a:solidFill>
              </a:rPr>
            </a:br>
            <a:r>
              <a:rPr lang="ru-RU"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lang="en-US" sz="1450" dirty="0">
                <a:solidFill>
                  <a:srgbClr val="0B1F4D"/>
                </a:solidFill>
              </a:rPr>
              <a:t>frequency/rank versions </a:t>
            </a:r>
            <a:r>
              <a:rPr lang="ru-RU" sz="1450" dirty="0">
                <a:solidFill>
                  <a:srgbClr val="0B1F4D"/>
                </a:solidFill>
              </a:rPr>
              <a:t>для устойчивых табличных признаков;</a:t>
            </a:r>
            <a:br>
              <a:rPr lang="ru-RU" sz="1450" dirty="0">
                <a:solidFill>
                  <a:srgbClr val="0B1F4D"/>
                </a:solidFill>
              </a:rPr>
            </a:br>
            <a:r>
              <a:rPr lang="ru-RU"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lang="en-US" sz="1450" dirty="0">
                <a:solidFill>
                  <a:srgbClr val="0B1F4D"/>
                </a:solidFill>
              </a:rPr>
              <a:t>OOF target-encoded version </a:t>
            </a:r>
            <a:r>
              <a:rPr lang="ru-RU" sz="1450" dirty="0">
                <a:solidFill>
                  <a:srgbClr val="0B1F4D"/>
                </a:solidFill>
              </a:rPr>
              <a:t>без прямой утечки;</a:t>
            </a:r>
            <a:br>
              <a:rPr lang="ru-RU" sz="1450" dirty="0">
                <a:solidFill>
                  <a:srgbClr val="0B1F4D"/>
                </a:solidFill>
              </a:rPr>
            </a:br>
            <a:r>
              <a:rPr lang="ru-RU"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lang="en-US" sz="1450" dirty="0">
                <a:solidFill>
                  <a:srgbClr val="0B1F4D"/>
                </a:solidFill>
              </a:rPr>
              <a:t>no-drift version </a:t>
            </a:r>
            <a:r>
              <a:rPr lang="ru-RU" sz="1450" dirty="0">
                <a:solidFill>
                  <a:srgbClr val="0B1F4D"/>
                </a:solidFill>
              </a:rPr>
              <a:t>для устойчивости </a:t>
            </a:r>
            <a:r>
              <a:rPr lang="en-US" sz="1450" dirty="0">
                <a:solidFill>
                  <a:srgbClr val="0B1F4D"/>
                </a:solidFill>
              </a:rPr>
              <a:t>train/test;</a:t>
            </a:r>
            <a:br>
              <a:rPr lang="en-US" sz="1450" dirty="0">
                <a:solidFill>
                  <a:srgbClr val="0B1F4D"/>
                </a:solidFill>
              </a:rPr>
            </a:br>
            <a:r>
              <a:rPr lang="ru-RU"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lang="en-US" sz="1450" dirty="0">
                <a:solidFill>
                  <a:srgbClr val="0B1F4D"/>
                </a:solidFill>
              </a:rPr>
              <a:t>PCA/SVD compact version </a:t>
            </a:r>
            <a:r>
              <a:rPr lang="ru-RU" sz="1450" dirty="0">
                <a:solidFill>
                  <a:srgbClr val="0B1F4D"/>
                </a:solidFill>
              </a:rPr>
              <a:t>для сжатия признаков;</a:t>
            </a:r>
            <a:br>
              <a:rPr lang="ru-RU" sz="1450" dirty="0">
                <a:solidFill>
                  <a:srgbClr val="0B1F4D"/>
                </a:solidFill>
              </a:rPr>
            </a:br>
            <a:r>
              <a:rPr lang="ru-RU"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lang="en-US" sz="1450" dirty="0">
                <a:solidFill>
                  <a:srgbClr val="0B1F4D"/>
                </a:solidFill>
              </a:rPr>
              <a:t>stack/meta version </a:t>
            </a:r>
            <a:r>
              <a:rPr lang="ru-RU" sz="1450" dirty="0">
                <a:solidFill>
                  <a:srgbClr val="0B1F4D"/>
                </a:solidFill>
              </a:rPr>
              <a:t>из </a:t>
            </a:r>
            <a:r>
              <a:rPr lang="en-US" sz="1450" dirty="0">
                <a:solidFill>
                  <a:srgbClr val="0B1F4D"/>
                </a:solidFill>
              </a:rPr>
              <a:t>OOF-</a:t>
            </a:r>
            <a:r>
              <a:rPr lang="ru-RU" sz="1450" dirty="0">
                <a:solidFill>
                  <a:srgbClr val="0B1F4D"/>
                </a:solidFill>
              </a:rPr>
              <a:t>прогнозов моделей;</a:t>
            </a:r>
            <a:br>
              <a:rPr lang="ru-RU" sz="1450" dirty="0">
                <a:solidFill>
                  <a:srgbClr val="0B1F4D"/>
                </a:solidFill>
              </a:rPr>
            </a:br>
            <a:r>
              <a:rPr lang="ru-RU"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lang="ru-RU" sz="1450" dirty="0">
                <a:solidFill>
                  <a:srgbClr val="0B1F4D"/>
                </a:solidFill>
              </a:rPr>
              <a:t>несколько датасетов оставили специально для разнообразия ансамбля.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500071" y="1230871"/>
            <a:ext cx="6465750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1F4D"/>
                </a:solidFill>
                <a:latin typeface="Arial"/>
              </a:rPr>
              <a:t>Валидационная схема</a:t>
            </a:r>
            <a:endParaRPr sz="3000" b="1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17" name="Google Shape;117;p7" descr="$PPTXTitle"/>
          <p:cNvSpPr txBox="1">
            <a:spLocks noGrp="1"/>
          </p:cNvSpPr>
          <p:nvPr>
            <p:ph type="title"/>
          </p:nvPr>
        </p:nvSpPr>
        <p:spPr>
          <a:xfrm>
            <a:off x="10591800" y="522616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7/15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94360" y="1874519"/>
            <a:ext cx="1920240" cy="1783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 dirty="0">
                <a:solidFill>
                  <a:srgbClr val="0B1F4D"/>
                </a:solidFill>
                <a:latin typeface="Arial"/>
              </a:rPr>
              <a:t>1. Split</a:t>
            </a:r>
          </a:p>
          <a:p>
            <a:r>
              <a:rPr sz="1100" dirty="0" err="1">
                <a:solidFill>
                  <a:srgbClr val="0B1F4D"/>
                </a:solidFill>
                <a:latin typeface="Arial"/>
              </a:rPr>
              <a:t>стратифицированные</a:t>
            </a:r>
            <a:r>
              <a:rPr sz="1100" dirty="0">
                <a:solidFill>
                  <a:srgbClr val="0B1F4D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B1F4D"/>
                </a:solidFill>
                <a:latin typeface="Arial"/>
              </a:rPr>
              <a:t>фолды</a:t>
            </a:r>
            <a:endParaRPr sz="1100" dirty="0">
              <a:solidFill>
                <a:srgbClr val="0B1F4D"/>
              </a:solidFill>
              <a:latin typeface="Arial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2862072" y="1874519"/>
            <a:ext cx="1920240" cy="1783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>
                <a:solidFill>
                  <a:srgbClr val="0B1F4D"/>
                </a:solidFill>
                <a:latin typeface="Arial"/>
              </a:rPr>
              <a:t>2. OOF</a:t>
            </a:r>
          </a:p>
          <a:p>
            <a:r>
              <a:rPr sz="1100">
                <a:solidFill>
                  <a:srgbClr val="0B1F4D"/>
                </a:solidFill>
                <a:latin typeface="Arial"/>
              </a:rPr>
              <a:t>предсказания вне обучающего фолда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29784" y="1874519"/>
            <a:ext cx="1920240" cy="1783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 dirty="0">
                <a:solidFill>
                  <a:srgbClr val="0B1F4D"/>
                </a:solidFill>
                <a:latin typeface="Arial"/>
              </a:rPr>
              <a:t>3. Metric</a:t>
            </a:r>
          </a:p>
          <a:p>
            <a:r>
              <a:rPr sz="1100" dirty="0">
                <a:solidFill>
                  <a:srgbClr val="0B1F4D"/>
                </a:solidFill>
                <a:latin typeface="Arial"/>
              </a:rPr>
              <a:t>ROC-AUC </a:t>
            </a:r>
            <a:r>
              <a:rPr sz="1100" dirty="0" err="1">
                <a:solidFill>
                  <a:srgbClr val="0B1F4D"/>
                </a:solidFill>
                <a:latin typeface="Arial"/>
              </a:rPr>
              <a:t>на</a:t>
            </a:r>
            <a:r>
              <a:rPr sz="1100" dirty="0">
                <a:solidFill>
                  <a:srgbClr val="0B1F4D"/>
                </a:solidFill>
                <a:latin typeface="Arial"/>
              </a:rPr>
              <a:t> OOF / validation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97496" y="1874519"/>
            <a:ext cx="1920240" cy="1783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 dirty="0">
                <a:solidFill>
                  <a:srgbClr val="0B1F4D"/>
                </a:solidFill>
                <a:latin typeface="Arial"/>
              </a:rPr>
              <a:t>4. Blend</a:t>
            </a:r>
          </a:p>
          <a:p>
            <a:r>
              <a:rPr sz="1100" dirty="0" err="1">
                <a:solidFill>
                  <a:srgbClr val="0B1F4D"/>
                </a:solidFill>
                <a:latin typeface="Arial"/>
              </a:rPr>
              <a:t>веса</a:t>
            </a:r>
            <a:r>
              <a:rPr sz="1100" dirty="0">
                <a:solidFill>
                  <a:srgbClr val="0B1F4D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B1F4D"/>
                </a:solidFill>
                <a:latin typeface="Arial"/>
              </a:rPr>
              <a:t>подбираются</a:t>
            </a:r>
            <a:r>
              <a:rPr sz="1100" dirty="0">
                <a:solidFill>
                  <a:srgbClr val="0B1F4D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B1F4D"/>
                </a:solidFill>
                <a:latin typeface="Arial"/>
              </a:rPr>
              <a:t>только</a:t>
            </a:r>
            <a:r>
              <a:rPr sz="1100" dirty="0">
                <a:solidFill>
                  <a:srgbClr val="0B1F4D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B1F4D"/>
                </a:solidFill>
                <a:latin typeface="Arial"/>
              </a:rPr>
              <a:t>по</a:t>
            </a:r>
            <a:r>
              <a:rPr sz="1100" dirty="0">
                <a:solidFill>
                  <a:srgbClr val="0B1F4D"/>
                </a:solidFill>
                <a:latin typeface="Arial"/>
              </a:rPr>
              <a:t> OOF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665208" y="1874519"/>
            <a:ext cx="1920240" cy="1783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 dirty="0">
                <a:solidFill>
                  <a:srgbClr val="0B1F4D"/>
                </a:solidFill>
                <a:latin typeface="Arial"/>
              </a:rPr>
              <a:t>5. Submit</a:t>
            </a:r>
          </a:p>
          <a:p>
            <a:r>
              <a:rPr sz="1100" dirty="0">
                <a:solidFill>
                  <a:srgbClr val="0B1F4D"/>
                </a:solidFill>
                <a:latin typeface="Arial"/>
              </a:rPr>
              <a:t>private test </a:t>
            </a:r>
            <a:r>
              <a:rPr sz="1100" dirty="0" err="1">
                <a:solidFill>
                  <a:srgbClr val="0B1F4D"/>
                </a:solidFill>
                <a:latin typeface="Arial"/>
              </a:rPr>
              <a:t>как</a:t>
            </a:r>
            <a:r>
              <a:rPr sz="1100" dirty="0">
                <a:solidFill>
                  <a:srgbClr val="0B1F4D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B1F4D"/>
                </a:solidFill>
                <a:latin typeface="Arial"/>
              </a:rPr>
              <a:t>финальная</a:t>
            </a:r>
            <a:r>
              <a:rPr sz="1100" dirty="0">
                <a:solidFill>
                  <a:srgbClr val="0B1F4D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B1F4D"/>
                </a:solidFill>
                <a:latin typeface="Arial"/>
              </a:rPr>
              <a:t>проверка</a:t>
            </a:r>
            <a:endParaRPr sz="1100" dirty="0">
              <a:solidFill>
                <a:srgbClr val="0B1F4D"/>
              </a:solidFill>
              <a:latin typeface="Arial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777240" y="4160520"/>
            <a:ext cx="10149840" cy="96012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00" b="0" dirty="0" err="1">
                <a:solidFill>
                  <a:srgbClr val="0B1F4D"/>
                </a:solidFill>
                <a:latin typeface="Arial"/>
              </a:rPr>
              <a:t>Ансамбли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обосновывали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валидацией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если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blend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стабильно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лучше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одиночных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моделей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на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OOF,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его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имеет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смысл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отправлять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на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leaderboard.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500071" y="1230871"/>
            <a:ext cx="6465750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dirty="0" err="1">
                <a:solidFill>
                  <a:srgbClr val="0B1F4D"/>
                </a:solidFill>
                <a:latin typeface="Arial"/>
              </a:rPr>
              <a:t>Одиночные</a:t>
            </a:r>
            <a:r>
              <a:rPr sz="30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B1F4D"/>
                </a:solidFill>
                <a:latin typeface="Arial"/>
              </a:rPr>
              <a:t>модели</a:t>
            </a:r>
            <a:r>
              <a:rPr sz="3000" b="1" dirty="0">
                <a:solidFill>
                  <a:srgbClr val="0B1F4D"/>
                </a:solidFill>
                <a:latin typeface="Arial"/>
              </a:rPr>
              <a:t>: </a:t>
            </a:r>
            <a:r>
              <a:rPr sz="3000" b="1" dirty="0" err="1">
                <a:solidFill>
                  <a:srgbClr val="0B1F4D"/>
                </a:solidFill>
                <a:latin typeface="Arial"/>
              </a:rPr>
              <a:t>что</a:t>
            </a:r>
            <a:r>
              <a:rPr sz="30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B1F4D"/>
                </a:solidFill>
                <a:latin typeface="Arial"/>
              </a:rPr>
              <a:t>пробовали</a:t>
            </a:r>
            <a:endParaRPr sz="3000" b="1" dirty="0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27" name="Google Shape;127;p8" descr="$PPTXTitle"/>
          <p:cNvSpPr txBox="1">
            <a:spLocks noGrp="1"/>
          </p:cNvSpPr>
          <p:nvPr>
            <p:ph type="title"/>
          </p:nvPr>
        </p:nvSpPr>
        <p:spPr>
          <a:xfrm>
            <a:off x="10591800" y="532084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8/15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Table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841737"/>
              </p:ext>
            </p:extLst>
          </p:nvPr>
        </p:nvGraphicFramePr>
        <p:xfrm>
          <a:off x="685800" y="1664208"/>
          <a:ext cx="4892040" cy="4375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763">
                <a:tc>
                  <a:txBody>
                    <a:bodyPr/>
                    <a:lstStyle/>
                    <a:p>
                      <a:pPr algn="ctr"/>
                      <a:r>
                        <a:rPr sz="840" b="1" dirty="0" err="1">
                          <a:solidFill>
                            <a:srgbClr val="0B1F4D"/>
                          </a:solidFill>
                          <a:latin typeface="Arial"/>
                        </a:rPr>
                        <a:t>Модель</a:t>
                      </a:r>
                      <a:endParaRPr sz="840" b="1" dirty="0">
                        <a:solidFill>
                          <a:srgbClr val="0B1F4D"/>
                        </a:solidFill>
                        <a:latin typeface="Arial"/>
                      </a:endParaRP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 dirty="0">
                          <a:solidFill>
                            <a:srgbClr val="0B1F4D"/>
                          </a:solidFill>
                          <a:latin typeface="Arial"/>
                        </a:rPr>
                        <a:t>Validation ROC-AUC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 dirty="0">
                          <a:solidFill>
                            <a:srgbClr val="0B1F4D"/>
                          </a:solidFill>
                          <a:latin typeface="Arial"/>
                        </a:rPr>
                        <a:t>FLAML </a:t>
                      </a:r>
                      <a:r>
                        <a:rPr sz="840" b="1" dirty="0" err="1">
                          <a:solidFill>
                            <a:srgbClr val="0B1F4D"/>
                          </a:solidFill>
                          <a:latin typeface="Arial"/>
                        </a:rPr>
                        <a:t>AutoML</a:t>
                      </a:r>
                      <a:endParaRPr sz="840" b="1" dirty="0">
                        <a:solidFill>
                          <a:srgbClr val="0B1F4D"/>
                        </a:solidFill>
                        <a:latin typeface="Arial"/>
                      </a:endParaRP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0.646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0.619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 dirty="0" err="1">
                          <a:solidFill>
                            <a:srgbClr val="0B1F4D"/>
                          </a:solidFill>
                          <a:latin typeface="Arial"/>
                        </a:rPr>
                        <a:t>ExtraTrees</a:t>
                      </a:r>
                      <a:endParaRPr sz="840" b="1" dirty="0">
                        <a:solidFill>
                          <a:srgbClr val="0B1F4D"/>
                        </a:solidFill>
                        <a:latin typeface="Arial"/>
                      </a:endParaRP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0.604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 dirty="0" err="1">
                          <a:solidFill>
                            <a:srgbClr val="0B1F4D"/>
                          </a:solidFill>
                          <a:latin typeface="Arial"/>
                        </a:rPr>
                        <a:t>TabM</a:t>
                      </a:r>
                      <a:endParaRPr sz="840" b="1" dirty="0">
                        <a:solidFill>
                          <a:srgbClr val="0B1F4D"/>
                        </a:solidFill>
                        <a:latin typeface="Arial"/>
                      </a:endParaRP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0.668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CNN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0.651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RNN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0.632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LightGBM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0.692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CatBoost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0.694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772">
                <a:tc>
                  <a:txBody>
                    <a:bodyPr/>
                    <a:lstStyle/>
                    <a:p>
                      <a:pPr algn="l"/>
                      <a:r>
                        <a:rPr sz="840" b="1" dirty="0" err="1">
                          <a:solidFill>
                            <a:srgbClr val="0B1F4D"/>
                          </a:solidFill>
                          <a:latin typeface="Arial"/>
                        </a:rPr>
                        <a:t>XGBoost</a:t>
                      </a:r>
                      <a:endParaRPr sz="840" b="1" dirty="0">
                        <a:solidFill>
                          <a:srgbClr val="0B1F4D"/>
                        </a:solidFill>
                        <a:latin typeface="Arial"/>
                      </a:endParaRP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0.689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7772">
                <a:tc>
                  <a:txBody>
                    <a:bodyPr/>
                    <a:lstStyle/>
                    <a:p>
                      <a:pPr algn="l"/>
                      <a:r>
                        <a:rPr lang="en-US" sz="840" b="1" dirty="0">
                          <a:solidFill>
                            <a:srgbClr val="0B1F4D"/>
                          </a:solidFill>
                          <a:latin typeface="Arial"/>
                        </a:rPr>
                        <a:t>Logistic Regression</a:t>
                      </a:r>
                      <a:endParaRPr sz="840" b="1" dirty="0">
                        <a:solidFill>
                          <a:srgbClr val="0B1F4D"/>
                        </a:solidFill>
                        <a:latin typeface="Arial"/>
                      </a:endParaRP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0.635</a:t>
                      </a:r>
                      <a:endParaRPr sz="840" b="0" dirty="0">
                        <a:solidFill>
                          <a:srgbClr val="0B1F4D"/>
                        </a:solidFill>
                        <a:latin typeface="Arial"/>
                      </a:endParaRP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3410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837372" y="1215225"/>
            <a:ext cx="9144828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dirty="0" err="1">
                <a:solidFill>
                  <a:srgbClr val="0B1F4D"/>
                </a:solidFill>
                <a:latin typeface="Arial"/>
              </a:rPr>
              <a:t>Бленды</a:t>
            </a:r>
            <a:r>
              <a:rPr sz="3000" b="1" dirty="0">
                <a:solidFill>
                  <a:srgbClr val="0B1F4D"/>
                </a:solidFill>
                <a:latin typeface="Arial"/>
              </a:rPr>
              <a:t>: </a:t>
            </a:r>
            <a:r>
              <a:rPr sz="3000" b="1" dirty="0" err="1">
                <a:solidFill>
                  <a:srgbClr val="0B1F4D"/>
                </a:solidFill>
                <a:latin typeface="Arial"/>
              </a:rPr>
              <a:t>зачем</a:t>
            </a:r>
            <a:r>
              <a:rPr sz="3000" b="1" dirty="0">
                <a:solidFill>
                  <a:srgbClr val="0B1F4D"/>
                </a:solidFill>
                <a:latin typeface="Arial"/>
              </a:rPr>
              <a:t> и </a:t>
            </a:r>
            <a:r>
              <a:rPr sz="3000" b="1" dirty="0" err="1">
                <a:solidFill>
                  <a:srgbClr val="0B1F4D"/>
                </a:solidFill>
                <a:latin typeface="Arial"/>
              </a:rPr>
              <a:t>как</a:t>
            </a:r>
            <a:endParaRPr sz="3000" b="1" dirty="0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6247203" y="529421"/>
            <a:ext cx="2591997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3492100" y="458537"/>
            <a:ext cx="2399665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49" name="Google Shape;149;p10" descr="$PPTXTitle"/>
          <p:cNvSpPr txBox="1">
            <a:spLocks noGrp="1"/>
          </p:cNvSpPr>
          <p:nvPr>
            <p:ph type="title"/>
          </p:nvPr>
        </p:nvSpPr>
        <p:spPr>
          <a:xfrm>
            <a:off x="10609272" y="529421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10/15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31520" y="1828800"/>
            <a:ext cx="5120640" cy="329184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500" b="1" dirty="0" err="1">
                <a:solidFill>
                  <a:srgbClr val="0B1F4D"/>
                </a:solidFill>
                <a:latin typeface="Arial"/>
              </a:rPr>
              <a:t>Идея</a:t>
            </a:r>
            <a:endParaRPr sz="1500" b="1" dirty="0">
              <a:solidFill>
                <a:srgbClr val="0B1F4D"/>
              </a:solidFill>
              <a:latin typeface="Arial"/>
            </a:endParaRPr>
          </a:p>
          <a:p>
            <a:endParaRPr sz="1500" b="1" dirty="0">
              <a:solidFill>
                <a:srgbClr val="0B1F4D"/>
              </a:solidFill>
              <a:latin typeface="Arial"/>
            </a:endParaRPr>
          </a:p>
          <a:p>
            <a:r>
              <a:rPr sz="1500" b="0" dirty="0" err="1">
                <a:solidFill>
                  <a:srgbClr val="0B1F4D"/>
                </a:solidFill>
                <a:latin typeface="Arial"/>
              </a:rPr>
              <a:t>Одиночные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модели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ошибаются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по-разному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: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CatBoost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LightGBM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XGBoost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и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линейные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модели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ловят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разные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части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сигнала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.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Поэтому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мы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смешивали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их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probability- и rank-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предсказания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72200" y="1828800"/>
            <a:ext cx="5029200" cy="329184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500" b="1" dirty="0" err="1">
                <a:solidFill>
                  <a:srgbClr val="0B1F4D"/>
                </a:solidFill>
                <a:latin typeface="Arial"/>
              </a:rPr>
              <a:t>Как</a:t>
            </a:r>
            <a:r>
              <a:rPr sz="15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B1F4D"/>
                </a:solidFill>
                <a:latin typeface="Arial"/>
              </a:rPr>
              <a:t>подбирали</a:t>
            </a:r>
            <a:r>
              <a:rPr sz="15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B1F4D"/>
                </a:solidFill>
                <a:latin typeface="Arial"/>
              </a:rPr>
              <a:t>веса</a:t>
            </a:r>
            <a:endParaRPr sz="1500" b="1" dirty="0">
              <a:solidFill>
                <a:srgbClr val="0B1F4D"/>
              </a:solidFill>
              <a:latin typeface="Arial"/>
            </a:endParaRPr>
          </a:p>
          <a:p>
            <a:endParaRPr sz="1500" b="1" dirty="0">
              <a:solidFill>
                <a:srgbClr val="0B1F4D"/>
              </a:solidFill>
              <a:latin typeface="Arial"/>
            </a:endParaRPr>
          </a:p>
          <a:p>
            <a:r>
              <a:rPr sz="1500" b="0" dirty="0">
                <a:solidFill>
                  <a:srgbClr val="0B1F4D"/>
                </a:solidFill>
                <a:latin typeface="Arial"/>
              </a:rPr>
              <a:t>• equal blend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как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baseline</a:t>
            </a:r>
          </a:p>
          <a:p>
            <a:r>
              <a:rPr sz="1500" b="0" dirty="0">
                <a:solidFill>
                  <a:srgbClr val="0B1F4D"/>
                </a:solidFill>
                <a:latin typeface="Arial"/>
              </a:rPr>
              <a:t>• AUC-weighted blend</a:t>
            </a:r>
          </a:p>
          <a:p>
            <a:r>
              <a:rPr sz="150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ручные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веса</a:t>
            </a:r>
            <a:endParaRPr sz="1500" b="0" dirty="0">
              <a:solidFill>
                <a:srgbClr val="0B1F4D"/>
              </a:solidFill>
              <a:latin typeface="Arial"/>
            </a:endParaRPr>
          </a:p>
          <a:p>
            <a:r>
              <a:rPr sz="1500" b="0" dirty="0">
                <a:solidFill>
                  <a:srgbClr val="0B1F4D"/>
                </a:solidFill>
                <a:latin typeface="Arial"/>
              </a:rPr>
              <a:t>• random search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по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OOF</a:t>
            </a:r>
          </a:p>
          <a:p>
            <a:r>
              <a:rPr sz="1500" b="0" dirty="0">
                <a:solidFill>
                  <a:srgbClr val="0B1F4D"/>
                </a:solidFill>
                <a:latin typeface="Arial"/>
              </a:rPr>
              <a:t>• logistic stacker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на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OOF-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прогнозах</a:t>
            </a:r>
            <a:endParaRPr sz="1500" b="0" dirty="0">
              <a:solidFill>
                <a:srgbClr val="0B1F4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837372" y="1215225"/>
            <a:ext cx="9144828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1F4D"/>
                </a:solidFill>
                <a:latin typeface="Arial"/>
              </a:rPr>
              <a:t>Бленды: валидационное обоснование</a:t>
            </a:r>
            <a:endParaRPr sz="3000" b="1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6247203" y="529421"/>
            <a:ext cx="2591997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3492100" y="458537"/>
            <a:ext cx="2399665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63" name="Google Shape;163;p11" descr="$PPTXTitle"/>
          <p:cNvSpPr txBox="1">
            <a:spLocks noGrp="1"/>
          </p:cNvSpPr>
          <p:nvPr>
            <p:ph type="title"/>
          </p:nvPr>
        </p:nvSpPr>
        <p:spPr>
          <a:xfrm>
            <a:off x="10591800" y="531918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11/15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Table 163"/>
          <p:cNvGraphicFramePr>
            <a:graphicFrameLocks noGrp="1"/>
          </p:cNvGraphicFramePr>
          <p:nvPr/>
        </p:nvGraphicFramePr>
        <p:xfrm>
          <a:off x="685800" y="173736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Бленд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Validation ROC-AUC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Private ROC-AUC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blend_random_search_prob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0.6987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>
                          <a:solidFill>
                            <a:srgbClr val="0B1F4D"/>
                          </a:solidFill>
                          <a:latin typeface="Arial"/>
                        </a:rPr>
                        <a:t>0.70878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лучший финальный blend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blend_logistic_stacker_probability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0.6975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≈0.706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stacker по out-of-fold прогнозам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blend_rank_probability_mix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0.6968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≈0.705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устойчивый rank/proba mix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blend_auc_weighted_probability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0.6959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≈0.704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простой весовой baseline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blend_equal_probability_top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0.6948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≈0.703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 err="1">
                          <a:solidFill>
                            <a:srgbClr val="0B1F4D"/>
                          </a:solidFill>
                          <a:latin typeface="Arial"/>
                        </a:rPr>
                        <a:t>контрольный</a:t>
                      </a:r>
                      <a:r>
                        <a:rPr sz="880" b="0" dirty="0">
                          <a:solidFill>
                            <a:srgbClr val="0B1F4D"/>
                          </a:solidFill>
                          <a:latin typeface="Arial"/>
                        </a:rPr>
                        <a:t> </a:t>
                      </a:r>
                      <a:r>
                        <a:rPr sz="880" b="0" dirty="0" err="1">
                          <a:solidFill>
                            <a:srgbClr val="0B1F4D"/>
                          </a:solidFill>
                          <a:latin typeface="Arial"/>
                        </a:rPr>
                        <a:t>равный</a:t>
                      </a:r>
                      <a:r>
                        <a:rPr sz="880" b="0" dirty="0">
                          <a:solidFill>
                            <a:srgbClr val="0B1F4D"/>
                          </a:solidFill>
                          <a:latin typeface="Arial"/>
                        </a:rPr>
                        <a:t> blend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5" name="TextBox 164"/>
          <p:cNvSpPr txBox="1"/>
          <p:nvPr/>
        </p:nvSpPr>
        <p:spPr>
          <a:xfrm>
            <a:off x="777240" y="5532120"/>
            <a:ext cx="101955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220" b="0">
                <a:solidFill>
                  <a:srgbClr val="0B1F4D"/>
                </a:solidFill>
                <a:latin typeface="Arial"/>
              </a:rPr>
              <a:t>Бленды выбирали по leak-free validation: прирост небольшой, но стабильный относительно лучших одиночных моделей.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2" name="Google Shape;172;p12"/>
          <p:cNvSpPr txBox="1"/>
          <p:nvPr/>
        </p:nvSpPr>
        <p:spPr>
          <a:xfrm>
            <a:off x="609600" y="1097126"/>
            <a:ext cx="871093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dirty="0" err="1">
                <a:solidFill>
                  <a:srgbClr val="0B1F4D"/>
                </a:solidFill>
                <a:latin typeface="Arial"/>
              </a:rPr>
              <a:t>Итог</a:t>
            </a:r>
            <a:r>
              <a:rPr sz="30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B1F4D"/>
                </a:solidFill>
                <a:latin typeface="Arial"/>
              </a:rPr>
              <a:t>на</a:t>
            </a:r>
            <a:r>
              <a:rPr sz="3000" b="1" dirty="0">
                <a:solidFill>
                  <a:srgbClr val="0B1F4D"/>
                </a:solidFill>
                <a:latin typeface="Arial"/>
              </a:rPr>
              <a:t> </a:t>
            </a:r>
            <a:r>
              <a:rPr lang="ru-RU" sz="3000" b="1" dirty="0">
                <a:solidFill>
                  <a:srgbClr val="0B1F4D"/>
                </a:solidFill>
                <a:latin typeface="Arial"/>
              </a:rPr>
              <a:t>тесте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6247205" y="529421"/>
            <a:ext cx="26681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3492100" y="458537"/>
            <a:ext cx="2399665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76" name="Google Shape;176;p12" descr="$PPTXTitle"/>
          <p:cNvSpPr txBox="1">
            <a:spLocks noGrp="1"/>
          </p:cNvSpPr>
          <p:nvPr>
            <p:ph type="title"/>
          </p:nvPr>
        </p:nvSpPr>
        <p:spPr>
          <a:xfrm>
            <a:off x="10591800" y="529421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12/15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04805"/>
              </p:ext>
            </p:extLst>
          </p:nvPr>
        </p:nvGraphicFramePr>
        <p:xfrm>
          <a:off x="868680" y="1920240"/>
          <a:ext cx="99669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1F4D"/>
                          </a:solidFill>
                          <a:latin typeface="Arial"/>
                        </a:rPr>
                        <a:t>Подход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B1F4D"/>
                          </a:solidFill>
                          <a:latin typeface="Arial"/>
                        </a:rPr>
                        <a:t>Private ROC-AUC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1F4D"/>
                          </a:solidFill>
                          <a:latin typeface="Arial"/>
                        </a:rPr>
                        <a:t>Что это значит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D"/>
                          </a:solidFill>
                          <a:latin typeface="Arial"/>
                        </a:rPr>
                        <a:t>Лучшие одиночные модели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1F4D"/>
                          </a:solidFill>
                          <a:latin typeface="Arial"/>
                        </a:rPr>
                        <a:t>≈ 0.69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1F4D"/>
                          </a:solidFill>
                          <a:latin typeface="Arial"/>
                        </a:rPr>
                        <a:t>CatBoost / LightGBM / XGBoost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D"/>
                          </a:solidFill>
                          <a:latin typeface="Arial"/>
                        </a:rPr>
                        <a:t>Лучший blend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0B1F4D"/>
                          </a:solidFill>
                          <a:latin typeface="Arial"/>
                        </a:rPr>
                        <a:t>0.708</a:t>
                      </a:r>
                      <a:r>
                        <a:rPr lang="ru-RU" sz="1100" b="0" dirty="0">
                          <a:solidFill>
                            <a:srgbClr val="0B1F4D"/>
                          </a:solidFill>
                          <a:latin typeface="Arial"/>
                        </a:rPr>
                        <a:t>7</a:t>
                      </a:r>
                      <a:r>
                        <a:rPr sz="1100" b="0" dirty="0">
                          <a:solidFill>
                            <a:srgbClr val="0B1F4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1F4D"/>
                          </a:solidFill>
                          <a:latin typeface="Arial"/>
                        </a:rPr>
                        <a:t>random-search probability blend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D"/>
                          </a:solidFill>
                          <a:latin typeface="Arial"/>
                        </a:rPr>
                        <a:t>Прирост blend к одиночным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1F4D"/>
                          </a:solidFill>
                          <a:latin typeface="Arial"/>
                        </a:rPr>
                        <a:t>≈ +0.018–0.020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0B1F4D"/>
                          </a:solidFill>
                          <a:latin typeface="Arial"/>
                        </a:rPr>
                        <a:t>ансамбль</a:t>
                      </a:r>
                      <a:r>
                        <a:rPr sz="1100" b="0" dirty="0">
                          <a:solidFill>
                            <a:srgbClr val="0B1F4D"/>
                          </a:solidFill>
                          <a:latin typeface="Arial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B1F4D"/>
                          </a:solidFill>
                          <a:latin typeface="Arial"/>
                        </a:rPr>
                        <a:t>действительно</a:t>
                      </a:r>
                      <a:r>
                        <a:rPr sz="1100" b="0" dirty="0">
                          <a:solidFill>
                            <a:srgbClr val="0B1F4D"/>
                          </a:solidFill>
                          <a:latin typeface="Arial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B1F4D"/>
                          </a:solidFill>
                          <a:latin typeface="Arial"/>
                        </a:rPr>
                        <a:t>полезен</a:t>
                      </a:r>
                      <a:endParaRPr sz="1100" b="0" dirty="0">
                        <a:solidFill>
                          <a:srgbClr val="0B1F4D"/>
                        </a:solidFill>
                        <a:latin typeface="Arial"/>
                      </a:endParaRP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567325" y="1212283"/>
            <a:ext cx="871093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latin typeface="Arial"/>
                <a:ea typeface="Arial"/>
                <a:cs typeface="Arial"/>
                <a:sym typeface="Arial"/>
              </a:rPr>
              <a:t>Итоги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6247205" y="529421"/>
            <a:ext cx="26681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3492100" y="458537"/>
            <a:ext cx="2399665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86" name="Google Shape;186;p13" descr="$PPTXTitle"/>
          <p:cNvSpPr txBox="1">
            <a:spLocks noGrp="1"/>
          </p:cNvSpPr>
          <p:nvPr>
            <p:ph type="title"/>
          </p:nvPr>
        </p:nvSpPr>
        <p:spPr>
          <a:xfrm>
            <a:off x="10591800" y="506024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13/15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85800" y="1783080"/>
            <a:ext cx="5120640" cy="388620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50" b="1" dirty="0" err="1">
                <a:solidFill>
                  <a:srgbClr val="0B1F4D"/>
                </a:solidFill>
                <a:latin typeface="Arial"/>
              </a:rPr>
              <a:t>Сработало</a:t>
            </a:r>
            <a:endParaRPr sz="1450" b="1" dirty="0">
              <a:solidFill>
                <a:srgbClr val="0B1F4D"/>
              </a:solidFill>
              <a:latin typeface="Arial"/>
            </a:endParaRPr>
          </a:p>
          <a:p>
            <a:endParaRPr sz="1450" b="1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сильные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бустинги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на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разных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feature spaces</a:t>
            </a: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OOF target encoding и meta-features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без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утечки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drift-aware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варианты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признаков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probability + rank blending</a:t>
            </a: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подбор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весов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ансамбля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по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OOF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080760" y="1783080"/>
            <a:ext cx="5074920" cy="388620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50" b="1" dirty="0" err="1">
                <a:solidFill>
                  <a:srgbClr val="0B1F4D"/>
                </a:solidFill>
                <a:latin typeface="Arial"/>
              </a:rPr>
              <a:t>Не</a:t>
            </a:r>
            <a:r>
              <a:rPr sz="145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0B1F4D"/>
                </a:solidFill>
                <a:latin typeface="Arial"/>
              </a:rPr>
              <a:t>дало</a:t>
            </a:r>
            <a:r>
              <a:rPr sz="145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0B1F4D"/>
                </a:solidFill>
                <a:latin typeface="Arial"/>
              </a:rPr>
              <a:t>устойчивого</a:t>
            </a:r>
            <a:r>
              <a:rPr sz="145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0B1F4D"/>
                </a:solidFill>
                <a:latin typeface="Arial"/>
              </a:rPr>
              <a:t>прироста</a:t>
            </a:r>
            <a:endParaRPr sz="1450" b="1" dirty="0">
              <a:solidFill>
                <a:srgbClr val="0B1F4D"/>
              </a:solidFill>
              <a:latin typeface="Arial"/>
            </a:endParaRPr>
          </a:p>
          <a:p>
            <a:endParaRPr sz="1450" b="1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ставка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на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один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«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лучший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»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датасет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нейросети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без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дополнительной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регуляризации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чистый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correlation-based feature selection</a:t>
            </a: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агрессивный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подбор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по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public-score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6247204" y="529421"/>
            <a:ext cx="2668196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3492100" y="458537"/>
            <a:ext cx="2399665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95" name="Google Shape;195;p14" descr="$PPTXTitle"/>
          <p:cNvSpPr txBox="1">
            <a:spLocks noGrp="1"/>
          </p:cNvSpPr>
          <p:nvPr>
            <p:ph type="title"/>
          </p:nvPr>
        </p:nvSpPr>
        <p:spPr>
          <a:xfrm>
            <a:off x="10545240" y="501146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14/15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640080" y="12344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3000" b="1">
                <a:solidFill>
                  <a:srgbClr val="0B1F4D"/>
                </a:solidFill>
                <a:latin typeface="Arial"/>
              </a:rPr>
              <a:t>Выводы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77240" y="1965960"/>
            <a:ext cx="10515600" cy="393192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00" b="1" dirty="0" err="1">
                <a:solidFill>
                  <a:srgbClr val="0B1F4D"/>
                </a:solidFill>
                <a:latin typeface="Arial"/>
              </a:rPr>
              <a:t>Построен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полный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ML-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пайплайн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для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табличной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задачи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бинарной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классификации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с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сильным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дисбалансом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классов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.</a:t>
            </a:r>
          </a:p>
          <a:p>
            <a:endParaRPr sz="1400" b="1" dirty="0">
              <a:solidFill>
                <a:srgbClr val="0B1F4D"/>
              </a:solidFill>
              <a:latin typeface="Arial"/>
            </a:endParaRPr>
          </a:p>
          <a:p>
            <a:r>
              <a:rPr lang="ru-RU" dirty="0">
                <a:solidFill>
                  <a:srgbClr val="0B1F4D"/>
                </a:solidFill>
              </a:rPr>
              <a:t>1. Выбили топ1 скор в </a:t>
            </a:r>
            <a:r>
              <a:rPr lang="ru-RU" dirty="0" err="1">
                <a:solidFill>
                  <a:srgbClr val="0B1F4D"/>
                </a:solidFill>
              </a:rPr>
              <a:t>хакатоне</a:t>
            </a:r>
            <a:r>
              <a:rPr lang="ru-RU" dirty="0">
                <a:solidFill>
                  <a:srgbClr val="0B1F4D"/>
                </a:solidFill>
              </a:rPr>
              <a:t> на </a:t>
            </a:r>
            <a:r>
              <a:rPr lang="ru-RU" dirty="0" err="1">
                <a:solidFill>
                  <a:srgbClr val="0B1F4D"/>
                </a:solidFill>
              </a:rPr>
              <a:t>Кагл</a:t>
            </a:r>
            <a:r>
              <a:rPr lang="ru-RU" dirty="0">
                <a:solidFill>
                  <a:srgbClr val="0B1F4D"/>
                </a:solidFill>
              </a:rPr>
              <a:t>.</a:t>
            </a:r>
          </a:p>
          <a:p>
            <a:r>
              <a:rPr lang="ru-RU" dirty="0">
                <a:solidFill>
                  <a:srgbClr val="0B1F4D"/>
                </a:solidFill>
              </a:rPr>
              <a:t>2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. EDA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показал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слабый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одиночный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сигнал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избыточность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признаков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важность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нелинейных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комбинаций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.</a:t>
            </a:r>
          </a:p>
          <a:p>
            <a:r>
              <a:rPr lang="ru-RU" dirty="0">
                <a:solidFill>
                  <a:srgbClr val="0B1F4D"/>
                </a:solidFill>
              </a:rPr>
              <a:t>3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. Feature engineering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дал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несколько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полезных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пространств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признаков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вместо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одного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универсального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набора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.</a:t>
            </a:r>
          </a:p>
          <a:p>
            <a:r>
              <a:rPr lang="ru-RU" dirty="0">
                <a:solidFill>
                  <a:srgbClr val="0B1F4D"/>
                </a:solidFill>
              </a:rPr>
              <a:t>4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.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Лучшие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одиночные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модели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на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private test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были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около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0.69 ROC-AUC.</a:t>
            </a:r>
          </a:p>
          <a:p>
            <a:r>
              <a:rPr lang="ru-RU" dirty="0">
                <a:solidFill>
                  <a:srgbClr val="0B1F4D"/>
                </a:solidFill>
              </a:rPr>
              <a:t>5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.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Лучший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blend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достиг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0.7</a:t>
            </a:r>
            <a:r>
              <a:rPr lang="ru-RU" sz="1400" b="0" dirty="0">
                <a:solidFill>
                  <a:srgbClr val="0B1F4D"/>
                </a:solidFill>
                <a:latin typeface="Arial"/>
              </a:rPr>
              <a:t>15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private ROC-AUC.</a:t>
            </a:r>
          </a:p>
          <a:p>
            <a:r>
              <a:rPr lang="ru-RU" dirty="0">
                <a:solidFill>
                  <a:srgbClr val="0B1F4D"/>
                </a:solidFill>
              </a:rPr>
              <a:t>6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.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Основной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вклад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дали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валидация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разнородные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модели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аккуратное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ансамблирование</a:t>
            </a:r>
            <a:r>
              <a:rPr lang="ru-RU" sz="1400" b="0" dirty="0">
                <a:solidFill>
                  <a:srgbClr val="0B1F4D"/>
                </a:solidFill>
                <a:latin typeface="Arial"/>
              </a:rPr>
              <a:t>, </a:t>
            </a:r>
            <a:r>
              <a:rPr lang="ru-RU" sz="1400" b="0" dirty="0" err="1">
                <a:solidFill>
                  <a:srgbClr val="0B1F4D"/>
                </a:solidFill>
                <a:latin typeface="Arial"/>
              </a:rPr>
              <a:t>блендирование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/>
          <p:nvPr/>
        </p:nvSpPr>
        <p:spPr>
          <a:xfrm>
            <a:off x="29198" y="1524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F2C6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01" name="Google Shape;201;p15"/>
          <p:cNvGrpSpPr/>
          <p:nvPr/>
        </p:nvGrpSpPr>
        <p:grpSpPr>
          <a:xfrm>
            <a:off x="29200" y="-78300"/>
            <a:ext cx="12192000" cy="6858000"/>
            <a:chOff x="0" y="0"/>
            <a:chExt cx="12192000" cy="6858000"/>
          </a:xfrm>
        </p:grpSpPr>
        <p:sp>
          <p:nvSpPr>
            <p:cNvPr id="202" name="Google Shape;202;p1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 extrusionOk="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75" cap="flat" cmpd="sng">
              <a:solidFill>
                <a:srgbClr val="0A20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203" name="Google Shape;203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10809" y="2643809"/>
              <a:ext cx="1570383" cy="15703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4" name="Google Shape;204;p15"/>
          <p:cNvSpPr txBox="1"/>
          <p:nvPr/>
        </p:nvSpPr>
        <p:spPr>
          <a:xfrm>
            <a:off x="292281" y="5416124"/>
            <a:ext cx="480631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r>
              <a:rPr lang="ru-RU" sz="900" b="0" dirty="0" err="1">
                <a:solidFill>
                  <a:srgbClr val="FFFFFF"/>
                </a:solidFill>
                <a:latin typeface="Trebuchet MS"/>
              </a:rPr>
              <a:t>Пеганов</a:t>
            </a:r>
            <a:r>
              <a:rPr lang="ru-RU" sz="900" b="0" dirty="0">
                <a:solidFill>
                  <a:srgbClr val="FFFFFF"/>
                </a:solidFill>
                <a:latin typeface="Trebuchet MS"/>
              </a:rPr>
              <a:t> Илья, Поздеев Арсений, Сорочан Дмитрий</a:t>
            </a:r>
          </a:p>
          <a:p>
            <a:r>
              <a:rPr sz="900" b="0" dirty="0">
                <a:solidFill>
                  <a:srgbClr val="FFFFFF"/>
                </a:solidFill>
                <a:latin typeface="Trebuchet MS"/>
              </a:rPr>
              <a:t>VK Predict CMC Hackathon</a:t>
            </a:r>
          </a:p>
        </p:txBody>
      </p:sp>
      <p:sp>
        <p:nvSpPr>
          <p:cNvPr id="205" name="Google Shape;205;p15"/>
          <p:cNvSpPr txBox="1"/>
          <p:nvPr/>
        </p:nvSpPr>
        <p:spPr>
          <a:xfrm>
            <a:off x="5011647" y="4369083"/>
            <a:ext cx="238696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Arial"/>
              </a:rPr>
              <a:t>Спасибо за внимание!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7045986" y="5423746"/>
            <a:ext cx="4815205" cy="82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63500" marR="5080" lvl="0" indent="-5143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FFFF"/>
                </a:solidFill>
                <a:latin typeface="Trebuchet MS"/>
              </a:rPr>
              <a:t>Прогнозирование склонности пользователя к секретному событию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1101</Words>
  <Application>Microsoft Office PowerPoint</Application>
  <PresentationFormat>Широкоэкранный</PresentationFormat>
  <Paragraphs>228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Calibri</vt:lpstr>
      <vt:lpstr>Trebuchet MS</vt:lpstr>
      <vt:lpstr>Helvetica Neue</vt:lpstr>
      <vt:lpstr>Arial</vt:lpstr>
      <vt:lpstr>Office Theme</vt:lpstr>
      <vt:lpstr>Презентация PowerPoint</vt:lpstr>
      <vt:lpstr>2/15</vt:lpstr>
      <vt:lpstr>3/15</vt:lpstr>
      <vt:lpstr>4/15</vt:lpstr>
      <vt:lpstr>6/15</vt:lpstr>
      <vt:lpstr>7/15</vt:lpstr>
      <vt:lpstr>8/15</vt:lpstr>
      <vt:lpstr>10/15</vt:lpstr>
      <vt:lpstr>11/15</vt:lpstr>
      <vt:lpstr>12/15</vt:lpstr>
      <vt:lpstr>13/15</vt:lpstr>
      <vt:lpstr>14/15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Арсений Поздеев</dc:creator>
  <cp:lastModifiedBy>Арсений Поздеев</cp:lastModifiedBy>
  <cp:revision>5</cp:revision>
  <dcterms:created xsi:type="dcterms:W3CDTF">2026-06-09T00:00:31Z</dcterms:created>
  <dcterms:modified xsi:type="dcterms:W3CDTF">2026-06-27T20:55:35Z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2026-06-09T00:00:00Z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2026-06-09T00:00:00Z</vt:filetime>
  </property>
</Properties>
</file>