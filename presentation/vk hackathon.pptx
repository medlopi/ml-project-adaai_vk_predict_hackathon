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359D7E-9F01-4D16-80E2-32D09AD6EF96}">
  <a:tblStyle styleId="{0D359D7E-9F01-4D16-80E2-32D09AD6EF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be63821c_16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efbe63821c_16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efbe63821c_16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fbe63821c_16_1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efbe63821c_16_1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efbe63821c_16_1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fbe63821c_16_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efbe63821c_16_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fbe63821c_16_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fbe63821c_16_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efbe63821c_16_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fbe63821c_16_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fbe63821c_20_3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efbe63821c_20_3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fbe63821c_20_3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fbe63821c_20_2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efbe63821c_20_2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fbe63821c_20_2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fbe63821c_16_8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efbe63821c_16_8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fbe63821c_16_8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fbe63821c_16_1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fbe63821c_16_1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fbe63821c_16_1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fbe63821c_20_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efbe63821c_20_9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fbe63821c_20_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fbe63821c_16_2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efbe63821c_16_2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fbe63821c_16_2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fbe63821c_20_14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fbe63821c_20_14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fbe63821c_20_14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fbe63821c_16_2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efbe63821c_16_2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fbe63821c_16_2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fbe63821c_16_3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efbe63821c_16_3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fbe63821c_16_3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fbe63821c_18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efbe63821c_18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fbe63821c_18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" name="Google Shape;56;p16"/>
          <p:cNvSpPr txBox="1"/>
          <p:nvPr>
            <p:ph idx="12" type="sldNum"/>
          </p:nvPr>
        </p:nvSpPr>
        <p:spPr>
          <a:xfrm>
            <a:off x="6583680" y="4783455"/>
            <a:ext cx="210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D69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0" y="0"/>
            <a:ext cx="2160270" cy="51435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7"/>
          <p:cNvSpPr/>
          <p:nvPr/>
        </p:nvSpPr>
        <p:spPr>
          <a:xfrm>
            <a:off x="2160270" y="0"/>
            <a:ext cx="27432" cy="5143500"/>
          </a:xfrm>
          <a:prstGeom prst="rect">
            <a:avLst/>
          </a:prstGeom>
          <a:solidFill>
            <a:srgbClr val="2380C3"/>
          </a:solidFill>
          <a:ln cap="flat" cmpd="sng" w="12700">
            <a:solidFill>
              <a:srgbClr val="2380C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hse_logo_white.png" id="64" name="Google Shape;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34" y="514350"/>
            <a:ext cx="582930" cy="58293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500634" y="1248156"/>
            <a:ext cx="1371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lang="ru" sz="800">
                <a:solidFill>
                  <a:srgbClr val="D6E0F0"/>
                </a:solidFill>
              </a:rPr>
              <a:t>Школа информатики, физики и технологий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2537450" y="761328"/>
            <a:ext cx="53631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D6E0F0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2537450" y="1220725"/>
            <a:ext cx="60009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ru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Прогнозирование склонности пользователя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ru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 секретному событию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2487925" y="3394749"/>
            <a:ext cx="6210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lang="ru" sz="800">
                <a:solidFill>
                  <a:srgbClr val="D6E0F0"/>
                </a:solidFill>
              </a:rPr>
              <a:t>Прикладной Анализ Данных и Искусственный Интеллект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2487925" y="3703450"/>
            <a:ext cx="6210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Выполнили: Пеганов Илья, Поздеев Арсений, Сорочан Дмитрий (</a:t>
            </a:r>
            <a:r>
              <a:rPr b="1" lang="ru" sz="900">
                <a:solidFill>
                  <a:srgbClr val="FFFFFF"/>
                </a:solidFill>
              </a:rPr>
              <a:t>Команда “</a:t>
            </a: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r>
              <a:rPr b="1" lang="ru" sz="900">
                <a:solidFill>
                  <a:srgbClr val="FFFFFF"/>
                </a:solidFill>
              </a:rPr>
              <a:t>”</a:t>
            </a:r>
            <a:r>
              <a:rPr b="1" i="0" lang="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2487925" y="4011900"/>
            <a:ext cx="6050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D6E0F0"/>
                </a:solidFill>
                <a:latin typeface="Arial"/>
                <a:ea typeface="Arial"/>
                <a:cs typeface="Arial"/>
                <a:sym typeface="Arial"/>
              </a:rPr>
              <a:t>Санкт-Петербург,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76" name="Google Shape;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2/16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8"/>
          <p:cNvSpPr/>
          <p:nvPr/>
        </p:nvSpPr>
        <p:spPr>
          <a:xfrm>
            <a:off x="466350" y="433322"/>
            <a:ext cx="80925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lang="ru" sz="2000">
                <a:solidFill>
                  <a:srgbClr val="102D69"/>
                </a:solidFill>
              </a:rPr>
              <a:t>Постановка задачи и метрика оценивания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18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8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349750" y="954650"/>
            <a:ext cx="83427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b="0" i="1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Тип данных</a:t>
            </a: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">
                <a:solidFill>
                  <a:srgbClr val="111827"/>
                </a:solidFill>
              </a:rPr>
              <a:t>и</a:t>
            </a: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сключительно структурированные табличные данные</a:t>
            </a:r>
            <a:endParaRPr>
              <a:solidFill>
                <a:srgbClr val="111827"/>
              </a:solidFill>
            </a:endParaRPr>
          </a:p>
          <a:p>
            <a:pPr indent="-317500" lvl="0" marL="45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i="1" lang="ru">
                <a:solidFill>
                  <a:srgbClr val="111827"/>
                </a:solidFill>
              </a:rPr>
              <a:t>Цель</a:t>
            </a:r>
            <a:r>
              <a:rPr lang="ru">
                <a:solidFill>
                  <a:srgbClr val="111827"/>
                </a:solidFill>
              </a:rPr>
              <a:t>: прогнозирование вероятности совершения целевого действия пользователем</a:t>
            </a:r>
            <a:endParaRPr>
              <a:solidFill>
                <a:srgbClr val="111827"/>
              </a:solidFill>
            </a:endParaRPr>
          </a:p>
          <a:p>
            <a:pPr indent="-317500" lvl="0" marL="45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b="0" i="1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Тип задачи</a:t>
            </a: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">
                <a:solidFill>
                  <a:srgbClr val="111827"/>
                </a:solidFill>
              </a:rPr>
              <a:t>б</a:t>
            </a:r>
            <a:r>
              <a:rPr b="0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инарная классификация с упором на ранжирование объектов</a:t>
            </a:r>
            <a:endParaRPr b="0" i="0" sz="140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i="1" lang="ru">
                <a:solidFill>
                  <a:srgbClr val="111827"/>
                </a:solidFill>
              </a:rPr>
              <a:t>Ц</a:t>
            </a:r>
            <a:r>
              <a:rPr i="1" lang="ru">
                <a:solidFill>
                  <a:srgbClr val="111827"/>
                </a:solidFill>
              </a:rPr>
              <a:t>елевая метрика</a:t>
            </a:r>
            <a:r>
              <a:rPr lang="ru">
                <a:solidFill>
                  <a:srgbClr val="111827"/>
                </a:solidFill>
              </a:rPr>
              <a:t> – ROC-AUC</a:t>
            </a:r>
            <a:endParaRPr>
              <a:solidFill>
                <a:srgbClr val="111827"/>
              </a:solidFill>
            </a:endParaRPr>
          </a:p>
          <a:p>
            <a:pPr indent="-298450" lvl="0" marL="81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Char char="●"/>
            </a:pPr>
            <a:r>
              <a:rPr lang="ru">
                <a:solidFill>
                  <a:srgbClr val="111827"/>
                </a:solidFill>
              </a:rPr>
              <a:t>Инвариантность к балансу классов</a:t>
            </a:r>
            <a:endParaRPr>
              <a:solidFill>
                <a:srgbClr val="111827"/>
              </a:solidFill>
            </a:endParaRPr>
          </a:p>
          <a:p>
            <a:pPr indent="-298450" lvl="0" marL="81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Char char="●"/>
            </a:pPr>
            <a:r>
              <a:rPr lang="ru">
                <a:solidFill>
                  <a:srgbClr val="111827"/>
                </a:solidFill>
              </a:rPr>
              <a:t>Качество ранжирования</a:t>
            </a:r>
            <a:endParaRPr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827"/>
              </a:solidFill>
            </a:endParaRPr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1" y="2951550"/>
            <a:ext cx="5163700" cy="163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4436" y="2182850"/>
            <a:ext cx="2733825" cy="26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90" name="Google Shape;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3/16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432057" y="408051"/>
            <a:ext cx="8092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lang="ru" sz="2000">
                <a:solidFill>
                  <a:srgbClr val="102D69"/>
                </a:solidFill>
              </a:rPr>
              <a:t>Описание и структура данных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19"/>
          <p:cNvCxnSpPr/>
          <p:nvPr/>
        </p:nvCxnSpPr>
        <p:spPr>
          <a:xfrm>
            <a:off x="466394" y="750847"/>
            <a:ext cx="802380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9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72134" y="970303"/>
            <a:ext cx="15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247 972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72124" y="1278913"/>
            <a:ext cx="164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строк в </a:t>
            </a:r>
            <a:r>
              <a:rPr lang="ru" sz="800">
                <a:solidFill>
                  <a:srgbClr val="5B6675"/>
                </a:solidFill>
              </a:rPr>
              <a:t>обучающей выборке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2571800" y="970303"/>
            <a:ext cx="15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106 274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2571800" y="1278913"/>
            <a:ext cx="15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строк в </a:t>
            </a:r>
            <a:r>
              <a:rPr lang="ru" sz="800">
                <a:solidFill>
                  <a:srgbClr val="5B6675"/>
                </a:solidFill>
              </a:rPr>
              <a:t>тестовой выборке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4471466" y="970303"/>
            <a:ext cx="15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1367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4471475" y="1278913"/>
            <a:ext cx="15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5B6675"/>
                </a:solidFill>
                <a:latin typeface="Arial"/>
                <a:ea typeface="Arial"/>
                <a:cs typeface="Arial"/>
                <a:sym typeface="Arial"/>
              </a:rPr>
              <a:t>признаков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6377990" y="970303"/>
            <a:ext cx="15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1.35%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6378001" y="1278913"/>
            <a:ext cx="1645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Arial"/>
              <a:buNone/>
            </a:pPr>
            <a:r>
              <a:rPr lang="ru" sz="800">
                <a:solidFill>
                  <a:srgbClr val="5B6675"/>
                </a:solidFill>
              </a:rPr>
              <a:t>доля целевого класса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19"/>
          <p:cNvCxnSpPr/>
          <p:nvPr/>
        </p:nvCxnSpPr>
        <p:spPr>
          <a:xfrm>
            <a:off x="562356" y="1748790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9"/>
          <p:cNvSpPr/>
          <p:nvPr/>
        </p:nvSpPr>
        <p:spPr>
          <a:xfrm>
            <a:off x="308600" y="1883500"/>
            <a:ext cx="31377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102D69"/>
                </a:solidFill>
              </a:rPr>
              <a:t>Особенности данных</a:t>
            </a:r>
            <a:r>
              <a:rPr lang="ru">
                <a:solidFill>
                  <a:srgbClr val="111827"/>
                </a:solidFill>
              </a:rPr>
              <a:t>:</a:t>
            </a:r>
            <a:endParaRPr b="0" i="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730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Char char="●"/>
            </a:pPr>
            <a:r>
              <a:rPr b="0" i="0" lang="ru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Анонимизированные признаки</a:t>
            </a:r>
            <a:endParaRPr b="0" i="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730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lang="ru">
                <a:solidFill>
                  <a:srgbClr val="111827"/>
                </a:solidFill>
              </a:rPr>
              <a:t>Экстремальный дисбаланс</a:t>
            </a:r>
            <a:endParaRPr>
              <a:solidFill>
                <a:srgbClr val="111827"/>
              </a:solidFill>
            </a:endParaRPr>
          </a:p>
          <a:p>
            <a:pPr indent="27305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lang="ru">
                <a:solidFill>
                  <a:srgbClr val="111827"/>
                </a:solidFill>
              </a:rPr>
              <a:t>Высокий уровень шума</a:t>
            </a:r>
            <a:endParaRPr>
              <a:solidFill>
                <a:srgbClr val="111827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4675" y="1772625"/>
            <a:ext cx="2737350" cy="2088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9338" y="2662527"/>
            <a:ext cx="2789875" cy="2343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4/16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431994" y="460214"/>
            <a:ext cx="8092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r>
              <a:rPr b="1" lang="ru" sz="2000">
                <a:solidFill>
                  <a:srgbClr val="102D69"/>
                </a:solidFill>
              </a:rPr>
              <a:t>A и Data Cleaning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>
            <a:off x="466344" y="843534"/>
            <a:ext cx="802380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0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502988" y="947813"/>
            <a:ext cx="82008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Экспресс-аудит</a:t>
            </a:r>
            <a:endParaRPr sz="1200">
              <a:solidFill>
                <a:schemeClr val="dk1"/>
              </a:solidFill>
            </a:endParaRPr>
          </a:p>
          <a:p>
            <a:pPr indent="-304800" lvl="0" marL="63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Анализ типов данных, структуры датасета и базовых статистик</a:t>
            </a:r>
            <a:endParaRPr sz="1200">
              <a:solidFill>
                <a:schemeClr val="dk1"/>
              </a:solidFill>
            </a:endParaRPr>
          </a:p>
          <a:p>
            <a:pPr indent="-304800" lvl="0" marL="63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Проверка на пересечение строк обучающей/тестовой выборок (data leakage)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Очистка и фильтрация шума </a:t>
            </a:r>
            <a:endParaRPr sz="1200">
              <a:solidFill>
                <a:schemeClr val="dk1"/>
              </a:solidFill>
            </a:endParaRPr>
          </a:p>
          <a:p>
            <a:pPr indent="-304800" lvl="0" marL="63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Заполнение пропусков и удаление явных аномалий </a:t>
            </a:r>
            <a:endParaRPr sz="1200">
              <a:solidFill>
                <a:schemeClr val="dk1"/>
              </a:solidFill>
            </a:endParaRPr>
          </a:p>
          <a:p>
            <a:pPr indent="-304800" lvl="0" marL="63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Исключение почти константных и неинформативных признаков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0286" y="3198600"/>
            <a:ext cx="5398754" cy="885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901" y="4239827"/>
            <a:ext cx="4490975" cy="43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2062" y="2267400"/>
            <a:ext cx="4152900" cy="819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9963" y="2267388"/>
            <a:ext cx="2111587" cy="819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8469630" y="123444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4/16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32019" y="338076"/>
            <a:ext cx="8092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r>
              <a:rPr b="1" lang="ru" sz="2000">
                <a:solidFill>
                  <a:srgbClr val="102D69"/>
                </a:solidFill>
              </a:rPr>
              <a:t>A и Data Cleaning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21"/>
          <p:cNvCxnSpPr/>
          <p:nvPr/>
        </p:nvCxnSpPr>
        <p:spPr>
          <a:xfrm>
            <a:off x="466344" y="843534"/>
            <a:ext cx="802380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1"/>
          <p:cNvSpPr/>
          <p:nvPr/>
        </p:nvSpPr>
        <p:spPr>
          <a:xfrm>
            <a:off x="308610" y="4882896"/>
            <a:ext cx="4046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869180" y="4882896"/>
            <a:ext cx="3909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466350" y="703600"/>
            <a:ext cx="83274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3. Исследование зависимостей</a:t>
            </a:r>
            <a:endParaRPr sz="1200">
              <a:solidFill>
                <a:schemeClr val="dk1"/>
              </a:solidFill>
            </a:endParaRPr>
          </a:p>
          <a:p>
            <a:pPr indent="-304800" lvl="0" marL="63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Анализ мультиколлинеарности и нахождение признаков-близнецов </a:t>
            </a:r>
            <a:endParaRPr sz="1200">
              <a:solidFill>
                <a:schemeClr val="dk1"/>
              </a:solidFill>
            </a:endParaRPr>
          </a:p>
          <a:p>
            <a:pPr indent="-304800" lvl="0" marL="63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Оценка связи признаков с целевой переменной (корреляция, lgbm importance, single-feature AUC)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425" y="1760475"/>
            <a:ext cx="3960750" cy="113357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425" y="3067902"/>
            <a:ext cx="3960750" cy="1649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3275" y="1710737"/>
            <a:ext cx="2779748" cy="3006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/>
          <p:nvPr/>
        </p:nvSpPr>
        <p:spPr>
          <a:xfrm>
            <a:off x="8469630" y="123444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4/16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31994" y="408039"/>
            <a:ext cx="8092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r>
              <a:rPr b="1" lang="ru" sz="2000">
                <a:solidFill>
                  <a:srgbClr val="102D69"/>
                </a:solidFill>
              </a:rPr>
              <a:t>A и Data Cleaning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22"/>
          <p:cNvCxnSpPr/>
          <p:nvPr/>
        </p:nvCxnSpPr>
        <p:spPr>
          <a:xfrm>
            <a:off x="466344" y="843534"/>
            <a:ext cx="802380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22"/>
          <p:cNvSpPr/>
          <p:nvPr/>
        </p:nvSpPr>
        <p:spPr>
          <a:xfrm>
            <a:off x="308610" y="4882896"/>
            <a:ext cx="4046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4869180" y="4882896"/>
            <a:ext cx="3909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432000" y="843525"/>
            <a:ext cx="8092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4. </a:t>
            </a:r>
            <a:r>
              <a:rPr lang="ru" sz="1200">
                <a:solidFill>
                  <a:schemeClr val="dk1"/>
                </a:solidFill>
              </a:rPr>
              <a:t>Анализ геометрии распределений </a:t>
            </a:r>
            <a:endParaRPr sz="1200">
              <a:solidFill>
                <a:schemeClr val="dk1"/>
              </a:solidFill>
            </a:endParaRPr>
          </a:p>
          <a:p>
            <a:pPr indent="-304800" lvl="0" marL="63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Оценка формы распределений (тяжелые хвосты, высокая концентрация нулей)</a:t>
            </a:r>
            <a:endParaRPr sz="1200">
              <a:solidFill>
                <a:schemeClr val="dk1"/>
              </a:solidFill>
            </a:endParaRPr>
          </a:p>
          <a:p>
            <a:pPr indent="-304800" lvl="0" marL="63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Проверка на смещения распределений между обучающей и тестовой выборками (data drift)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0775" y="1473437"/>
            <a:ext cx="4566021" cy="12834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400" y="2884400"/>
            <a:ext cx="2497050" cy="1942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4938" y="2884400"/>
            <a:ext cx="2357610" cy="1942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038" y="2882515"/>
            <a:ext cx="2497050" cy="194594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60" name="Google Shape;1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6/16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Fe</a:t>
            </a:r>
            <a:r>
              <a:rPr b="1" lang="ru" sz="2000">
                <a:solidFill>
                  <a:srgbClr val="102D69"/>
                </a:solidFill>
              </a:rPr>
              <a:t>ature Engineering и Feature Selection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23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23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459400" y="1051552"/>
            <a:ext cx="81558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Генерация признаков: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ru" sz="1200">
                <a:solidFill>
                  <a:schemeClr val="dk1"/>
                </a:solidFill>
              </a:rPr>
              <a:t>Кластеризация</a:t>
            </a:r>
            <a:r>
              <a:rPr lang="ru" sz="1200">
                <a:solidFill>
                  <a:schemeClr val="dk1"/>
                </a:solidFill>
              </a:rPr>
              <a:t>: использование расстояний до центроидов кластеров и меток кластеров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ru" sz="1200">
                <a:solidFill>
                  <a:schemeClr val="dk1"/>
                </a:solidFill>
              </a:rPr>
              <a:t>Полиномиальные признаки</a:t>
            </a:r>
            <a:r>
              <a:rPr lang="ru" sz="1200">
                <a:solidFill>
                  <a:schemeClr val="dk1"/>
                </a:solidFill>
              </a:rPr>
              <a:t>: парные или тройные  взаимодействия между отобранными фичами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ru" sz="1200">
                <a:solidFill>
                  <a:schemeClr val="dk1"/>
                </a:solidFill>
              </a:rPr>
              <a:t>Понижение размерности</a:t>
            </a:r>
            <a:r>
              <a:rPr lang="ru" sz="1200">
                <a:solidFill>
                  <a:schemeClr val="dk1"/>
                </a:solidFill>
              </a:rPr>
              <a:t>: выделение PCA/SVD-компонент для построения компактных признаков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ru" sz="1200">
                <a:solidFill>
                  <a:schemeClr val="dk1"/>
                </a:solidFill>
              </a:rPr>
              <a:t>Частотные и ранговые трансформации</a:t>
            </a:r>
            <a:r>
              <a:rPr lang="ru" sz="1200">
                <a:solidFill>
                  <a:schemeClr val="dk1"/>
                </a:solidFill>
              </a:rPr>
              <a:t>: частотное кодирование дискретных признаков и переход к рангам для робастности к выбросам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ru" sz="1200">
                <a:solidFill>
                  <a:schemeClr val="dk1"/>
                </a:solidFill>
              </a:rPr>
              <a:t>Индикаторы активности</a:t>
            </a:r>
            <a:r>
              <a:rPr lang="ru" sz="1200">
                <a:solidFill>
                  <a:schemeClr val="dk1"/>
                </a:solidFill>
              </a:rPr>
              <a:t>: выделение бинарных признаков-флагов (совершал ли пользователь действие: 0 или 1) для обработки избытка нулей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log(1 + x) </a:t>
            </a:r>
            <a:r>
              <a:rPr i="1" lang="ru" sz="1200">
                <a:solidFill>
                  <a:schemeClr val="dk1"/>
                </a:solidFill>
              </a:rPr>
              <a:t>- трансформации</a:t>
            </a:r>
            <a:r>
              <a:rPr lang="ru" sz="1200">
                <a:solidFill>
                  <a:schemeClr val="dk1"/>
                </a:solidFill>
              </a:rPr>
              <a:t> для сжатия «тяжелых хвостов» распределений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11827"/>
                </a:solidFill>
              </a:rPr>
              <a:t>Отбор признаков:</a:t>
            </a:r>
            <a:endParaRPr sz="1200">
              <a:solidFill>
                <a:srgbClr val="111827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Char char="●"/>
            </a:pPr>
            <a:r>
              <a:rPr lang="ru" sz="1200">
                <a:solidFill>
                  <a:srgbClr val="111827"/>
                </a:solidFill>
              </a:rPr>
              <a:t>По LGBM Importance</a:t>
            </a:r>
            <a:endParaRPr sz="1200">
              <a:solidFill>
                <a:srgbClr val="111827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Char char="●"/>
            </a:pPr>
            <a:r>
              <a:rPr lang="ru" sz="1200">
                <a:solidFill>
                  <a:srgbClr val="111827"/>
                </a:solidFill>
              </a:rPr>
              <a:t>По силе корреляции с целевой переменной</a:t>
            </a:r>
            <a:endParaRPr sz="1200">
              <a:solidFill>
                <a:srgbClr val="111827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Char char="●"/>
            </a:pPr>
            <a:r>
              <a:rPr lang="ru" sz="1200">
                <a:solidFill>
                  <a:srgbClr val="111827"/>
                </a:solidFill>
              </a:rPr>
              <a:t>Комбинированный подход</a:t>
            </a:r>
            <a:endParaRPr sz="12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172" name="Google Shape;1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8/16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432019" y="408064"/>
            <a:ext cx="8092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lang="ru" sz="2000">
                <a:solidFill>
                  <a:srgbClr val="102D69"/>
                </a:solidFill>
              </a:rPr>
              <a:t>Пайплайн обучения и оценки моделей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24"/>
          <p:cNvCxnSpPr/>
          <p:nvPr/>
        </p:nvCxnSpPr>
        <p:spPr>
          <a:xfrm>
            <a:off x="542564" y="834769"/>
            <a:ext cx="7611300" cy="0"/>
          </a:xfrm>
          <a:prstGeom prst="straightConnector1">
            <a:avLst/>
          </a:prstGeom>
          <a:noFill/>
          <a:ln cap="flat" cmpd="sng" w="9050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24"/>
          <p:cNvSpPr/>
          <p:nvPr/>
        </p:nvSpPr>
        <p:spPr>
          <a:xfrm>
            <a:off x="192035" y="4705571"/>
            <a:ext cx="4046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4622766" y="4733680"/>
            <a:ext cx="42375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50"/>
              <a:buFont typeface="Arial"/>
              <a:buNone/>
            </a:pPr>
            <a:r>
              <a:rPr b="0" i="0" lang="ru" sz="65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24"/>
          <p:cNvCxnSpPr>
            <a:stCxn id="179" idx="1"/>
          </p:cNvCxnSpPr>
          <p:nvPr/>
        </p:nvCxnSpPr>
        <p:spPr>
          <a:xfrm flipH="1" rot="10800000">
            <a:off x="3362013" y="1468961"/>
            <a:ext cx="12900" cy="96900"/>
          </a:xfrm>
          <a:prstGeom prst="straightConnector1">
            <a:avLst/>
          </a:prstGeom>
          <a:noFill/>
          <a:ln cap="flat" cmpd="sng" w="23850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24"/>
          <p:cNvCxnSpPr>
            <a:stCxn id="179" idx="3"/>
          </p:cNvCxnSpPr>
          <p:nvPr/>
        </p:nvCxnSpPr>
        <p:spPr>
          <a:xfrm>
            <a:off x="5943213" y="1565861"/>
            <a:ext cx="1559100" cy="183000"/>
          </a:xfrm>
          <a:prstGeom prst="straightConnector1">
            <a:avLst/>
          </a:prstGeom>
          <a:noFill/>
          <a:ln cap="flat" cmpd="sng" w="23300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24"/>
          <p:cNvCxnSpPr>
            <a:stCxn id="182" idx="3"/>
            <a:endCxn id="179" idx="1"/>
          </p:cNvCxnSpPr>
          <p:nvPr/>
        </p:nvCxnSpPr>
        <p:spPr>
          <a:xfrm>
            <a:off x="2581788" y="1554761"/>
            <a:ext cx="780300" cy="11100"/>
          </a:xfrm>
          <a:prstGeom prst="straightConnector1">
            <a:avLst/>
          </a:prstGeom>
          <a:noFill/>
          <a:ln cap="flat" cmpd="sng" w="20750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24"/>
          <p:cNvCxnSpPr>
            <a:stCxn id="184" idx="1"/>
            <a:endCxn id="185" idx="3"/>
          </p:cNvCxnSpPr>
          <p:nvPr/>
        </p:nvCxnSpPr>
        <p:spPr>
          <a:xfrm rot="10800000">
            <a:off x="2931319" y="3341198"/>
            <a:ext cx="970800" cy="612900"/>
          </a:xfrm>
          <a:prstGeom prst="straightConnector1">
            <a:avLst/>
          </a:prstGeom>
          <a:noFill/>
          <a:ln cap="flat" cmpd="sng" w="20750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" name="Google Shape;182;p24"/>
          <p:cNvSpPr/>
          <p:nvPr/>
        </p:nvSpPr>
        <p:spPr>
          <a:xfrm>
            <a:off x="431988" y="834761"/>
            <a:ext cx="2149800" cy="1440000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8800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400" lIns="101400" spcFirstLastPara="1" rIns="101400" wrap="square" tIns="10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1"/>
          </a:p>
        </p:txBody>
      </p:sp>
      <p:sp>
        <p:nvSpPr>
          <p:cNvPr id="186" name="Google Shape;186;p24"/>
          <p:cNvSpPr/>
          <p:nvPr/>
        </p:nvSpPr>
        <p:spPr>
          <a:xfrm>
            <a:off x="553685" y="956460"/>
            <a:ext cx="385200" cy="3651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7"/>
              <a:buFont typeface="Arial"/>
              <a:buNone/>
            </a:pPr>
            <a:r>
              <a:rPr b="1" i="0" lang="ru" sz="162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2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1060760" y="956460"/>
            <a:ext cx="1389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479"/>
              <a:buFont typeface="Arial"/>
              <a:buNone/>
            </a:pPr>
            <a:r>
              <a:rPr b="1" lang="ru" sz="1479">
                <a:solidFill>
                  <a:srgbClr val="102D69"/>
                </a:solidFill>
              </a:rPr>
              <a:t>Stratification</a:t>
            </a:r>
            <a:endParaRPr b="0" i="0" sz="147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987218" y="1321558"/>
            <a:ext cx="14631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3"/>
              <a:buFont typeface="Arial"/>
              <a:buNone/>
            </a:pPr>
            <a:r>
              <a:rPr lang="ru" sz="1183">
                <a:solidFill>
                  <a:srgbClr val="111827"/>
                </a:solidFill>
              </a:rPr>
              <a:t>Разбиение обучающей выборки на несколько частей с сохранением баланса классов</a:t>
            </a:r>
            <a:endParaRPr b="0" i="0" sz="118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3362013" y="834761"/>
            <a:ext cx="2581200" cy="1462200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9900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425" lIns="107425" spcFirstLastPara="1" rIns="107425" wrap="square" tIns="10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7"/>
          </a:p>
        </p:txBody>
      </p:sp>
      <p:sp>
        <p:nvSpPr>
          <p:cNvPr id="189" name="Google Shape;189;p24"/>
          <p:cNvSpPr/>
          <p:nvPr/>
        </p:nvSpPr>
        <p:spPr>
          <a:xfrm>
            <a:off x="3490943" y="985789"/>
            <a:ext cx="408600" cy="3867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3"/>
              <a:buFont typeface="Arial"/>
              <a:buNone/>
            </a:pPr>
            <a:r>
              <a:rPr b="1" i="0" lang="ru" sz="172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2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4028106" y="985803"/>
            <a:ext cx="1798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567"/>
              <a:buFont typeface="Arial"/>
              <a:buNone/>
            </a:pPr>
            <a:r>
              <a:rPr b="1" lang="ru" sz="1567">
                <a:solidFill>
                  <a:srgbClr val="102D69"/>
                </a:solidFill>
              </a:rPr>
              <a:t>Modeling &amp; Tuning</a:t>
            </a:r>
            <a:endParaRPr b="1" sz="1567">
              <a:solidFill>
                <a:srgbClr val="102D69"/>
              </a:solidFill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4028119" y="1372548"/>
            <a:ext cx="1798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3"/>
              <a:buFont typeface="Arial"/>
              <a:buNone/>
            </a:pPr>
            <a:r>
              <a:rPr lang="ru" sz="1253">
                <a:solidFill>
                  <a:srgbClr val="111827"/>
                </a:solidFill>
              </a:rPr>
              <a:t>Выбор моделей и оптимизация параметров по Out-of-Fold ROC AUC</a:t>
            </a:r>
            <a:endParaRPr sz="1253">
              <a:solidFill>
                <a:srgbClr val="111827"/>
              </a:solidFill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6342475" y="1765225"/>
            <a:ext cx="2394600" cy="1567800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8775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50" lIns="101350" spcFirstLastPara="1" rIns="101350" wrap="square" tIns="10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/>
          </a:p>
        </p:txBody>
      </p:sp>
      <p:sp>
        <p:nvSpPr>
          <p:cNvPr id="193" name="Google Shape;193;p24"/>
          <p:cNvSpPr/>
          <p:nvPr/>
        </p:nvSpPr>
        <p:spPr>
          <a:xfrm>
            <a:off x="6504669" y="1856206"/>
            <a:ext cx="384900" cy="3645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5"/>
              <a:buFont typeface="Arial"/>
              <a:buNone/>
            </a:pPr>
            <a:r>
              <a:rPr b="1" i="0" lang="ru" sz="16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7045251" y="1871824"/>
            <a:ext cx="1600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477"/>
              <a:buFont typeface="Arial"/>
              <a:buNone/>
            </a:pPr>
            <a:r>
              <a:rPr b="1" i="0" lang="ru" sz="1477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Refit</a:t>
            </a:r>
            <a:r>
              <a:rPr b="1" lang="ru" sz="1477">
                <a:solidFill>
                  <a:srgbClr val="102D69"/>
                </a:solidFill>
              </a:rPr>
              <a:t> &amp; Prediction</a:t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6726156" y="2307277"/>
            <a:ext cx="1695000" cy="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2"/>
              <a:buFont typeface="Arial"/>
              <a:buNone/>
            </a:pPr>
            <a:r>
              <a:rPr lang="ru" sz="1182">
                <a:solidFill>
                  <a:srgbClr val="111827"/>
                </a:solidFill>
              </a:rPr>
              <a:t>Фиксация лучших конфигураций моделей, обучение на полной обучающей выборке, предсказание теста</a:t>
            </a:r>
            <a:endParaRPr b="0" i="0" sz="118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3902119" y="3222998"/>
            <a:ext cx="2061900" cy="1462200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7325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450" lIns="93450" spcFirstLastPara="1" rIns="93450" wrap="square" tIns="9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4020410" y="3333108"/>
            <a:ext cx="355200" cy="3363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9"/>
              <a:buFont typeface="Arial"/>
              <a:buNone/>
            </a:pPr>
            <a:r>
              <a:rPr b="1" i="0" lang="ru" sz="1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4493877" y="3376724"/>
            <a:ext cx="1349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363"/>
              <a:buFont typeface="Arial"/>
              <a:buNone/>
            </a:pPr>
            <a:r>
              <a:rPr b="1" lang="ru" sz="1363">
                <a:solidFill>
                  <a:srgbClr val="102D69"/>
                </a:solidFill>
              </a:rPr>
              <a:t>Blending</a:t>
            </a:r>
            <a:endParaRPr b="0" i="0" sz="13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4310491" y="3791164"/>
            <a:ext cx="15327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lang="ru" sz="1090">
                <a:solidFill>
                  <a:srgbClr val="111827"/>
                </a:solidFill>
              </a:rPr>
              <a:t>Смешивание прогнозов сильнейших одиночных моделей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869488" y="2621296"/>
            <a:ext cx="2061900" cy="1440000"/>
          </a:xfrm>
          <a:prstGeom prst="roundRect">
            <a:avLst>
              <a:gd fmla="val 5634" name="adj"/>
            </a:avLst>
          </a:prstGeom>
          <a:solidFill>
            <a:srgbClr val="F4F7FC"/>
          </a:solidFill>
          <a:ln cap="flat" cmpd="sng" w="17325">
            <a:solidFill>
              <a:srgbClr val="D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450" lIns="93450" spcFirstLastPara="1" rIns="93450" wrap="square" tIns="9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99" name="Google Shape;199;p24"/>
          <p:cNvSpPr/>
          <p:nvPr/>
        </p:nvSpPr>
        <p:spPr>
          <a:xfrm>
            <a:off x="1043233" y="2717971"/>
            <a:ext cx="355200" cy="3363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9"/>
              <a:buFont typeface="Arial"/>
              <a:buNone/>
            </a:pPr>
            <a:r>
              <a:rPr b="1" i="0" lang="ru" sz="1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1529782" y="2752824"/>
            <a:ext cx="1280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363"/>
              <a:buFont typeface="Arial"/>
              <a:buNone/>
            </a:pPr>
            <a:r>
              <a:rPr b="1" lang="ru" sz="1363">
                <a:solidFill>
                  <a:srgbClr val="102D69"/>
                </a:solidFill>
              </a:rPr>
              <a:t>Evaluation</a:t>
            </a:r>
            <a:endParaRPr b="0" i="0" sz="13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1277930" y="3167264"/>
            <a:ext cx="15327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lang="ru" sz="1090">
                <a:solidFill>
                  <a:srgbClr val="111827"/>
                </a:solidFill>
              </a:rPr>
              <a:t>Сабмит на Kaggle и фиксация тестового ROC AUC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24"/>
          <p:cNvCxnSpPr>
            <a:stCxn id="192" idx="1"/>
            <a:endCxn id="184" idx="3"/>
          </p:cNvCxnSpPr>
          <p:nvPr/>
        </p:nvCxnSpPr>
        <p:spPr>
          <a:xfrm flipH="1">
            <a:off x="5963875" y="2549125"/>
            <a:ext cx="378600" cy="1404900"/>
          </a:xfrm>
          <a:prstGeom prst="straightConnector1">
            <a:avLst/>
          </a:prstGeom>
          <a:noFill/>
          <a:ln cap="flat" cmpd="sng" w="20750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24"/>
          <p:cNvCxnSpPr>
            <a:stCxn id="192" idx="1"/>
          </p:cNvCxnSpPr>
          <p:nvPr/>
        </p:nvCxnSpPr>
        <p:spPr>
          <a:xfrm flipH="1">
            <a:off x="2942575" y="2549125"/>
            <a:ext cx="3399900" cy="592200"/>
          </a:xfrm>
          <a:prstGeom prst="straightConnector1">
            <a:avLst/>
          </a:prstGeom>
          <a:noFill/>
          <a:ln cap="flat" cmpd="sng" w="20750">
            <a:solidFill>
              <a:srgbClr val="1D4E8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09" name="Google Shape;2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/>
          <p:nvPr/>
        </p:nvSpPr>
        <p:spPr>
          <a:xfrm>
            <a:off x="8469630" y="123444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9/16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431994" y="281176"/>
            <a:ext cx="8092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lang="ru" sz="2000">
                <a:solidFill>
                  <a:srgbClr val="102D69"/>
                </a:solidFill>
              </a:rPr>
              <a:t>Лучшие результаты одиночных моделей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5"/>
          <p:cNvCxnSpPr/>
          <p:nvPr/>
        </p:nvCxnSpPr>
        <p:spPr>
          <a:xfrm>
            <a:off x="466344" y="843534"/>
            <a:ext cx="802380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25"/>
          <p:cNvSpPr/>
          <p:nvPr/>
        </p:nvSpPr>
        <p:spPr>
          <a:xfrm>
            <a:off x="308610" y="4882896"/>
            <a:ext cx="4046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4869180" y="4882896"/>
            <a:ext cx="3909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p25"/>
          <p:cNvGraphicFramePr/>
          <p:nvPr/>
        </p:nvGraphicFramePr>
        <p:xfrm>
          <a:off x="1561663" y="92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{0D359D7E-9F01-4D16-80E2-32D09AD6EF96}</a:tableStyleId>
              </a:tblPr>
              <a:tblGrid>
                <a:gridCol w="2088100"/>
                <a:gridCol w="2308325"/>
                <a:gridCol w="1867900"/>
              </a:tblGrid>
              <a:tr h="392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lt1"/>
                          </a:solidFill>
                        </a:rPr>
                        <a:t>Модель 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lt1"/>
                          </a:solidFill>
                        </a:rPr>
                        <a:t>Семейство моделей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lt1"/>
                          </a:solidFill>
                        </a:rPr>
                        <a:t>Тестовый ROC AUC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D69"/>
                    </a:solidFill>
                  </a:tcPr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LightGBM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Gradient Boosting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0.69428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XGBoost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Gradient Boosting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0.69153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CatBoost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Gradient Boosting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0.69090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HistGradientBoosting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Gradient Boosting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0.68633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TabM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Tabular DL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</a:t>
                      </a:r>
                      <a:r>
                        <a:rPr lang="ru" sz="1100"/>
                        <a:t>68518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FLAML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AutoML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0.68439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ExtraTrees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Bagging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0.67837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Random Forest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Bagging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0.67212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5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Logistic Regression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Linear Models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0.66650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11/16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lang="ru" sz="2000">
                <a:solidFill>
                  <a:srgbClr val="102D69"/>
                </a:solidFill>
              </a:rPr>
              <a:t>Blending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26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26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537850" y="1008124"/>
            <a:ext cx="80238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i="1" lang="ru">
                <a:solidFill>
                  <a:srgbClr val="111827"/>
                </a:solidFill>
              </a:rPr>
              <a:t>Концепция блендинга</a:t>
            </a:r>
            <a:r>
              <a:rPr lang="ru">
                <a:solidFill>
                  <a:srgbClr val="111827"/>
                </a:solidFill>
              </a:rPr>
              <a:t>: построение линейной комбинации прогнозов моделей (вероятностей или рангов) для диверсификации ошибок.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537850" y="1671425"/>
            <a:ext cx="79317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827"/>
                </a:solidFill>
              </a:rPr>
              <a:t>Как подбирать веса для комбинации:</a:t>
            </a:r>
            <a:endParaRPr b="0" i="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71101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Char char="●"/>
            </a:pPr>
            <a:r>
              <a:rPr lang="ru">
                <a:solidFill>
                  <a:srgbClr val="111827"/>
                </a:solidFill>
              </a:rPr>
              <a:t>Равномерное усреднение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71101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Char char="●"/>
            </a:pPr>
            <a:r>
              <a:rPr lang="ru">
                <a:solidFill>
                  <a:srgbClr val="111827"/>
                </a:solidFill>
              </a:rPr>
              <a:t>Пропорционально индивидуальной метрике на тесте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71101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Char char="●"/>
            </a:pPr>
            <a:r>
              <a:rPr lang="ru">
                <a:solidFill>
                  <a:srgbClr val="111827"/>
                </a:solidFill>
              </a:rPr>
              <a:t>Ручной подбор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71101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Char char="●"/>
            </a:pPr>
            <a:r>
              <a:rPr lang="ru">
                <a:solidFill>
                  <a:schemeClr val="dk1"/>
                </a:solidFill>
              </a:rPr>
              <a:t>Поиск весов по сетке через кросс-валидацию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26"/>
          <p:cNvCxnSpPr/>
          <p:nvPr/>
        </p:nvCxnSpPr>
        <p:spPr>
          <a:xfrm>
            <a:off x="4560570" y="1131570"/>
            <a:ext cx="0" cy="2674620"/>
          </a:xfrm>
          <a:prstGeom prst="straightConnector1">
            <a:avLst/>
          </a:prstGeom>
          <a:noFill/>
          <a:ln cap="flat" cmpd="sng" w="114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26"/>
          <p:cNvSpPr txBox="1"/>
          <p:nvPr/>
        </p:nvSpPr>
        <p:spPr>
          <a:xfrm>
            <a:off x="512425" y="3064325"/>
            <a:ext cx="7931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Степенной бленд</a:t>
            </a:r>
            <a:r>
              <a:rPr lang="ru"/>
              <a:t> (Power Blending): возведение индивидуальных прогнозов моделей (вероятностей или рангов) в степень p, нахождение их линейной комбинации и и последующее извлечение корня степени p.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36" name="Google Shape;2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/>
          <p:nvPr/>
        </p:nvSpPr>
        <p:spPr>
          <a:xfrm>
            <a:off x="8469630" y="123444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12/16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431994" y="408039"/>
            <a:ext cx="8092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lang="ru" sz="2000">
                <a:solidFill>
                  <a:srgbClr val="102D69"/>
                </a:solidFill>
              </a:rPr>
              <a:t>Лучшие результаты блендинга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27"/>
          <p:cNvCxnSpPr/>
          <p:nvPr/>
        </p:nvCxnSpPr>
        <p:spPr>
          <a:xfrm>
            <a:off x="466344" y="843534"/>
            <a:ext cx="802380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27"/>
          <p:cNvSpPr/>
          <p:nvPr/>
        </p:nvSpPr>
        <p:spPr>
          <a:xfrm>
            <a:off x="308610" y="4882896"/>
            <a:ext cx="4046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869180" y="4882896"/>
            <a:ext cx="3909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2" name="Google Shape;242;p27"/>
          <p:cNvGraphicFramePr/>
          <p:nvPr/>
        </p:nvGraphicFramePr>
        <p:xfrm>
          <a:off x="734775" y="126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{0D359D7E-9F01-4D16-80E2-32D09AD6EF96}</a:tableStyleId>
              </a:tblPr>
              <a:tblGrid>
                <a:gridCol w="4720775"/>
                <a:gridCol w="3068950"/>
              </a:tblGrid>
              <a:tr h="46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Описание бленда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Тестовый ROC AUC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D69"/>
                    </a:solidFill>
                  </a:tcPr>
                </a:tc>
              </a:tr>
              <a:tr h="46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 LGBM (обучены на разных признаках)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0.69930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 LGBM + CatBoost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0.70336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 LGBM + CatBoost + FLAML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0.70947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 LGBM + CatBoost + FLAML + TabM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0.71358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 LGBM + CatBoost + FLAML + TabM + LogReg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0.71513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48" name="Google Shape;2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8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14/16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Итог</a:t>
            </a:r>
            <a:r>
              <a:rPr b="1" lang="ru" sz="2000">
                <a:solidFill>
                  <a:srgbClr val="102D69"/>
                </a:solidFill>
              </a:rPr>
              <a:t>овые результаты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28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28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8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4" name="Google Shape;254;p28"/>
          <p:cNvGraphicFramePr/>
          <p:nvPr/>
        </p:nvGraphicFramePr>
        <p:xfrm>
          <a:off x="720100" y="128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{0D359D7E-9F01-4D16-80E2-32D09AD6EF96}</a:tableStyleId>
              </a:tblPr>
              <a:tblGrid>
                <a:gridCol w="2452725"/>
                <a:gridCol w="3501100"/>
                <a:gridCol w="1946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Категория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Описание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Тестовый ROC AUC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02D6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Наша лучшая одиночная модель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LBGM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0.69428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Наш лучший бленд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Степенной бленд (2 x LGBM + CatBoost + FLAML + TabM + LogReg)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0.71513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Топ-1 результат лидерборда хакатона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0.71146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hse_logo_blue.png" id="260" name="Google Shape;2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" y="123444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9"/>
          <p:cNvSpPr/>
          <p:nvPr/>
        </p:nvSpPr>
        <p:spPr>
          <a:xfrm>
            <a:off x="8469630" y="123444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15/16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466344" y="493776"/>
            <a:ext cx="8092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r>
              <a:rPr b="1" i="0" lang="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29"/>
          <p:cNvCxnSpPr/>
          <p:nvPr/>
        </p:nvCxnSpPr>
        <p:spPr>
          <a:xfrm>
            <a:off x="466344" y="843534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E7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29"/>
          <p:cNvSpPr/>
          <p:nvPr/>
        </p:nvSpPr>
        <p:spPr>
          <a:xfrm>
            <a:off x="308610" y="4882896"/>
            <a:ext cx="40462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4869180" y="4882896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295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778295"/>
                </a:solidFill>
                <a:latin typeface="Arial"/>
                <a:ea typeface="Arial"/>
                <a:cs typeface="Arial"/>
                <a:sym typeface="Arial"/>
              </a:rPr>
              <a:t>Фанта с хлебом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720100" y="1048575"/>
            <a:ext cx="76815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Сделан </a:t>
            </a:r>
            <a:r>
              <a:rPr i="1" lang="ru">
                <a:solidFill>
                  <a:schemeClr val="dk1"/>
                </a:solidFill>
              </a:rPr>
              <a:t>полный цикл обработки данных</a:t>
            </a:r>
            <a:r>
              <a:rPr lang="ru">
                <a:solidFill>
                  <a:schemeClr val="dk1"/>
                </a:solidFill>
              </a:rPr>
              <a:t>: от разведочного анализа и очистки датасета до генерации и отбора фичей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ru">
                <a:solidFill>
                  <a:schemeClr val="dk1"/>
                </a:solidFill>
              </a:rPr>
              <a:t>Масштабное</a:t>
            </a:r>
            <a:r>
              <a:rPr i="1" lang="ru">
                <a:solidFill>
                  <a:schemeClr val="dk1"/>
                </a:solidFill>
              </a:rPr>
              <a:t> моделирование</a:t>
            </a:r>
            <a:r>
              <a:rPr lang="ru">
                <a:solidFill>
                  <a:schemeClr val="dk1"/>
                </a:solidFill>
              </a:rPr>
              <a:t>: протестирован широкий стек моделей, включая ML модели, AutoML и специализированные табличные нейросети (TabM)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</a:rPr>
              <a:t>Достигнуто в</a:t>
            </a:r>
            <a:r>
              <a:rPr i="1" lang="ru">
                <a:solidFill>
                  <a:schemeClr val="dk1"/>
                </a:solidFill>
              </a:rPr>
              <a:t>ысокое качество ранжирования</a:t>
            </a:r>
            <a:r>
              <a:rPr lang="ru">
                <a:solidFill>
                  <a:schemeClr val="dk1"/>
                </a:solidFill>
              </a:rPr>
              <a:t>: степенной блендинг сильнейших одиночных моделей позволил зафиксировать метрику ROC-AUC = 0.71513, что превосходит официальный топ-1 результат хакатона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D69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0" y="0"/>
            <a:ext cx="2160270" cy="51435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2160270" y="0"/>
            <a:ext cx="27432" cy="5143500"/>
          </a:xfrm>
          <a:prstGeom prst="rect">
            <a:avLst/>
          </a:prstGeom>
          <a:solidFill>
            <a:srgbClr val="2380C3"/>
          </a:solidFill>
          <a:ln cap="flat" cmpd="sng" w="12700">
            <a:solidFill>
              <a:srgbClr val="2380C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hse_logo_white.png" id="274" name="Google Shape;2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34" y="514350"/>
            <a:ext cx="582930" cy="58293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/>
          <p:nvPr/>
        </p:nvSpPr>
        <p:spPr>
          <a:xfrm>
            <a:off x="500634" y="1248156"/>
            <a:ext cx="13716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0F0"/>
              </a:buClr>
              <a:buSzPts val="800"/>
              <a:buFont typeface="Arial"/>
              <a:buNone/>
            </a:pPr>
            <a:r>
              <a:rPr lang="ru" sz="800">
                <a:solidFill>
                  <a:srgbClr val="D6E0F0"/>
                </a:solidFill>
              </a:rPr>
              <a:t>Школа информатики, физики и технологий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2551176" y="822960"/>
            <a:ext cx="5349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A"/>
              </a:buClr>
              <a:buSzPts val="1400"/>
              <a:buFont typeface="Arial"/>
              <a:buNone/>
            </a:pPr>
            <a:r>
              <a:rPr b="0" lang="ru" sz="1400">
                <a:solidFill>
                  <a:srgbClr val="E6EEFA"/>
                </a:solidFill>
                <a:latin typeface="Arial"/>
                <a:ea typeface="Arial"/>
                <a:cs typeface="Arial"/>
                <a:sym typeface="Arial"/>
              </a:rPr>
              <a:t>VK Predict CMC Hackathon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0"/>
          <p:cNvSpPr/>
          <p:nvPr/>
        </p:nvSpPr>
        <p:spPr>
          <a:xfrm>
            <a:off x="2537460" y="1268730"/>
            <a:ext cx="600075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Репозиторий проекта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2551176" y="3552444"/>
            <a:ext cx="61036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2551176" y="4149090"/>
            <a:ext cx="52120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A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E6EEFA"/>
                </a:solidFill>
                <a:latin typeface="Arial"/>
                <a:ea typeface="Arial"/>
                <a:cs typeface="Arial"/>
                <a:sym typeface="Arial"/>
              </a:rPr>
              <a:t>github.com/medlopi/ml-project-adaai_VK_predict_hackathon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2551176" y="4423410"/>
            <a:ext cx="4457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CEE"/>
              </a:buClr>
              <a:buSzPts val="1100"/>
              <a:buFont typeface="Arial"/>
              <a:buNone/>
            </a:pPr>
            <a:r>
              <a:rPr b="0" lang="ru" sz="1100">
                <a:solidFill>
                  <a:srgbClr val="D2DCEE"/>
                </a:solidFill>
                <a:latin typeface="Arial"/>
                <a:ea typeface="Arial"/>
                <a:cs typeface="Arial"/>
                <a:sym typeface="Arial"/>
              </a:rPr>
              <a:t>Фанта с хлебом · Санкт-Петербург,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3353550" y="1783122"/>
            <a:ext cx="1899600" cy="189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o_qr_highres.png" id="282" name="Google Shape;28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3252" y="1892863"/>
            <a:ext cx="1680209" cy="1680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