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12192000" cy="6858000"/>
  <p:embeddedFontLst>
    <p:embeddedFont>
      <p:font typeface="Helvetica Neue" panose="020B0604020202020204" charset="0"/>
      <p:regular r:id="rId18"/>
      <p:bold r:id="rId19"/>
      <p:italic r:id="rId20"/>
      <p:boldItalic r:id="rId21"/>
    </p:embeddedFont>
    <p:embeddedFont>
      <p:font typeface="Trebuchet MS" panose="020B060302020202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heOE+X4bE8sZmhOdNxlrS6rAZ3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BD81CE6-B62D-4A4B-B2EB-DFE3472FCBB5}">
  <a:tblStyle styleId="{8BD81CE6-B62D-4A4B-B2EB-DFE3472FCBB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96" d="100"/>
          <a:sy n="96" d="100"/>
        </p:scale>
        <p:origin x="312" y="5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obj">
  <p:cSld name="OBJECT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>
            <a:spLocks noGrp="1"/>
          </p:cNvSpPr>
          <p:nvPr>
            <p:ph type="title"/>
          </p:nvPr>
        </p:nvSpPr>
        <p:spPr>
          <a:xfrm>
            <a:off x="10397500" y="484018"/>
            <a:ext cx="730250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rgbClr val="0F2C6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body" idx="1"/>
          </p:nvPr>
        </p:nvSpPr>
        <p:spPr>
          <a:xfrm>
            <a:off x="1420170" y="2110702"/>
            <a:ext cx="9230360" cy="21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9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rgbClr val="0F2C6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>
            <a:spLocks noGrp="1"/>
          </p:cNvSpPr>
          <p:nvPr>
            <p:ph type="title"/>
          </p:nvPr>
        </p:nvSpPr>
        <p:spPr>
          <a:xfrm>
            <a:off x="10397500" y="484018"/>
            <a:ext cx="730250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rgbClr val="0F2C6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>
            <a:spLocks noGrp="1"/>
          </p:cNvSpPr>
          <p:nvPr>
            <p:ph type="title"/>
          </p:nvPr>
        </p:nvSpPr>
        <p:spPr>
          <a:xfrm>
            <a:off x="10397500" y="484018"/>
            <a:ext cx="730250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rgbClr val="0F2C6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17199" y="464363"/>
            <a:ext cx="448275" cy="4482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6"/>
          <p:cNvSpPr/>
          <p:nvPr/>
        </p:nvSpPr>
        <p:spPr>
          <a:xfrm>
            <a:off x="3298685" y="464362"/>
            <a:ext cx="8345805" cy="586740"/>
          </a:xfrm>
          <a:custGeom>
            <a:avLst/>
            <a:gdLst/>
            <a:ahLst/>
            <a:cxnLst/>
            <a:rect l="l" t="t" r="r" b="b"/>
            <a:pathLst>
              <a:path w="8345805" h="586740" extrusionOk="0">
                <a:moveTo>
                  <a:pt x="0" y="0"/>
                </a:moveTo>
                <a:lnTo>
                  <a:pt x="0" y="586259"/>
                </a:lnTo>
              </a:path>
              <a:path w="8345805" h="586740" extrusionOk="0">
                <a:moveTo>
                  <a:pt x="2800729" y="0"/>
                </a:moveTo>
                <a:lnTo>
                  <a:pt x="2800729" y="586259"/>
                </a:lnTo>
              </a:path>
              <a:path w="8345805" h="586740" extrusionOk="0">
                <a:moveTo>
                  <a:pt x="6978395" y="0"/>
                </a:moveTo>
                <a:lnTo>
                  <a:pt x="6978395" y="586259"/>
                </a:lnTo>
              </a:path>
              <a:path w="8345805" h="586740" extrusionOk="0">
                <a:moveTo>
                  <a:pt x="8345181" y="0"/>
                </a:moveTo>
                <a:lnTo>
                  <a:pt x="8345181" y="586259"/>
                </a:lnTo>
              </a:path>
            </a:pathLst>
          </a:custGeom>
          <a:noFill/>
          <a:ln w="12675" cap="flat" cmpd="sng">
            <a:solidFill>
              <a:srgbClr val="102D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" name="Google Shape;9;p16"/>
          <p:cNvSpPr txBox="1">
            <a:spLocks noGrp="1"/>
          </p:cNvSpPr>
          <p:nvPr>
            <p:ph type="title"/>
          </p:nvPr>
        </p:nvSpPr>
        <p:spPr>
          <a:xfrm>
            <a:off x="10397500" y="484018"/>
            <a:ext cx="730250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F2C6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body" idx="1"/>
          </p:nvPr>
        </p:nvSpPr>
        <p:spPr>
          <a:xfrm>
            <a:off x="1420170" y="2110702"/>
            <a:ext cx="9230360" cy="21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7" name="Google Shape;47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" name="Google Shape;48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13859" y="962173"/>
              <a:ext cx="886498" cy="8864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" name="Google Shape;49;p1"/>
            <p:cNvSpPr/>
            <p:nvPr/>
          </p:nvSpPr>
          <p:spPr>
            <a:xfrm>
              <a:off x="6090211" y="985335"/>
              <a:ext cx="5088890" cy="840740"/>
            </a:xfrm>
            <a:custGeom>
              <a:avLst/>
              <a:gdLst/>
              <a:ahLst/>
              <a:cxnLst/>
              <a:rect l="l" t="t" r="r" b="b"/>
              <a:pathLst>
                <a:path w="5088890" h="840739" extrusionOk="0">
                  <a:moveTo>
                    <a:pt x="0" y="0"/>
                  </a:moveTo>
                  <a:lnTo>
                    <a:pt x="0" y="840172"/>
                  </a:lnTo>
                </a:path>
                <a:path w="5088890" h="840739" extrusionOk="0">
                  <a:moveTo>
                    <a:pt x="2552369" y="0"/>
                  </a:moveTo>
                  <a:lnTo>
                    <a:pt x="2552369" y="840172"/>
                  </a:lnTo>
                </a:path>
                <a:path w="5088890" h="840739" extrusionOk="0">
                  <a:moveTo>
                    <a:pt x="5088834" y="0"/>
                  </a:moveTo>
                  <a:lnTo>
                    <a:pt x="5088834" y="840172"/>
                  </a:lnTo>
                </a:path>
              </a:pathLst>
            </a:custGeom>
            <a:noFill/>
            <a:ln w="12675" cap="flat" cmpd="sng">
              <a:solidFill>
                <a:srgbClr val="102D6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50" name="Google Shape;50;p1"/>
          <p:cNvSpPr txBox="1"/>
          <p:nvPr/>
        </p:nvSpPr>
        <p:spPr>
          <a:xfrm>
            <a:off x="2062247" y="1165997"/>
            <a:ext cx="322707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0F2C68"/>
                </a:solidFill>
                <a:latin typeface="Trebuchet MS"/>
              </a:rPr>
              <a:t>Машинное обучение и анализ данных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6246720" y="1112071"/>
            <a:ext cx="2152015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1575" rIns="0" bIns="0" anchor="t" anchorCtr="0">
            <a:noAutofit/>
          </a:bodyPr>
          <a:lstStyle/>
          <a:p>
            <a:pPr marL="12700" marR="5080" lvl="0" indent="0" algn="l" rtl="0">
              <a:lnSpc>
                <a:spcPct val="96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0F2C68"/>
                </a:solidFill>
                <a:latin typeface="Trebuchet MS"/>
              </a:rPr>
              <a:t>Школа информатики, физики и технологий</a:t>
            </a:r>
            <a:endParaRPr sz="165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" name="Google Shape;52;p1"/>
          <p:cNvSpPr txBox="1"/>
          <p:nvPr/>
        </p:nvSpPr>
        <p:spPr>
          <a:xfrm>
            <a:off x="987965" y="2057400"/>
            <a:ext cx="10191135" cy="3421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275" rIns="0" bIns="0" anchor="t" anchorCtr="0">
            <a:noAutofit/>
          </a:bodyPr>
          <a:lstStyle/>
          <a:p>
            <a:pPr marL="85725" marR="5080" lvl="0" indent="0" algn="l" rtl="0">
              <a:lnSpc>
                <a:spcPct val="101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dirty="0">
                <a:solidFill>
                  <a:srgbClr val="0F2C68"/>
                </a:solidFill>
                <a:latin typeface="Trebuchet MS"/>
              </a:rPr>
              <a:t>VK Predict CMC Hackathon</a:t>
            </a:r>
            <a:endParaRPr dirty="0"/>
          </a:p>
          <a:p>
            <a:endParaRPr dirty="0"/>
          </a:p>
          <a:p>
            <a:r>
              <a:rPr sz="1700" b="0" dirty="0" err="1">
                <a:solidFill>
                  <a:srgbClr val="0F2C68"/>
                </a:solidFill>
                <a:latin typeface="Trebuchet MS"/>
              </a:rPr>
              <a:t>Прогнозирование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склонности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пользователя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к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секретному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событию</a:t>
            </a:r>
            <a:endParaRPr sz="1700" b="0" dirty="0">
              <a:solidFill>
                <a:srgbClr val="0F2C68"/>
              </a:solidFill>
              <a:latin typeface="Trebuchet MS"/>
            </a:endParaRPr>
          </a:p>
          <a:p>
            <a:endParaRPr sz="1700" b="0" dirty="0">
              <a:solidFill>
                <a:srgbClr val="0F2C68"/>
              </a:solidFill>
              <a:latin typeface="Trebuchet MS"/>
            </a:endParaRPr>
          </a:p>
          <a:p>
            <a:r>
              <a:rPr sz="1700" b="0" dirty="0" err="1">
                <a:solidFill>
                  <a:srgbClr val="0F2C68"/>
                </a:solidFill>
                <a:latin typeface="Trebuchet MS"/>
              </a:rPr>
              <a:t>Бинарная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классификация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на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анонимизированных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табличных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данных</a:t>
            </a:r>
            <a:endParaRPr sz="1700" b="0" dirty="0">
              <a:solidFill>
                <a:srgbClr val="0F2C68"/>
              </a:solidFill>
              <a:latin typeface="Trebuchet MS"/>
            </a:endParaRPr>
          </a:p>
          <a:p>
            <a:endParaRPr sz="1700" b="0" dirty="0">
              <a:solidFill>
                <a:srgbClr val="0F2C68"/>
              </a:solidFill>
              <a:latin typeface="Trebuchet MS"/>
            </a:endParaRPr>
          </a:p>
          <a:p>
            <a:r>
              <a:rPr sz="1700" b="0" dirty="0" err="1">
                <a:solidFill>
                  <a:srgbClr val="0F2C68"/>
                </a:solidFill>
                <a:latin typeface="Trebuchet MS"/>
              </a:rPr>
              <a:t>Направление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подготовки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01.0</a:t>
            </a:r>
            <a:r>
              <a:rPr lang="ru-RU" sz="1700" b="0" dirty="0">
                <a:solidFill>
                  <a:srgbClr val="0F2C68"/>
                </a:solidFill>
                <a:latin typeface="Trebuchet MS"/>
              </a:rPr>
              <a:t>3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.02 «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Прикладная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математика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и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sz="1700" b="0" dirty="0" err="1">
                <a:solidFill>
                  <a:srgbClr val="0F2C68"/>
                </a:solidFill>
                <a:latin typeface="Trebuchet MS"/>
              </a:rPr>
              <a:t>информатика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»</a:t>
            </a:r>
            <a:r>
              <a:rPr lang="ru-RU" sz="1700" b="0" dirty="0">
                <a:solidFill>
                  <a:srgbClr val="0F2C68"/>
                </a:solidFill>
                <a:latin typeface="Trebuchet MS"/>
              </a:rPr>
              <a:t>, ПАДИИ</a:t>
            </a:r>
            <a:endParaRPr sz="1700" b="0" dirty="0">
              <a:solidFill>
                <a:srgbClr val="0F2C68"/>
              </a:solidFill>
              <a:latin typeface="Trebuchet MS"/>
            </a:endParaRPr>
          </a:p>
          <a:p>
            <a:r>
              <a:rPr sz="1700" b="0" dirty="0" err="1">
                <a:solidFill>
                  <a:srgbClr val="0F2C68"/>
                </a:solidFill>
                <a:latin typeface="Trebuchet MS"/>
              </a:rPr>
              <a:t>Выполнили</a:t>
            </a:r>
            <a:r>
              <a:rPr sz="1700" b="0" dirty="0">
                <a:solidFill>
                  <a:srgbClr val="0F2C68"/>
                </a:solidFill>
                <a:latin typeface="Trebuchet MS"/>
              </a:rPr>
              <a:t>:</a:t>
            </a:r>
            <a:r>
              <a:rPr lang="ru-RU" sz="1700" b="0" dirty="0">
                <a:solidFill>
                  <a:srgbClr val="0F2C68"/>
                </a:solidFill>
                <a:latin typeface="Trebuchet MS"/>
              </a:rPr>
              <a:t> </a:t>
            </a:r>
            <a:r>
              <a:rPr lang="ru-RU" sz="1700" b="0" dirty="0" err="1">
                <a:solidFill>
                  <a:srgbClr val="0F2C68"/>
                </a:solidFill>
                <a:latin typeface="Trebuchet MS"/>
              </a:rPr>
              <a:t>Пеганов</a:t>
            </a:r>
            <a:r>
              <a:rPr lang="ru-RU" sz="1700" b="0" dirty="0">
                <a:solidFill>
                  <a:srgbClr val="0F2C68"/>
                </a:solidFill>
                <a:latin typeface="Trebuchet MS"/>
              </a:rPr>
              <a:t> Илья, Поздеев Арсений, Сорочан Дмитрий (Фанта с хлебом)</a:t>
            </a:r>
            <a:endParaRPr sz="1700" b="0" dirty="0">
              <a:solidFill>
                <a:srgbClr val="0F2C68"/>
              </a:solidFill>
              <a:latin typeface="Trebuchet MS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8774020" y="1108093"/>
            <a:ext cx="1884680" cy="51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300" rIns="0" bIns="0" anchor="t" anchorCtr="0">
            <a:noAutofit/>
          </a:bodyPr>
          <a:lstStyle/>
          <a:p>
            <a:pPr marL="12700" marR="508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F2C68"/>
                </a:solidFill>
                <a:latin typeface="Trebuchet MS"/>
              </a:rPr>
              <a:t>Санкт-Петербург, 2026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/>
          <p:nvPr/>
        </p:nvSpPr>
        <p:spPr>
          <a:xfrm>
            <a:off x="1130989" y="522616"/>
            <a:ext cx="1430655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Школа информатики, физики и технологий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6247204" y="529421"/>
            <a:ext cx="2591995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Фанта с хлебом</a:t>
            </a:r>
            <a:endParaRPr lang="ru-RU" sz="13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3492100" y="458537"/>
            <a:ext cx="2527700" cy="74892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F2C68"/>
                </a:solidFill>
                <a:latin typeface="Trebuchet MS"/>
              </a:rPr>
              <a:t>VK Predict CMC Hackathon</a:t>
            </a:r>
            <a:endParaRPr/>
          </a:p>
        </p:txBody>
      </p:sp>
      <p:sp>
        <p:nvSpPr>
          <p:cNvPr id="62" name="Google Shape;62;p2" descr="$PPTXTitle"/>
          <p:cNvSpPr txBox="1">
            <a:spLocks noGrp="1"/>
          </p:cNvSpPr>
          <p:nvPr>
            <p:ph type="title"/>
          </p:nvPr>
        </p:nvSpPr>
        <p:spPr>
          <a:xfrm>
            <a:off x="10397500" y="484018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0F2C68"/>
                </a:solidFill>
                <a:latin typeface="Calibri"/>
              </a:rPr>
              <a:t>2/15</a:t>
            </a:r>
            <a:endParaRPr sz="2400" baseline="30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85800" y="1874519"/>
            <a:ext cx="5166360" cy="342900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500" b="1">
                <a:solidFill>
                  <a:srgbClr val="0B1F4D"/>
                </a:solidFill>
                <a:latin typeface="Arial"/>
              </a:rPr>
              <a:t>Формулировка</a:t>
            </a:r>
          </a:p>
          <a:p>
            <a:endParaRPr sz="1500" b="1">
              <a:solidFill>
                <a:srgbClr val="0B1F4D"/>
              </a:solidFill>
              <a:latin typeface="Arial"/>
            </a:endParaRPr>
          </a:p>
          <a:p>
            <a:r>
              <a:rPr sz="1500" b="0">
                <a:solidFill>
                  <a:srgbClr val="0B1F4D"/>
                </a:solidFill>
                <a:latin typeface="Arial"/>
              </a:rPr>
              <a:t>• для каждого пользователя нужно предсказать склонность к секретному событию</a:t>
            </a:r>
          </a:p>
          <a:p>
            <a:r>
              <a:rPr sz="1500" b="0">
                <a:solidFill>
                  <a:srgbClr val="0B1F4D"/>
                </a:solidFill>
                <a:latin typeface="Arial"/>
              </a:rPr>
              <a:t>• на выходе нужен непрерывный score, а не жёсткий класс</a:t>
            </a:r>
          </a:p>
          <a:p>
            <a:r>
              <a:rPr sz="1500" b="0">
                <a:solidFill>
                  <a:srgbClr val="0B1F4D"/>
                </a:solidFill>
                <a:latin typeface="Arial"/>
              </a:rPr>
              <a:t>• задача решается как бинарная классификация с ранжированием объектов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1874519"/>
            <a:ext cx="4983480" cy="342900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lang="ru-RU" sz="1500" b="1" dirty="0">
                <a:solidFill>
                  <a:srgbClr val="0B1F4D"/>
                </a:solidFill>
                <a:latin typeface="Arial"/>
              </a:rPr>
              <a:t>Особенности данных</a:t>
            </a:r>
            <a:endParaRPr sz="1500" b="1" dirty="0">
              <a:solidFill>
                <a:srgbClr val="0B1F4D"/>
              </a:solidFill>
              <a:latin typeface="Arial"/>
            </a:endParaRPr>
          </a:p>
          <a:p>
            <a:endParaRPr sz="1500" b="1" dirty="0">
              <a:solidFill>
                <a:srgbClr val="0B1F4D"/>
              </a:solidFill>
              <a:latin typeface="Arial"/>
            </a:endParaRPr>
          </a:p>
          <a:p>
            <a:r>
              <a:rPr sz="150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признаки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анонимизированы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семантики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колонок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нет</a:t>
            </a:r>
            <a:endParaRPr sz="1500" b="0" dirty="0">
              <a:solidFill>
                <a:srgbClr val="0B1F4D"/>
              </a:solidFill>
              <a:latin typeface="Arial"/>
            </a:endParaRPr>
          </a:p>
          <a:p>
            <a:r>
              <a:rPr sz="150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положительный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класс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редкий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: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около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1.35%</a:t>
            </a:r>
          </a:p>
          <a:p>
            <a:r>
              <a:rPr sz="150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одиночные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признаки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слабые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основной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сигнал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проявляется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в</a:t>
            </a:r>
            <a:r>
              <a:rPr sz="15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1F4D"/>
                </a:solidFill>
                <a:latin typeface="Arial"/>
              </a:rPr>
              <a:t>комбинациях</a:t>
            </a:r>
            <a:endParaRPr sz="1500" b="0" dirty="0">
              <a:solidFill>
                <a:srgbClr val="0B1F4D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/>
        </p:nvSpPr>
        <p:spPr>
          <a:xfrm>
            <a:off x="1130989" y="522616"/>
            <a:ext cx="1430655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Школа информатики, физики и технологий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500070" y="1230871"/>
            <a:ext cx="8567729" cy="47448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B1F4D"/>
                </a:solidFill>
                <a:latin typeface="Arial"/>
              </a:rPr>
              <a:t>Данные и метрика</a:t>
            </a:r>
            <a:endParaRPr sz="3000" b="1">
              <a:solidFill>
                <a:srgbClr val="0B1F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6247204" y="529421"/>
            <a:ext cx="2591995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Фанта с хлебом</a:t>
            </a:r>
            <a:endParaRPr lang="ru-RU" sz="13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3492100" y="458537"/>
            <a:ext cx="2527700" cy="74892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F2C68"/>
                </a:solidFill>
                <a:latin typeface="Trebuchet MS"/>
              </a:rPr>
              <a:t>VK Predict CMC Hackathon</a:t>
            </a:r>
            <a:endParaRPr/>
          </a:p>
        </p:txBody>
      </p:sp>
      <p:sp>
        <p:nvSpPr>
          <p:cNvPr id="73" name="Google Shape;73;p3" descr="$PPTXTitle"/>
          <p:cNvSpPr txBox="1">
            <a:spLocks noGrp="1"/>
          </p:cNvSpPr>
          <p:nvPr>
            <p:ph type="title"/>
          </p:nvPr>
        </p:nvSpPr>
        <p:spPr>
          <a:xfrm>
            <a:off x="10591800" y="529421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0F2C68"/>
                </a:solidFill>
                <a:latin typeface="Calibri"/>
              </a:rPr>
              <a:t>3/15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94360" y="1828800"/>
            <a:ext cx="1874519" cy="77724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2300" b="1">
                <a:solidFill>
                  <a:srgbClr val="0B1F4D"/>
                </a:solidFill>
                <a:latin typeface="Arial"/>
              </a:rPr>
              <a:t>247 972</a:t>
            </a:r>
          </a:p>
          <a:p>
            <a:pPr algn="ctr"/>
            <a:r>
              <a:rPr sz="1000">
                <a:solidFill>
                  <a:srgbClr val="0B1F4D"/>
                </a:solidFill>
                <a:latin typeface="Arial"/>
              </a:rPr>
              <a:t>строк в train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34640" y="1828800"/>
            <a:ext cx="1874519" cy="77724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2300" b="1">
                <a:solidFill>
                  <a:srgbClr val="0B1F4D"/>
                </a:solidFill>
                <a:latin typeface="Arial"/>
              </a:rPr>
              <a:t>106 274</a:t>
            </a:r>
          </a:p>
          <a:p>
            <a:pPr algn="ctr"/>
            <a:r>
              <a:rPr sz="1000">
                <a:solidFill>
                  <a:srgbClr val="0B1F4D"/>
                </a:solidFill>
                <a:latin typeface="Arial"/>
              </a:rPr>
              <a:t>строк в test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74920" y="1828800"/>
            <a:ext cx="1874519" cy="77724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2300" b="1">
                <a:solidFill>
                  <a:srgbClr val="0B1F4D"/>
                </a:solidFill>
                <a:latin typeface="Arial"/>
              </a:rPr>
              <a:t>1367</a:t>
            </a:r>
          </a:p>
          <a:p>
            <a:pPr algn="ctr"/>
            <a:r>
              <a:rPr sz="1000">
                <a:solidFill>
                  <a:srgbClr val="0B1F4D"/>
                </a:solidFill>
                <a:latin typeface="Arial"/>
              </a:rPr>
              <a:t>признаков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00" y="1828800"/>
            <a:ext cx="1874519" cy="77724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2300" b="1">
                <a:solidFill>
                  <a:srgbClr val="0B1F4D"/>
                </a:solidFill>
                <a:latin typeface="Arial"/>
              </a:rPr>
              <a:t>1.35%</a:t>
            </a:r>
          </a:p>
          <a:p>
            <a:pPr algn="ctr"/>
            <a:r>
              <a:rPr sz="1000">
                <a:solidFill>
                  <a:srgbClr val="0B1F4D"/>
                </a:solidFill>
                <a:latin typeface="Arial"/>
              </a:rPr>
              <a:t>класс 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55480" y="1828800"/>
            <a:ext cx="1874519" cy="77724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2300" b="1">
                <a:solidFill>
                  <a:srgbClr val="0B1F4D"/>
                </a:solidFill>
                <a:latin typeface="Arial"/>
              </a:rPr>
              <a:t>ROC-AUC</a:t>
            </a:r>
          </a:p>
          <a:p>
            <a:pPr algn="ctr"/>
            <a:r>
              <a:rPr sz="1000">
                <a:solidFill>
                  <a:srgbClr val="0B1F4D"/>
                </a:solidFill>
                <a:latin typeface="Arial"/>
              </a:rPr>
              <a:t>метрика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7240" y="3017520"/>
            <a:ext cx="10332720" cy="196596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500" b="1">
                <a:solidFill>
                  <a:srgbClr val="0B1F4D"/>
                </a:solidFill>
                <a:latin typeface="Arial"/>
              </a:rPr>
              <a:t>Как интерпретировали задачу</a:t>
            </a:r>
          </a:p>
          <a:p>
            <a:endParaRPr sz="1500" b="1">
              <a:solidFill>
                <a:srgbClr val="0B1F4D"/>
              </a:solidFill>
              <a:latin typeface="Arial"/>
            </a:endParaRPr>
          </a:p>
          <a:p>
            <a:r>
              <a:rPr sz="1500" b="0">
                <a:solidFill>
                  <a:srgbClr val="0B1F4D"/>
                </a:solidFill>
                <a:latin typeface="Arial"/>
              </a:rPr>
              <a:t>Метрика ROC-AUC оценивает качество ранжирования: насколько выше модель ставит объекты положительного класса. Поэтому в пайплайне мы оптимизировали не порог, а устойчивость вероятностных / rank-предсказаний.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/>
          <p:nvPr/>
        </p:nvSpPr>
        <p:spPr>
          <a:xfrm>
            <a:off x="1130989" y="522616"/>
            <a:ext cx="1430655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Школа информатики, физики и технологий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1" name="Google Shape;81;p4"/>
          <p:cNvSpPr txBox="1"/>
          <p:nvPr/>
        </p:nvSpPr>
        <p:spPr>
          <a:xfrm>
            <a:off x="500071" y="1230871"/>
            <a:ext cx="6465750" cy="47448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B1F4D"/>
                </a:solidFill>
                <a:latin typeface="Arial"/>
              </a:rPr>
              <a:t>EDA: базовая диагностика</a:t>
            </a:r>
            <a:endParaRPr sz="3000" b="1">
              <a:solidFill>
                <a:srgbClr val="0B1F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6247204" y="529421"/>
            <a:ext cx="2591995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Фанта с хлебом</a:t>
            </a:r>
            <a:endParaRPr lang="ru-RU" sz="13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3492100" y="458537"/>
            <a:ext cx="2527700" cy="74892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F2C68"/>
                </a:solidFill>
                <a:latin typeface="Trebuchet MS"/>
              </a:rPr>
              <a:t>VK Predict CMC Hackathon</a:t>
            </a:r>
            <a:endParaRPr/>
          </a:p>
        </p:txBody>
      </p:sp>
      <p:sp>
        <p:nvSpPr>
          <p:cNvPr id="84" name="Google Shape;84;p4" descr="$PPTXTitle"/>
          <p:cNvSpPr txBox="1">
            <a:spLocks noGrp="1"/>
          </p:cNvSpPr>
          <p:nvPr>
            <p:ph type="title"/>
          </p:nvPr>
        </p:nvSpPr>
        <p:spPr>
          <a:xfrm>
            <a:off x="10591800" y="635860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0F2C68"/>
                </a:solidFill>
                <a:latin typeface="Calibri"/>
              </a:rPr>
              <a:t>4/15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640080" y="1737360"/>
            <a:ext cx="5349240" cy="416052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450" b="1" dirty="0" err="1">
                <a:solidFill>
                  <a:srgbClr val="0B1F4D"/>
                </a:solidFill>
                <a:latin typeface="Arial"/>
              </a:rPr>
              <a:t>Что</a:t>
            </a:r>
            <a:r>
              <a:rPr sz="145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0B1F4D"/>
                </a:solidFill>
                <a:latin typeface="Arial"/>
              </a:rPr>
              <a:t>проверял</a:t>
            </a:r>
            <a:r>
              <a:rPr lang="ru-RU" sz="1450" b="1" dirty="0">
                <a:solidFill>
                  <a:srgbClr val="0B1F4D"/>
                </a:solidFill>
                <a:latin typeface="Arial"/>
              </a:rPr>
              <a:t>и</a:t>
            </a:r>
            <a:endParaRPr sz="1450" b="1" dirty="0">
              <a:solidFill>
                <a:srgbClr val="0B1F4D"/>
              </a:solidFill>
              <a:latin typeface="Arial"/>
            </a:endParaRPr>
          </a:p>
          <a:p>
            <a:endParaRPr sz="1450" b="1" dirty="0">
              <a:solidFill>
                <a:srgbClr val="0B1F4D"/>
              </a:solidFill>
              <a:latin typeface="Arial"/>
            </a:endParaRPr>
          </a:p>
          <a:p>
            <a:r>
              <a:rPr sz="145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размерности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train/test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и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баланс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таргета</a:t>
            </a:r>
            <a:endParaRPr sz="1450" b="0" dirty="0">
              <a:solidFill>
                <a:srgbClr val="0B1F4D"/>
              </a:solidFill>
              <a:latin typeface="Arial"/>
            </a:endParaRPr>
          </a:p>
          <a:p>
            <a:r>
              <a:rPr sz="145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наличие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пропусков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и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типы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данных</a:t>
            </a:r>
            <a:endParaRPr sz="1450" b="0" dirty="0">
              <a:solidFill>
                <a:srgbClr val="0B1F4D"/>
              </a:solidFill>
              <a:latin typeface="Arial"/>
            </a:endParaRPr>
          </a:p>
          <a:p>
            <a:r>
              <a:rPr sz="145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квазиконстантные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и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слабые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признаки</a:t>
            </a:r>
            <a:endParaRPr sz="1450" b="0" dirty="0">
              <a:solidFill>
                <a:srgbClr val="0B1F4D"/>
              </a:solidFill>
              <a:latin typeface="Arial"/>
            </a:endParaRPr>
          </a:p>
          <a:p>
            <a:r>
              <a:rPr sz="145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корреляции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и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признаки-близнецы</a:t>
            </a:r>
            <a:endParaRPr sz="1450" b="0" dirty="0">
              <a:solidFill>
                <a:srgbClr val="0B1F4D"/>
              </a:solidFill>
              <a:latin typeface="Arial"/>
            </a:endParaRPr>
          </a:p>
          <a:p>
            <a:r>
              <a:rPr sz="145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совпадающие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строки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train/test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как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возможную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утечку</a:t>
            </a:r>
            <a:endParaRPr sz="1450" b="0" dirty="0">
              <a:solidFill>
                <a:srgbClr val="0B1F4D"/>
              </a:solidFill>
              <a:latin typeface="Arial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263640" y="1737360"/>
            <a:ext cx="5074920" cy="416052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450" b="1" dirty="0" err="1">
                <a:solidFill>
                  <a:srgbClr val="0B1F4D"/>
                </a:solidFill>
                <a:latin typeface="Arial"/>
              </a:rPr>
              <a:t>Главные</a:t>
            </a:r>
            <a:r>
              <a:rPr sz="145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0B1F4D"/>
                </a:solidFill>
                <a:latin typeface="Arial"/>
              </a:rPr>
              <a:t>факты</a:t>
            </a:r>
            <a:endParaRPr sz="1450" b="1" dirty="0">
              <a:solidFill>
                <a:srgbClr val="0B1F4D"/>
              </a:solidFill>
              <a:latin typeface="Arial"/>
            </a:endParaRPr>
          </a:p>
          <a:p>
            <a:endParaRPr sz="1450" b="1" dirty="0">
              <a:solidFill>
                <a:srgbClr val="0B1F4D"/>
              </a:solidFill>
              <a:latin typeface="Arial"/>
            </a:endParaRPr>
          </a:p>
          <a:p>
            <a:r>
              <a:rPr sz="145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явных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NaN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нет</a:t>
            </a:r>
            <a:endParaRPr sz="1450" b="0" dirty="0">
              <a:solidFill>
                <a:srgbClr val="0B1F4D"/>
              </a:solidFill>
              <a:latin typeface="Arial"/>
            </a:endParaRPr>
          </a:p>
          <a:p>
            <a:r>
              <a:rPr sz="145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удалили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7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мусорных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квазиконстантных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признаков</a:t>
            </a:r>
            <a:endParaRPr sz="1450" b="0" dirty="0">
              <a:solidFill>
                <a:srgbClr val="0B1F4D"/>
              </a:solidFill>
              <a:latin typeface="Arial"/>
            </a:endParaRPr>
          </a:p>
          <a:p>
            <a:r>
              <a:rPr sz="145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нашли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41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сильно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похожий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признак</a:t>
            </a:r>
            <a:endParaRPr sz="1450" b="0" dirty="0">
              <a:solidFill>
                <a:srgbClr val="0B1F4D"/>
              </a:solidFill>
              <a:latin typeface="Arial"/>
            </a:endParaRPr>
          </a:p>
          <a:p>
            <a:r>
              <a:rPr sz="1450" b="0" dirty="0">
                <a:solidFill>
                  <a:srgbClr val="0B1F4D"/>
                </a:solidFill>
                <a:latin typeface="Arial"/>
              </a:rPr>
              <a:t>•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есть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совпадения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строк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между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train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и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test,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но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это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не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заменяет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полноценное</a:t>
            </a:r>
            <a:r>
              <a:rPr sz="145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0B1F4D"/>
                </a:solidFill>
                <a:latin typeface="Arial"/>
              </a:rPr>
              <a:t>моделирование</a:t>
            </a:r>
            <a:endParaRPr sz="1450" b="0" dirty="0">
              <a:solidFill>
                <a:srgbClr val="0B1F4D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/>
          <p:nvPr/>
        </p:nvSpPr>
        <p:spPr>
          <a:xfrm>
            <a:off x="1130989" y="522616"/>
            <a:ext cx="1430655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Школа информатики, физики и технологий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500070" y="1230871"/>
            <a:ext cx="9253529" cy="47448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B1F4D"/>
                </a:solidFill>
                <a:latin typeface="Arial"/>
              </a:rPr>
              <a:t>EDA: структура признаков</a:t>
            </a:r>
            <a:endParaRPr sz="3000" b="1">
              <a:solidFill>
                <a:srgbClr val="0B1F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6247204" y="529421"/>
            <a:ext cx="2591995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Фанта с хлебом</a:t>
            </a:r>
            <a:endParaRPr lang="ru-RU" sz="13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3492100" y="458537"/>
            <a:ext cx="2527700" cy="74892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F2C68"/>
                </a:solidFill>
                <a:latin typeface="Trebuchet MS"/>
              </a:rPr>
              <a:t>VK Predict CMC Hackathon</a:t>
            </a:r>
            <a:endParaRPr/>
          </a:p>
        </p:txBody>
      </p:sp>
      <p:sp>
        <p:nvSpPr>
          <p:cNvPr id="94" name="Google Shape;94;p5" descr="$PPTXTitle"/>
          <p:cNvSpPr txBox="1">
            <a:spLocks noGrp="1"/>
          </p:cNvSpPr>
          <p:nvPr>
            <p:ph type="title"/>
          </p:nvPr>
        </p:nvSpPr>
        <p:spPr>
          <a:xfrm>
            <a:off x="10591800" y="529421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0F2C68"/>
                </a:solidFill>
                <a:latin typeface="Calibri"/>
              </a:rPr>
              <a:t>5/15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640080" y="1828800"/>
            <a:ext cx="5257800" cy="356616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500" b="1">
                <a:solidFill>
                  <a:srgbClr val="0B1F4D"/>
                </a:solidFill>
                <a:latin typeface="Arial"/>
              </a:rPr>
              <a:t>Что видно по сильным признакам</a:t>
            </a:r>
          </a:p>
          <a:p>
            <a:endParaRPr sz="1500" b="1">
              <a:solidFill>
                <a:srgbClr val="0B1F4D"/>
              </a:solidFill>
              <a:latin typeface="Arial"/>
            </a:endParaRPr>
          </a:p>
          <a:p>
            <a:r>
              <a:rPr sz="1500" b="0">
                <a:solidFill>
                  <a:srgbClr val="0B1F4D"/>
                </a:solidFill>
                <a:latin typeface="Arial"/>
              </a:rPr>
              <a:t>• часть признаков похожа на дискретные счётчики</a:t>
            </a:r>
          </a:p>
          <a:p>
            <a:r>
              <a:rPr sz="1500" b="0">
                <a:solidFill>
                  <a:srgbClr val="0B1F4D"/>
                </a:solidFill>
                <a:latin typeface="Arial"/>
              </a:rPr>
              <a:t>• часть — плотные непрерывные метрики</a:t>
            </a:r>
          </a:p>
          <a:p>
            <a:r>
              <a:rPr sz="1500" b="0">
                <a:solidFill>
                  <a:srgbClr val="0B1F4D"/>
                </a:solidFill>
                <a:latin typeface="Arial"/>
              </a:rPr>
              <a:t>• у многих признаков высокая доля нулей</a:t>
            </a:r>
          </a:p>
          <a:p>
            <a:r>
              <a:rPr sz="1500" b="0">
                <a:solidFill>
                  <a:srgbClr val="0B1F4D"/>
                </a:solidFill>
                <a:latin typeface="Arial"/>
              </a:rPr>
              <a:t>• у сильных фичей заметны тяжёлые хвосты и выбросы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172200" y="1828800"/>
            <a:ext cx="5166360" cy="356616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500" b="1">
                <a:solidFill>
                  <a:srgbClr val="0B1F4D"/>
                </a:solidFill>
                <a:latin typeface="Arial"/>
              </a:rPr>
              <a:t>Вывод для моделирования</a:t>
            </a:r>
          </a:p>
          <a:p>
            <a:endParaRPr sz="1500" b="1">
              <a:solidFill>
                <a:srgbClr val="0B1F4D"/>
              </a:solidFill>
              <a:latin typeface="Arial"/>
            </a:endParaRPr>
          </a:p>
          <a:p>
            <a:r>
              <a:rPr sz="1500" b="0">
                <a:solidFill>
                  <a:srgbClr val="0B1F4D"/>
                </a:solidFill>
                <a:latin typeface="Arial"/>
              </a:rPr>
              <a:t>Простого корреляционного отбора недостаточно: важен нелинейный сигнал. Поэтому дальше делали несколько feature spaces и проверяли их через валидацию, а не выбирали один набор признаков «на глаз».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 txBox="1"/>
          <p:nvPr/>
        </p:nvSpPr>
        <p:spPr>
          <a:xfrm>
            <a:off x="1130989" y="522616"/>
            <a:ext cx="1430655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Школа информатики, физики и технологий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500071" y="1230871"/>
            <a:ext cx="6465750" cy="47448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B1F4D"/>
                </a:solidFill>
                <a:latin typeface="Arial"/>
              </a:rPr>
              <a:t>Feature engineering</a:t>
            </a:r>
            <a:endParaRPr sz="3000" b="1">
              <a:solidFill>
                <a:srgbClr val="0B1F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 txBox="1"/>
          <p:nvPr/>
        </p:nvSpPr>
        <p:spPr>
          <a:xfrm>
            <a:off x="6247204" y="529421"/>
            <a:ext cx="2591995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Фанта с хлебом</a:t>
            </a:r>
            <a:endParaRPr lang="ru-RU" sz="13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6" name="Google Shape;106;p6"/>
          <p:cNvSpPr txBox="1"/>
          <p:nvPr/>
        </p:nvSpPr>
        <p:spPr>
          <a:xfrm>
            <a:off x="3492100" y="458537"/>
            <a:ext cx="2527700" cy="74892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F2C68"/>
                </a:solidFill>
                <a:latin typeface="Trebuchet MS"/>
              </a:rPr>
              <a:t>VK Predict CMC Hackathon</a:t>
            </a:r>
            <a:endParaRPr/>
          </a:p>
        </p:txBody>
      </p:sp>
      <p:sp>
        <p:nvSpPr>
          <p:cNvPr id="107" name="Google Shape;107;p6" descr="$PPTXTitle"/>
          <p:cNvSpPr txBox="1">
            <a:spLocks noGrp="1"/>
          </p:cNvSpPr>
          <p:nvPr>
            <p:ph type="title"/>
          </p:nvPr>
        </p:nvSpPr>
        <p:spPr>
          <a:xfrm>
            <a:off x="10515600" y="529421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0F2C68"/>
                </a:solidFill>
                <a:latin typeface="Calibri"/>
              </a:rPr>
              <a:t>6/15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640080" y="1783080"/>
            <a:ext cx="5349240" cy="365760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450" b="1">
                <a:solidFill>
                  <a:srgbClr val="0B1F4D"/>
                </a:solidFill>
                <a:latin typeface="Arial"/>
              </a:rPr>
              <a:t>Что добавляли</a:t>
            </a:r>
          </a:p>
          <a:p>
            <a:endParaRPr sz="1450" b="1">
              <a:solidFill>
                <a:srgbClr val="0B1F4D"/>
              </a:solidFill>
              <a:latin typeface="Arial"/>
            </a:endParaRPr>
          </a:p>
          <a:p>
            <a:r>
              <a:rPr sz="1450" b="0">
                <a:solidFill>
                  <a:srgbClr val="0B1F4D"/>
                </a:solidFill>
                <a:latin typeface="Arial"/>
              </a:rPr>
              <a:t>• frequency encoding для частот значений</a:t>
            </a:r>
          </a:p>
          <a:p>
            <a:r>
              <a:rPr sz="1450" b="0">
                <a:solidFill>
                  <a:srgbClr val="0B1F4D"/>
                </a:solidFill>
                <a:latin typeface="Arial"/>
              </a:rPr>
              <a:t>• rank-преобразования для устойчивого порядка</a:t>
            </a:r>
          </a:p>
          <a:p>
            <a:r>
              <a:rPr sz="1450" b="0">
                <a:solidFill>
                  <a:srgbClr val="0B1F4D"/>
                </a:solidFill>
                <a:latin typeface="Arial"/>
              </a:rPr>
              <a:t>• OOF target encoding без утечки</a:t>
            </a:r>
          </a:p>
          <a:p>
            <a:r>
              <a:rPr sz="1450" b="0">
                <a:solidFill>
                  <a:srgbClr val="0B1F4D"/>
                </a:solidFill>
                <a:latin typeface="Arial"/>
              </a:rPr>
              <a:t>• PCA / SVD и компактные stack-признаки</a:t>
            </a:r>
          </a:p>
          <a:p>
            <a:r>
              <a:rPr sz="1450" b="0">
                <a:solidFill>
                  <a:srgbClr val="0B1F4D"/>
                </a:solidFill>
                <a:latin typeface="Arial"/>
              </a:rPr>
              <a:t>• meta-features из OOF-предсказаний базовых моделей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63640" y="1783080"/>
            <a:ext cx="5074920" cy="365760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450" b="1">
                <a:solidFill>
                  <a:srgbClr val="0B1F4D"/>
                </a:solidFill>
                <a:latin typeface="Arial"/>
              </a:rPr>
              <a:t>Как отбирали</a:t>
            </a:r>
          </a:p>
          <a:p>
            <a:endParaRPr sz="1450" b="1">
              <a:solidFill>
                <a:srgbClr val="0B1F4D"/>
              </a:solidFill>
              <a:latin typeface="Arial"/>
            </a:endParaRPr>
          </a:p>
          <a:p>
            <a:r>
              <a:rPr sz="1450" b="0">
                <a:solidFill>
                  <a:srgbClr val="0B1F4D"/>
                </a:solidFill>
                <a:latin typeface="Arial"/>
              </a:rPr>
              <a:t>• top300 / top500 по важности и корреляциям</a:t>
            </a:r>
          </a:p>
          <a:p>
            <a:r>
              <a:rPr sz="1450" b="0">
                <a:solidFill>
                  <a:srgbClr val="0B1F4D"/>
                </a:solidFill>
                <a:latin typeface="Arial"/>
              </a:rPr>
              <a:t>• clean-наборы без квазиконстант и близнецов</a:t>
            </a:r>
          </a:p>
          <a:p>
            <a:r>
              <a:rPr sz="1450" b="0">
                <a:solidFill>
                  <a:srgbClr val="0B1F4D"/>
                </a:solidFill>
                <a:latin typeface="Arial"/>
              </a:rPr>
              <a:t>• stable-наборы с учётом train/test drift</a:t>
            </a:r>
          </a:p>
          <a:p>
            <a:r>
              <a:rPr sz="1450" b="0">
                <a:solidFill>
                  <a:srgbClr val="0B1F4D"/>
                </a:solidFill>
                <a:latin typeface="Arial"/>
              </a:rPr>
              <a:t>• несколько наборов оставляли для ансамбля, даже если один из них не был лучшим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/>
        </p:nvSpPr>
        <p:spPr>
          <a:xfrm>
            <a:off x="1130989" y="522616"/>
            <a:ext cx="1430655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Школа информатики, физики и технологий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500071" y="1230871"/>
            <a:ext cx="6465750" cy="47448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B1F4D"/>
                </a:solidFill>
                <a:latin typeface="Arial"/>
              </a:rPr>
              <a:t>Валидационная схема</a:t>
            </a:r>
            <a:endParaRPr sz="3000" b="1">
              <a:solidFill>
                <a:srgbClr val="0B1F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6247204" y="529421"/>
            <a:ext cx="2591995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Фанта с хлебом</a:t>
            </a:r>
            <a:endParaRPr sz="13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3492100" y="458537"/>
            <a:ext cx="2527700" cy="74892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F2C68"/>
                </a:solidFill>
                <a:latin typeface="Trebuchet MS"/>
              </a:rPr>
              <a:t>VK Predict CMC Hackathon</a:t>
            </a:r>
            <a:endParaRPr/>
          </a:p>
        </p:txBody>
      </p:sp>
      <p:sp>
        <p:nvSpPr>
          <p:cNvPr id="117" name="Google Shape;117;p7" descr="$PPTXTitle"/>
          <p:cNvSpPr txBox="1">
            <a:spLocks noGrp="1"/>
          </p:cNvSpPr>
          <p:nvPr>
            <p:ph type="title"/>
          </p:nvPr>
        </p:nvSpPr>
        <p:spPr>
          <a:xfrm>
            <a:off x="10591800" y="522616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0F2C68"/>
                </a:solidFill>
                <a:latin typeface="Calibri"/>
              </a:rPr>
              <a:t>7/15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594360" y="1874519"/>
            <a:ext cx="1920240" cy="1783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450" b="1">
                <a:solidFill>
                  <a:srgbClr val="0B1F4D"/>
                </a:solidFill>
                <a:latin typeface="Arial"/>
              </a:rPr>
              <a:t>1. Split</a:t>
            </a:r>
          </a:p>
          <a:p>
            <a:r>
              <a:rPr sz="1100">
                <a:solidFill>
                  <a:srgbClr val="0B1F4D"/>
                </a:solidFill>
                <a:latin typeface="Arial"/>
              </a:rPr>
              <a:t>стратифицированные фолды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862072" y="1874519"/>
            <a:ext cx="1920240" cy="1783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450" b="1">
                <a:solidFill>
                  <a:srgbClr val="0B1F4D"/>
                </a:solidFill>
                <a:latin typeface="Arial"/>
              </a:rPr>
              <a:t>2. OOF</a:t>
            </a:r>
          </a:p>
          <a:p>
            <a:r>
              <a:rPr sz="1100">
                <a:solidFill>
                  <a:srgbClr val="0B1F4D"/>
                </a:solidFill>
                <a:latin typeface="Arial"/>
              </a:rPr>
              <a:t>предсказания вне обучающего фолда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129784" y="1874519"/>
            <a:ext cx="1920240" cy="1783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450" b="1">
                <a:solidFill>
                  <a:srgbClr val="0B1F4D"/>
                </a:solidFill>
                <a:latin typeface="Arial"/>
              </a:rPr>
              <a:t>3. Metric</a:t>
            </a:r>
          </a:p>
          <a:p>
            <a:r>
              <a:rPr sz="1100">
                <a:solidFill>
                  <a:srgbClr val="0B1F4D"/>
                </a:solidFill>
                <a:latin typeface="Arial"/>
              </a:rPr>
              <a:t>ROC-AUC на OOF / validation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397496" y="1874519"/>
            <a:ext cx="1920240" cy="1783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450" b="1">
                <a:solidFill>
                  <a:srgbClr val="0B1F4D"/>
                </a:solidFill>
                <a:latin typeface="Arial"/>
              </a:rPr>
              <a:t>4. Blend</a:t>
            </a:r>
          </a:p>
          <a:p>
            <a:r>
              <a:rPr sz="1100">
                <a:solidFill>
                  <a:srgbClr val="0B1F4D"/>
                </a:solidFill>
                <a:latin typeface="Arial"/>
              </a:rPr>
              <a:t>веса подбираются только по OOF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665208" y="1874519"/>
            <a:ext cx="1920240" cy="1783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450" b="1">
                <a:solidFill>
                  <a:srgbClr val="0B1F4D"/>
                </a:solidFill>
                <a:latin typeface="Arial"/>
              </a:rPr>
              <a:t>5. Submit</a:t>
            </a:r>
          </a:p>
          <a:p>
            <a:r>
              <a:rPr sz="1100">
                <a:solidFill>
                  <a:srgbClr val="0B1F4D"/>
                </a:solidFill>
                <a:latin typeface="Arial"/>
              </a:rPr>
              <a:t>private test как финальная проверка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77240" y="4160520"/>
            <a:ext cx="10149840" cy="96012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400" b="0">
                <a:solidFill>
                  <a:srgbClr val="0B1F4D"/>
                </a:solidFill>
                <a:latin typeface="Arial"/>
              </a:rPr>
              <a:t>Ансамбли обосновывали валидацией: если blend стабильно лучше одиночных моделей на OOF, его имеет смысл отправлять на leaderboard.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/>
        </p:nvSpPr>
        <p:spPr>
          <a:xfrm>
            <a:off x="1130989" y="522616"/>
            <a:ext cx="1430655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Школа информатики, физики и технологий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4" name="Google Shape;124;p8"/>
          <p:cNvSpPr txBox="1"/>
          <p:nvPr/>
        </p:nvSpPr>
        <p:spPr>
          <a:xfrm>
            <a:off x="500071" y="1230871"/>
            <a:ext cx="6465750" cy="47448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B1F4D"/>
                </a:solidFill>
                <a:latin typeface="Arial"/>
              </a:rPr>
              <a:t>Одиночные модели: что пробовали</a:t>
            </a:r>
            <a:endParaRPr sz="3000" b="1">
              <a:solidFill>
                <a:srgbClr val="0B1F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"/>
          <p:cNvSpPr txBox="1"/>
          <p:nvPr/>
        </p:nvSpPr>
        <p:spPr>
          <a:xfrm>
            <a:off x="6247204" y="529421"/>
            <a:ext cx="2591995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Фанта с хлебом</a:t>
            </a:r>
            <a:endParaRPr lang="ru-RU" sz="13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6" name="Google Shape;126;p8"/>
          <p:cNvSpPr txBox="1"/>
          <p:nvPr/>
        </p:nvSpPr>
        <p:spPr>
          <a:xfrm>
            <a:off x="3492100" y="458537"/>
            <a:ext cx="2527700" cy="74892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F2C68"/>
                </a:solidFill>
                <a:latin typeface="Trebuchet MS"/>
              </a:rPr>
              <a:t>VK Predict CMC Hackathon</a:t>
            </a:r>
            <a:endParaRPr/>
          </a:p>
        </p:txBody>
      </p:sp>
      <p:sp>
        <p:nvSpPr>
          <p:cNvPr id="127" name="Google Shape;127;p8" descr="$PPTXTitle"/>
          <p:cNvSpPr txBox="1">
            <a:spLocks noGrp="1"/>
          </p:cNvSpPr>
          <p:nvPr>
            <p:ph type="title"/>
          </p:nvPr>
        </p:nvSpPr>
        <p:spPr>
          <a:xfrm>
            <a:off x="10591800" y="532084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0F2C68"/>
                </a:solidFill>
                <a:latin typeface="Calibri"/>
              </a:rPr>
              <a:t>8/15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8" name="Table 127"/>
          <p:cNvGraphicFramePr>
            <a:graphicFrameLocks noGrp="1"/>
          </p:cNvGraphicFramePr>
          <p:nvPr/>
        </p:nvGraphicFramePr>
        <p:xfrm>
          <a:off x="685800" y="1664208"/>
          <a:ext cx="108813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9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763"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0B1F4D"/>
                          </a:solidFill>
                          <a:latin typeface="Arial"/>
                        </a:rPr>
                        <a:t>Модель</a:t>
                      </a:r>
                    </a:p>
                  </a:txBody>
                  <a:tcPr marL="54864" marR="54864" marT="27432" marB="27432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0B1F4D"/>
                          </a:solidFill>
                          <a:latin typeface="Arial"/>
                        </a:rPr>
                        <a:t>Что пробовали</a:t>
                      </a:r>
                    </a:p>
                  </a:txBody>
                  <a:tcPr marL="54864" marR="54864" marT="27432" marB="27432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0B1F4D"/>
                          </a:solidFill>
                          <a:latin typeface="Arial"/>
                        </a:rPr>
                        <a:t>Validation ROC-AUC</a:t>
                      </a:r>
                    </a:p>
                  </a:txBody>
                  <a:tcPr marL="54864" marR="54864" marT="27432" marB="27432">
                    <a:solidFill>
                      <a:srgbClr val="E8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0B1F4D"/>
                          </a:solidFill>
                          <a:latin typeface="Arial"/>
                        </a:rPr>
                        <a:t>FLAML AutoML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B1F4D"/>
                          </a:solidFill>
                          <a:latin typeface="Arial"/>
                        </a:rPr>
                        <a:t>быстрый baseline на clean/top features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B1F4D"/>
                          </a:solidFill>
                          <a:latin typeface="Arial"/>
                        </a:rPr>
                        <a:t>0.646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0B1F4D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B1F4D"/>
                          </a:solidFill>
                          <a:latin typeface="Arial"/>
                        </a:rPr>
                        <a:t>Optuna, class_weight, top features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 dirty="0">
                          <a:solidFill>
                            <a:srgbClr val="0B1F4D"/>
                          </a:solidFill>
                          <a:latin typeface="Arial"/>
                        </a:rPr>
                        <a:t>0.619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0B1F4D"/>
                          </a:solidFill>
                          <a:latin typeface="Arial"/>
                        </a:rPr>
                        <a:t>ExtraTrees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B1F4D"/>
                          </a:solidFill>
                          <a:latin typeface="Arial"/>
                        </a:rPr>
                        <a:t>деревья без бустинга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B1F4D"/>
                          </a:solidFill>
                          <a:latin typeface="Arial"/>
                        </a:rPr>
                        <a:t>0.604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0B1F4D"/>
                          </a:solidFill>
                          <a:latin typeface="Arial"/>
                        </a:rPr>
                        <a:t>TabM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B1F4D"/>
                          </a:solidFill>
                          <a:latin typeface="Arial"/>
                        </a:rPr>
                        <a:t>табличная нейросеть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B1F4D"/>
                          </a:solidFill>
                          <a:latin typeface="Arial"/>
                        </a:rPr>
                        <a:t>0.668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0B1F4D"/>
                          </a:solidFill>
                          <a:latin typeface="Arial"/>
                        </a:rPr>
                        <a:t>CNN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B1F4D"/>
                          </a:solidFill>
                          <a:latin typeface="Arial"/>
                        </a:rPr>
                        <a:t>1D-представление табличных признаков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B1F4D"/>
                          </a:solidFill>
                          <a:latin typeface="Arial"/>
                        </a:rPr>
                        <a:t>0.651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0B1F4D"/>
                          </a:solidFill>
                          <a:latin typeface="Arial"/>
                        </a:rPr>
                        <a:t>RNN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B1F4D"/>
                          </a:solidFill>
                          <a:latin typeface="Arial"/>
                        </a:rPr>
                        <a:t>последовательность признаков как вход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B1F4D"/>
                          </a:solidFill>
                          <a:latin typeface="Arial"/>
                        </a:rPr>
                        <a:t>0.632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0B1F4D"/>
                          </a:solidFill>
                          <a:latin typeface="Arial"/>
                        </a:rPr>
                        <a:t>LightGBM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B1F4D"/>
                          </a:solidFill>
                          <a:latin typeface="Arial"/>
                        </a:rPr>
                        <a:t>Optuna + feature spaces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 dirty="0">
                          <a:solidFill>
                            <a:srgbClr val="0B1F4D"/>
                          </a:solidFill>
                          <a:latin typeface="Arial"/>
                        </a:rPr>
                        <a:t>0.692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0B1F4D"/>
                          </a:solidFill>
                          <a:latin typeface="Arial"/>
                        </a:rPr>
                        <a:t>CatBoost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B1F4D"/>
                          </a:solidFill>
                          <a:latin typeface="Arial"/>
                        </a:rPr>
                        <a:t>Optuna + frequency/rank features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B1F4D"/>
                          </a:solidFill>
                          <a:latin typeface="Arial"/>
                        </a:rPr>
                        <a:t>0.694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7772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0B1F4D"/>
                          </a:solidFill>
                          <a:latin typeface="Arial"/>
                        </a:rPr>
                        <a:t>XGBoost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B1F4D"/>
                          </a:solidFill>
                          <a:latin typeface="Arial"/>
                        </a:rPr>
                        <a:t>регуляризованный boosting baseline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 dirty="0">
                          <a:solidFill>
                            <a:srgbClr val="0B1F4D"/>
                          </a:solidFill>
                          <a:latin typeface="Arial"/>
                        </a:rPr>
                        <a:t>0.689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/>
          <p:nvPr/>
        </p:nvSpPr>
        <p:spPr>
          <a:xfrm>
            <a:off x="1130989" y="522616"/>
            <a:ext cx="1430655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Школа информатики, физики и технологий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5" name="Google Shape;135;p9"/>
          <p:cNvSpPr txBox="1"/>
          <p:nvPr/>
        </p:nvSpPr>
        <p:spPr>
          <a:xfrm>
            <a:off x="500071" y="1230871"/>
            <a:ext cx="6465750" cy="47448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B1F4D"/>
                </a:solidFill>
                <a:latin typeface="Arial"/>
              </a:rPr>
              <a:t>Одиночные модели: лучшие результаты</a:t>
            </a:r>
            <a:endParaRPr sz="3000" b="1">
              <a:solidFill>
                <a:srgbClr val="0B1F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9"/>
          <p:cNvSpPr txBox="1"/>
          <p:nvPr/>
        </p:nvSpPr>
        <p:spPr>
          <a:xfrm>
            <a:off x="6247204" y="529421"/>
            <a:ext cx="2591995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Фанта с хлебом</a:t>
            </a:r>
            <a:endParaRPr lang="ru-RU" sz="13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7" name="Google Shape;137;p9"/>
          <p:cNvSpPr txBox="1"/>
          <p:nvPr/>
        </p:nvSpPr>
        <p:spPr>
          <a:xfrm>
            <a:off x="3492100" y="458537"/>
            <a:ext cx="2527700" cy="74892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F2C68"/>
                </a:solidFill>
                <a:latin typeface="Trebuchet MS"/>
              </a:rPr>
              <a:t>VK Predict CMC Hackathon</a:t>
            </a:r>
            <a:endParaRPr/>
          </a:p>
        </p:txBody>
      </p:sp>
      <p:sp>
        <p:nvSpPr>
          <p:cNvPr id="138" name="Google Shape;138;p9" descr="$PPTXTitle"/>
          <p:cNvSpPr txBox="1">
            <a:spLocks noGrp="1"/>
          </p:cNvSpPr>
          <p:nvPr>
            <p:ph type="title"/>
          </p:nvPr>
        </p:nvSpPr>
        <p:spPr>
          <a:xfrm>
            <a:off x="10591800" y="561960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0F2C68"/>
                </a:solidFill>
                <a:latin typeface="Calibri"/>
              </a:rPr>
              <a:t>9/15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685800" y="1700784"/>
          <a:ext cx="1088136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9045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0B1F4D"/>
                          </a:solidFill>
                          <a:latin typeface="Arial"/>
                        </a:rPr>
                        <a:t>Модель / feature space</a:t>
                      </a:r>
                    </a:p>
                  </a:txBody>
                  <a:tcPr marL="54864" marR="54864" marT="27432" marB="27432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0B1F4D"/>
                          </a:solidFill>
                          <a:latin typeface="Arial"/>
                        </a:rPr>
                        <a:t>Validation ROC-AUC</a:t>
                      </a:r>
                    </a:p>
                  </a:txBody>
                  <a:tcPr marL="54864" marR="54864" marT="27432" marB="27432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0B1F4D"/>
                          </a:solidFill>
                          <a:latin typeface="Arial"/>
                        </a:rPr>
                        <a:t>Private ROC-AUC</a:t>
                      </a:r>
                    </a:p>
                  </a:txBody>
                  <a:tcPr marL="54864" marR="54864" marT="27432" marB="27432">
                    <a:solidFill>
                      <a:srgbClr val="E8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045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0B1F4D"/>
                          </a:solidFill>
                          <a:latin typeface="Arial"/>
                        </a:rPr>
                        <a:t>catboost_freq_rank_top500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0B1F4D"/>
                          </a:solidFill>
                          <a:latin typeface="Arial"/>
                        </a:rPr>
                        <a:t>0.694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0B1F4D"/>
                          </a:solidFill>
                          <a:latin typeface="Arial"/>
                        </a:rPr>
                        <a:t>0.691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045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0B1F4D"/>
                          </a:solidFill>
                          <a:latin typeface="Arial"/>
                        </a:rPr>
                        <a:t>lgbm_optuna_top500_clean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0B1F4D"/>
                          </a:solidFill>
                          <a:latin typeface="Arial"/>
                        </a:rPr>
                        <a:t>0.692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0B1F4D"/>
                          </a:solidFill>
                          <a:latin typeface="Arial"/>
                        </a:rPr>
                        <a:t>0.689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045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0B1F4D"/>
                          </a:solidFill>
                          <a:latin typeface="Arial"/>
                        </a:rPr>
                        <a:t>xgboost_regularized_top300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0B1F4D"/>
                          </a:solidFill>
                          <a:latin typeface="Arial"/>
                        </a:rPr>
                        <a:t>0.689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0B1F4D"/>
                          </a:solidFill>
                          <a:latin typeface="Arial"/>
                        </a:rPr>
                        <a:t>0.686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045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0B1F4D"/>
                          </a:solidFill>
                          <a:latin typeface="Arial"/>
                        </a:rPr>
                        <a:t>catboost_compact_pca_svd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0B1F4D"/>
                          </a:solidFill>
                          <a:latin typeface="Arial"/>
                        </a:rPr>
                        <a:t>0.688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0B1F4D"/>
                          </a:solidFill>
                          <a:latin typeface="Arial"/>
                        </a:rPr>
                        <a:t>0.684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045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0B1F4D"/>
                          </a:solidFill>
                          <a:latin typeface="Arial"/>
                        </a:rPr>
                        <a:t>lgbm_goss_drift_aware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0B1F4D"/>
                          </a:solidFill>
                          <a:latin typeface="Arial"/>
                        </a:rPr>
                        <a:t>0.687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0B1F4D"/>
                          </a:solidFill>
                          <a:latin typeface="Arial"/>
                        </a:rPr>
                        <a:t>0.683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050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0B1F4D"/>
                          </a:solidFill>
                          <a:latin typeface="Arial"/>
                        </a:rPr>
                        <a:t>tabm_compact_features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0B1F4D"/>
                          </a:solidFill>
                          <a:latin typeface="Arial"/>
                        </a:rPr>
                        <a:t>0.668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0B1F4D"/>
                          </a:solidFill>
                          <a:latin typeface="Arial"/>
                        </a:rPr>
                        <a:t>0.660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 txBox="1"/>
          <p:nvPr/>
        </p:nvSpPr>
        <p:spPr>
          <a:xfrm>
            <a:off x="1130989" y="522616"/>
            <a:ext cx="1430655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Школа информатики, физики и технологий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5" name="Google Shape;145;p10"/>
          <p:cNvSpPr txBox="1"/>
          <p:nvPr/>
        </p:nvSpPr>
        <p:spPr>
          <a:xfrm>
            <a:off x="837372" y="1215225"/>
            <a:ext cx="9144828" cy="47448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B1F4D"/>
                </a:solidFill>
                <a:latin typeface="Arial"/>
              </a:rPr>
              <a:t>Бленды: зачем и как</a:t>
            </a:r>
            <a:endParaRPr sz="3000" b="1">
              <a:solidFill>
                <a:srgbClr val="0B1F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0"/>
          <p:cNvSpPr txBox="1"/>
          <p:nvPr/>
        </p:nvSpPr>
        <p:spPr>
          <a:xfrm>
            <a:off x="6247203" y="529421"/>
            <a:ext cx="2591997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Фанта с хлебом</a:t>
            </a:r>
            <a:endParaRPr lang="ru-RU" sz="13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8" name="Google Shape;148;p10"/>
          <p:cNvSpPr txBox="1"/>
          <p:nvPr/>
        </p:nvSpPr>
        <p:spPr>
          <a:xfrm>
            <a:off x="3492100" y="458537"/>
            <a:ext cx="2399665" cy="70532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F2C68"/>
                </a:solidFill>
                <a:latin typeface="Trebuchet MS"/>
              </a:rPr>
              <a:t>VK Predict CMC Hackathon</a:t>
            </a:r>
            <a:endParaRPr/>
          </a:p>
        </p:txBody>
      </p:sp>
      <p:sp>
        <p:nvSpPr>
          <p:cNvPr id="149" name="Google Shape;149;p10" descr="$PPTXTitle"/>
          <p:cNvSpPr txBox="1">
            <a:spLocks noGrp="1"/>
          </p:cNvSpPr>
          <p:nvPr>
            <p:ph type="title"/>
          </p:nvPr>
        </p:nvSpPr>
        <p:spPr>
          <a:xfrm>
            <a:off x="10609272" y="529421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0F2C68"/>
                </a:solidFill>
                <a:latin typeface="Calibri"/>
              </a:rPr>
              <a:t>10/15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731520" y="1828800"/>
            <a:ext cx="5120640" cy="329184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500" b="1">
                <a:solidFill>
                  <a:srgbClr val="0B1F4D"/>
                </a:solidFill>
                <a:latin typeface="Arial"/>
              </a:rPr>
              <a:t>Идея</a:t>
            </a:r>
          </a:p>
          <a:p>
            <a:endParaRPr sz="1500" b="1">
              <a:solidFill>
                <a:srgbClr val="0B1F4D"/>
              </a:solidFill>
              <a:latin typeface="Arial"/>
            </a:endParaRPr>
          </a:p>
          <a:p>
            <a:r>
              <a:rPr sz="1500" b="0">
                <a:solidFill>
                  <a:srgbClr val="0B1F4D"/>
                </a:solidFill>
                <a:latin typeface="Arial"/>
              </a:rPr>
              <a:t>Одиночные модели ошибаются по-разному: CatBoost, LightGBM, XGBoost и линейные модели ловят разные части сигнала. Поэтому мы смешивали их probability- и rank-предсказания.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172200" y="1828800"/>
            <a:ext cx="5029200" cy="329184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500" b="1">
                <a:solidFill>
                  <a:srgbClr val="0B1F4D"/>
                </a:solidFill>
                <a:latin typeface="Arial"/>
              </a:rPr>
              <a:t>Как подбирали веса</a:t>
            </a:r>
          </a:p>
          <a:p>
            <a:endParaRPr sz="1500" b="1">
              <a:solidFill>
                <a:srgbClr val="0B1F4D"/>
              </a:solidFill>
              <a:latin typeface="Arial"/>
            </a:endParaRPr>
          </a:p>
          <a:p>
            <a:r>
              <a:rPr sz="1500" b="0">
                <a:solidFill>
                  <a:srgbClr val="0B1F4D"/>
                </a:solidFill>
                <a:latin typeface="Arial"/>
              </a:rPr>
              <a:t>• equal blend как baseline</a:t>
            </a:r>
          </a:p>
          <a:p>
            <a:r>
              <a:rPr sz="1500" b="0">
                <a:solidFill>
                  <a:srgbClr val="0B1F4D"/>
                </a:solidFill>
                <a:latin typeface="Arial"/>
              </a:rPr>
              <a:t>• AUC-weighted blend</a:t>
            </a:r>
          </a:p>
          <a:p>
            <a:r>
              <a:rPr sz="1500" b="0">
                <a:solidFill>
                  <a:srgbClr val="0B1F4D"/>
                </a:solidFill>
                <a:latin typeface="Arial"/>
              </a:rPr>
              <a:t>• ручные веса</a:t>
            </a:r>
          </a:p>
          <a:p>
            <a:r>
              <a:rPr sz="1500" b="0">
                <a:solidFill>
                  <a:srgbClr val="0B1F4D"/>
                </a:solidFill>
                <a:latin typeface="Arial"/>
              </a:rPr>
              <a:t>• random search по OOF</a:t>
            </a:r>
          </a:p>
          <a:p>
            <a:r>
              <a:rPr sz="1500" b="0">
                <a:solidFill>
                  <a:srgbClr val="0B1F4D"/>
                </a:solidFill>
                <a:latin typeface="Arial"/>
              </a:rPr>
              <a:t>• logistic stacker на OOF-прогнозах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 txBox="1"/>
          <p:nvPr/>
        </p:nvSpPr>
        <p:spPr>
          <a:xfrm>
            <a:off x="1130989" y="522616"/>
            <a:ext cx="1430655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Школа информатики, физики и технологий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9" name="Google Shape;159;p11"/>
          <p:cNvSpPr txBox="1"/>
          <p:nvPr/>
        </p:nvSpPr>
        <p:spPr>
          <a:xfrm>
            <a:off x="837372" y="1215225"/>
            <a:ext cx="9144828" cy="47448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B1F4D"/>
                </a:solidFill>
                <a:latin typeface="Arial"/>
              </a:rPr>
              <a:t>Бленды: валидационное обоснование</a:t>
            </a:r>
            <a:endParaRPr sz="3000" b="1">
              <a:solidFill>
                <a:srgbClr val="0B1F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1"/>
          <p:cNvSpPr txBox="1"/>
          <p:nvPr/>
        </p:nvSpPr>
        <p:spPr>
          <a:xfrm>
            <a:off x="6247203" y="529421"/>
            <a:ext cx="2591997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Фанта с хлебом</a:t>
            </a:r>
            <a:endParaRPr lang="ru-RU" sz="13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2" name="Google Shape;162;p11"/>
          <p:cNvSpPr txBox="1"/>
          <p:nvPr/>
        </p:nvSpPr>
        <p:spPr>
          <a:xfrm>
            <a:off x="3492100" y="458537"/>
            <a:ext cx="2399665" cy="70532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F2C68"/>
                </a:solidFill>
                <a:latin typeface="Trebuchet MS"/>
              </a:rPr>
              <a:t>VK Predict CMC Hackathon</a:t>
            </a:r>
            <a:endParaRPr/>
          </a:p>
        </p:txBody>
      </p:sp>
      <p:sp>
        <p:nvSpPr>
          <p:cNvPr id="163" name="Google Shape;163;p11" descr="$PPTXTitle"/>
          <p:cNvSpPr txBox="1">
            <a:spLocks noGrp="1"/>
          </p:cNvSpPr>
          <p:nvPr>
            <p:ph type="title"/>
          </p:nvPr>
        </p:nvSpPr>
        <p:spPr>
          <a:xfrm>
            <a:off x="10591800" y="531918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0F2C68"/>
                </a:solidFill>
                <a:latin typeface="Calibri"/>
              </a:rPr>
              <a:t>11/15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4" name="Table 163"/>
          <p:cNvGraphicFramePr>
            <a:graphicFrameLocks noGrp="1"/>
          </p:cNvGraphicFramePr>
          <p:nvPr/>
        </p:nvGraphicFramePr>
        <p:xfrm>
          <a:off x="685800" y="173736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9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B1F4D"/>
                          </a:solidFill>
                          <a:latin typeface="Arial"/>
                        </a:rPr>
                        <a:t>Бленд</a:t>
                      </a:r>
                    </a:p>
                  </a:txBody>
                  <a:tcPr marL="54864" marR="54864" marT="27432" marB="27432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B1F4D"/>
                          </a:solidFill>
                          <a:latin typeface="Arial"/>
                        </a:rPr>
                        <a:t>Validation ROC-AUC</a:t>
                      </a:r>
                    </a:p>
                  </a:txBody>
                  <a:tcPr marL="54864" marR="54864" marT="27432" marB="27432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B1F4D"/>
                          </a:solidFill>
                          <a:latin typeface="Arial"/>
                        </a:rPr>
                        <a:t>Private ROC-AUC</a:t>
                      </a:r>
                    </a:p>
                  </a:txBody>
                  <a:tcPr marL="54864" marR="54864" marT="27432" marB="27432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B1F4D"/>
                          </a:solidFill>
                          <a:latin typeface="Arial"/>
                        </a:rPr>
                        <a:t>Комментарий</a:t>
                      </a:r>
                    </a:p>
                  </a:txBody>
                  <a:tcPr marL="54864" marR="54864" marT="27432" marB="27432">
                    <a:solidFill>
                      <a:srgbClr val="E8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0B1F4D"/>
                          </a:solidFill>
                          <a:latin typeface="Arial"/>
                        </a:rPr>
                        <a:t>blend_random_search_prob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B1F4D"/>
                          </a:solidFill>
                          <a:latin typeface="Arial"/>
                        </a:rPr>
                        <a:t>0.6987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 dirty="0">
                          <a:solidFill>
                            <a:srgbClr val="0B1F4D"/>
                          </a:solidFill>
                          <a:latin typeface="Arial"/>
                        </a:rPr>
                        <a:t>0.70878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B1F4D"/>
                          </a:solidFill>
                          <a:latin typeface="Arial"/>
                        </a:rPr>
                        <a:t>лучший финальный blend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0B1F4D"/>
                          </a:solidFill>
                          <a:latin typeface="Arial"/>
                        </a:rPr>
                        <a:t>blend_logistic_stacker_probability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B1F4D"/>
                          </a:solidFill>
                          <a:latin typeface="Arial"/>
                        </a:rPr>
                        <a:t>0.6975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B1F4D"/>
                          </a:solidFill>
                          <a:latin typeface="Arial"/>
                        </a:rPr>
                        <a:t>≈0.706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B1F4D"/>
                          </a:solidFill>
                          <a:latin typeface="Arial"/>
                        </a:rPr>
                        <a:t>stacker по out-of-fold прогнозам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0B1F4D"/>
                          </a:solidFill>
                          <a:latin typeface="Arial"/>
                        </a:rPr>
                        <a:t>blend_rank_probability_mix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B1F4D"/>
                          </a:solidFill>
                          <a:latin typeface="Arial"/>
                        </a:rPr>
                        <a:t>0.6968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B1F4D"/>
                          </a:solidFill>
                          <a:latin typeface="Arial"/>
                        </a:rPr>
                        <a:t>≈0.705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B1F4D"/>
                          </a:solidFill>
                          <a:latin typeface="Arial"/>
                        </a:rPr>
                        <a:t>устойчивый rank/proba mix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0B1F4D"/>
                          </a:solidFill>
                          <a:latin typeface="Arial"/>
                        </a:rPr>
                        <a:t>blend_auc_weighted_probability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B1F4D"/>
                          </a:solidFill>
                          <a:latin typeface="Arial"/>
                        </a:rPr>
                        <a:t>0.6959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B1F4D"/>
                          </a:solidFill>
                          <a:latin typeface="Arial"/>
                        </a:rPr>
                        <a:t>≈0.704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B1F4D"/>
                          </a:solidFill>
                          <a:latin typeface="Arial"/>
                        </a:rPr>
                        <a:t>простой весовой baseline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0B1F4D"/>
                          </a:solidFill>
                          <a:latin typeface="Arial"/>
                        </a:rPr>
                        <a:t>blend_equal_probability_top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B1F4D"/>
                          </a:solidFill>
                          <a:latin typeface="Arial"/>
                        </a:rPr>
                        <a:t>0.6948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B1F4D"/>
                          </a:solidFill>
                          <a:latin typeface="Arial"/>
                        </a:rPr>
                        <a:t>≈0.703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 dirty="0" err="1">
                          <a:solidFill>
                            <a:srgbClr val="0B1F4D"/>
                          </a:solidFill>
                          <a:latin typeface="Arial"/>
                        </a:rPr>
                        <a:t>контрольный</a:t>
                      </a:r>
                      <a:r>
                        <a:rPr sz="880" b="0" dirty="0">
                          <a:solidFill>
                            <a:srgbClr val="0B1F4D"/>
                          </a:solidFill>
                          <a:latin typeface="Arial"/>
                        </a:rPr>
                        <a:t> </a:t>
                      </a:r>
                      <a:r>
                        <a:rPr sz="880" b="0" dirty="0" err="1">
                          <a:solidFill>
                            <a:srgbClr val="0B1F4D"/>
                          </a:solidFill>
                          <a:latin typeface="Arial"/>
                        </a:rPr>
                        <a:t>равный</a:t>
                      </a:r>
                      <a:r>
                        <a:rPr sz="880" b="0" dirty="0">
                          <a:solidFill>
                            <a:srgbClr val="0B1F4D"/>
                          </a:solidFill>
                          <a:latin typeface="Arial"/>
                        </a:rPr>
                        <a:t> blend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5" name="TextBox 164"/>
          <p:cNvSpPr txBox="1"/>
          <p:nvPr/>
        </p:nvSpPr>
        <p:spPr>
          <a:xfrm>
            <a:off x="777240" y="5532120"/>
            <a:ext cx="101955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220" b="0">
                <a:solidFill>
                  <a:srgbClr val="0B1F4D"/>
                </a:solidFill>
                <a:latin typeface="Arial"/>
              </a:rPr>
              <a:t>Бленды выбирали по leak-free validation: прирост небольшой, но стабильный относительно лучших одиночных моделей.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 txBox="1"/>
          <p:nvPr/>
        </p:nvSpPr>
        <p:spPr>
          <a:xfrm>
            <a:off x="1130989" y="522616"/>
            <a:ext cx="1430655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Школа информатики, физики и технологий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2" name="Google Shape;172;p12"/>
          <p:cNvSpPr txBox="1"/>
          <p:nvPr/>
        </p:nvSpPr>
        <p:spPr>
          <a:xfrm>
            <a:off x="609600" y="1097126"/>
            <a:ext cx="871093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B1F4D"/>
                </a:solidFill>
                <a:latin typeface="Arial"/>
              </a:rPr>
              <a:t>Итог на private test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2"/>
          <p:cNvSpPr txBox="1"/>
          <p:nvPr/>
        </p:nvSpPr>
        <p:spPr>
          <a:xfrm>
            <a:off x="6247205" y="529421"/>
            <a:ext cx="2668195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Фанта с хлебом</a:t>
            </a:r>
            <a:endParaRPr lang="ru-RU" sz="13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5" name="Google Shape;175;p12"/>
          <p:cNvSpPr txBox="1"/>
          <p:nvPr/>
        </p:nvSpPr>
        <p:spPr>
          <a:xfrm>
            <a:off x="3492100" y="458537"/>
            <a:ext cx="2399665" cy="70532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F2C68"/>
                </a:solidFill>
                <a:latin typeface="Trebuchet MS"/>
              </a:rPr>
              <a:t>VK Predict CMC Hackathon</a:t>
            </a:r>
            <a:endParaRPr/>
          </a:p>
        </p:txBody>
      </p:sp>
      <p:sp>
        <p:nvSpPr>
          <p:cNvPr id="176" name="Google Shape;176;p12" descr="$PPTXTitle"/>
          <p:cNvSpPr txBox="1">
            <a:spLocks noGrp="1"/>
          </p:cNvSpPr>
          <p:nvPr>
            <p:ph type="title"/>
          </p:nvPr>
        </p:nvSpPr>
        <p:spPr>
          <a:xfrm>
            <a:off x="10591800" y="529421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0F2C68"/>
                </a:solidFill>
                <a:latin typeface="Calibri"/>
              </a:rPr>
              <a:t>12/15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04805"/>
              </p:ext>
            </p:extLst>
          </p:nvPr>
        </p:nvGraphicFramePr>
        <p:xfrm>
          <a:off x="868680" y="1920240"/>
          <a:ext cx="99669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1F4D"/>
                          </a:solidFill>
                          <a:latin typeface="Arial"/>
                        </a:rPr>
                        <a:t>Подход</a:t>
                      </a:r>
                    </a:p>
                  </a:txBody>
                  <a:tcPr marL="54864" marR="54864" marT="27432" marB="27432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1F4D"/>
                          </a:solidFill>
                          <a:latin typeface="Arial"/>
                        </a:rPr>
                        <a:t>Private ROC-AUC</a:t>
                      </a:r>
                    </a:p>
                  </a:txBody>
                  <a:tcPr marL="54864" marR="54864" marT="27432" marB="27432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1F4D"/>
                          </a:solidFill>
                          <a:latin typeface="Arial"/>
                        </a:rPr>
                        <a:t>Что это значит</a:t>
                      </a:r>
                    </a:p>
                  </a:txBody>
                  <a:tcPr marL="54864" marR="54864" marT="27432" marB="27432">
                    <a:solidFill>
                      <a:srgbClr val="E8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4D"/>
                          </a:solidFill>
                          <a:latin typeface="Arial"/>
                        </a:rPr>
                        <a:t>Лучшие одиночные модели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1F4D"/>
                          </a:solidFill>
                          <a:latin typeface="Arial"/>
                        </a:rPr>
                        <a:t>≈ 0.69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1F4D"/>
                          </a:solidFill>
                          <a:latin typeface="Arial"/>
                        </a:rPr>
                        <a:t>CatBoost / LightGBM / XGBoost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4D"/>
                          </a:solidFill>
                          <a:latin typeface="Arial"/>
                        </a:rPr>
                        <a:t>Лучший blend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0B1F4D"/>
                          </a:solidFill>
                          <a:latin typeface="Arial"/>
                        </a:rPr>
                        <a:t>0.708</a:t>
                      </a:r>
                      <a:r>
                        <a:rPr lang="ru-RU" sz="1100" b="0" dirty="0">
                          <a:solidFill>
                            <a:srgbClr val="0B1F4D"/>
                          </a:solidFill>
                          <a:latin typeface="Arial"/>
                        </a:rPr>
                        <a:t>7</a:t>
                      </a:r>
                      <a:r>
                        <a:rPr sz="1100" b="0" dirty="0">
                          <a:solidFill>
                            <a:srgbClr val="0B1F4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1F4D"/>
                          </a:solidFill>
                          <a:latin typeface="Arial"/>
                        </a:rPr>
                        <a:t>random-search probability blend</a:t>
                      </a: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4D"/>
                          </a:solidFill>
                          <a:latin typeface="Arial"/>
                        </a:rPr>
                        <a:t>Прирост blend к одиночным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1F4D"/>
                          </a:solidFill>
                          <a:latin typeface="Arial"/>
                        </a:rPr>
                        <a:t>≈ +0.018–0.020</a:t>
                      </a:r>
                    </a:p>
                  </a:txBody>
                  <a:tcPr marL="54864" marR="54864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0B1F4D"/>
                          </a:solidFill>
                          <a:latin typeface="Arial"/>
                        </a:rPr>
                        <a:t>ансамбль</a:t>
                      </a:r>
                      <a:r>
                        <a:rPr sz="1100" b="0" dirty="0">
                          <a:solidFill>
                            <a:srgbClr val="0B1F4D"/>
                          </a:solidFill>
                          <a:latin typeface="Arial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0B1F4D"/>
                          </a:solidFill>
                          <a:latin typeface="Arial"/>
                        </a:rPr>
                        <a:t>действительно</a:t>
                      </a:r>
                      <a:r>
                        <a:rPr sz="1100" b="0" dirty="0">
                          <a:solidFill>
                            <a:srgbClr val="0B1F4D"/>
                          </a:solidFill>
                          <a:latin typeface="Arial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0B1F4D"/>
                          </a:solidFill>
                          <a:latin typeface="Arial"/>
                        </a:rPr>
                        <a:t>полезен</a:t>
                      </a:r>
                      <a:endParaRPr sz="1100" b="0" dirty="0">
                        <a:solidFill>
                          <a:srgbClr val="0B1F4D"/>
                        </a:solidFill>
                        <a:latin typeface="Arial"/>
                      </a:endParaRPr>
                    </a:p>
                  </a:txBody>
                  <a:tcPr marL="54864" marR="54864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 txBox="1"/>
          <p:nvPr/>
        </p:nvSpPr>
        <p:spPr>
          <a:xfrm>
            <a:off x="1130989" y="522616"/>
            <a:ext cx="1430655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Школа информатики, физики и технологий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2" name="Google Shape;182;p13"/>
          <p:cNvSpPr txBox="1"/>
          <p:nvPr/>
        </p:nvSpPr>
        <p:spPr>
          <a:xfrm>
            <a:off x="567325" y="1212283"/>
            <a:ext cx="871093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>
                <a:latin typeface="Arial"/>
                <a:ea typeface="Arial"/>
                <a:cs typeface="Arial"/>
                <a:sym typeface="Arial"/>
              </a:rPr>
              <a:t>Итоги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3"/>
          <p:cNvSpPr txBox="1"/>
          <p:nvPr/>
        </p:nvSpPr>
        <p:spPr>
          <a:xfrm>
            <a:off x="6247205" y="529421"/>
            <a:ext cx="2668195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Фанта с хлебом</a:t>
            </a:r>
            <a:endParaRPr lang="ru-RU" sz="13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5" name="Google Shape;185;p13"/>
          <p:cNvSpPr txBox="1"/>
          <p:nvPr/>
        </p:nvSpPr>
        <p:spPr>
          <a:xfrm>
            <a:off x="3492100" y="458537"/>
            <a:ext cx="2399665" cy="70532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F2C68"/>
                </a:solidFill>
                <a:latin typeface="Trebuchet MS"/>
              </a:rPr>
              <a:t>VK Predict CMC Hackathon</a:t>
            </a:r>
            <a:endParaRPr/>
          </a:p>
        </p:txBody>
      </p:sp>
      <p:sp>
        <p:nvSpPr>
          <p:cNvPr id="186" name="Google Shape;186;p13" descr="$PPTXTitle"/>
          <p:cNvSpPr txBox="1">
            <a:spLocks noGrp="1"/>
          </p:cNvSpPr>
          <p:nvPr>
            <p:ph type="title"/>
          </p:nvPr>
        </p:nvSpPr>
        <p:spPr>
          <a:xfrm>
            <a:off x="10591800" y="506024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0F2C68"/>
                </a:solidFill>
                <a:latin typeface="Calibri"/>
              </a:rPr>
              <a:t>13/15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685800" y="1783080"/>
            <a:ext cx="5120640" cy="388620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450" b="1">
                <a:solidFill>
                  <a:srgbClr val="0B1F4D"/>
                </a:solidFill>
                <a:latin typeface="Arial"/>
              </a:rPr>
              <a:t>Сработало</a:t>
            </a:r>
          </a:p>
          <a:p>
            <a:endParaRPr sz="1450" b="1">
              <a:solidFill>
                <a:srgbClr val="0B1F4D"/>
              </a:solidFill>
              <a:latin typeface="Arial"/>
            </a:endParaRPr>
          </a:p>
          <a:p>
            <a:r>
              <a:rPr sz="1450" b="0">
                <a:solidFill>
                  <a:srgbClr val="0B1F4D"/>
                </a:solidFill>
                <a:latin typeface="Arial"/>
              </a:rPr>
              <a:t>• сильные бустинги на разных feature spaces</a:t>
            </a:r>
          </a:p>
          <a:p>
            <a:r>
              <a:rPr sz="1450" b="0">
                <a:solidFill>
                  <a:srgbClr val="0B1F4D"/>
                </a:solidFill>
                <a:latin typeface="Arial"/>
              </a:rPr>
              <a:t>• OOF target encoding и meta-features без утечки</a:t>
            </a:r>
          </a:p>
          <a:p>
            <a:r>
              <a:rPr sz="1450" b="0">
                <a:solidFill>
                  <a:srgbClr val="0B1F4D"/>
                </a:solidFill>
                <a:latin typeface="Arial"/>
              </a:rPr>
              <a:t>• drift-aware варианты признаков</a:t>
            </a:r>
          </a:p>
          <a:p>
            <a:r>
              <a:rPr sz="1450" b="0">
                <a:solidFill>
                  <a:srgbClr val="0B1F4D"/>
                </a:solidFill>
                <a:latin typeface="Arial"/>
              </a:rPr>
              <a:t>• probability + rank blending</a:t>
            </a:r>
          </a:p>
          <a:p>
            <a:r>
              <a:rPr sz="1450" b="0">
                <a:solidFill>
                  <a:srgbClr val="0B1F4D"/>
                </a:solidFill>
                <a:latin typeface="Arial"/>
              </a:rPr>
              <a:t>• подбор весов ансамбля по OOF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080760" y="1783080"/>
            <a:ext cx="5074920" cy="388620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450" b="1">
                <a:solidFill>
                  <a:srgbClr val="0B1F4D"/>
                </a:solidFill>
                <a:latin typeface="Arial"/>
              </a:rPr>
              <a:t>Не дало устойчивого прироста</a:t>
            </a:r>
          </a:p>
          <a:p>
            <a:endParaRPr sz="1450" b="1">
              <a:solidFill>
                <a:srgbClr val="0B1F4D"/>
              </a:solidFill>
              <a:latin typeface="Arial"/>
            </a:endParaRPr>
          </a:p>
          <a:p>
            <a:r>
              <a:rPr sz="1450" b="0">
                <a:solidFill>
                  <a:srgbClr val="0B1F4D"/>
                </a:solidFill>
                <a:latin typeface="Arial"/>
              </a:rPr>
              <a:t>• ставка на один «лучший» датасет</a:t>
            </a:r>
          </a:p>
          <a:p>
            <a:r>
              <a:rPr sz="1450" b="0">
                <a:solidFill>
                  <a:srgbClr val="0B1F4D"/>
                </a:solidFill>
                <a:latin typeface="Arial"/>
              </a:rPr>
              <a:t>• нейросети без дополнительной регуляризации</a:t>
            </a:r>
          </a:p>
          <a:p>
            <a:r>
              <a:rPr sz="1450" b="0">
                <a:solidFill>
                  <a:srgbClr val="0B1F4D"/>
                </a:solidFill>
                <a:latin typeface="Arial"/>
              </a:rPr>
              <a:t>• чистый correlation-based feature selection</a:t>
            </a:r>
          </a:p>
          <a:p>
            <a:r>
              <a:rPr sz="1450" b="0">
                <a:solidFill>
                  <a:srgbClr val="0B1F4D"/>
                </a:solidFill>
                <a:latin typeface="Arial"/>
              </a:rPr>
              <a:t>• агрессивный подбор по public-score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 txBox="1"/>
          <p:nvPr/>
        </p:nvSpPr>
        <p:spPr>
          <a:xfrm>
            <a:off x="1130989" y="522616"/>
            <a:ext cx="1430655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Школа информатики, физики и технологий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6247204" y="529421"/>
            <a:ext cx="2668196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F2C68"/>
                </a:solidFill>
                <a:latin typeface="Trebuchet MS"/>
                <a:ea typeface="Trebuchet MS"/>
                <a:cs typeface="Trebuchet MS"/>
                <a:sym typeface="Trebuchet MS"/>
              </a:rPr>
              <a:t>Фанта с хлебом</a:t>
            </a:r>
            <a:endParaRPr lang="ru-RU" sz="13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4" name="Google Shape;194;p14"/>
          <p:cNvSpPr txBox="1"/>
          <p:nvPr/>
        </p:nvSpPr>
        <p:spPr>
          <a:xfrm>
            <a:off x="3492100" y="458537"/>
            <a:ext cx="2399665" cy="70532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F2C68"/>
                </a:solidFill>
                <a:latin typeface="Trebuchet MS"/>
              </a:rPr>
              <a:t>VK Predict CMC Hackathon</a:t>
            </a:r>
            <a:endParaRPr/>
          </a:p>
        </p:txBody>
      </p:sp>
      <p:sp>
        <p:nvSpPr>
          <p:cNvPr id="195" name="Google Shape;195;p14" descr="$PPTXTitle"/>
          <p:cNvSpPr txBox="1">
            <a:spLocks noGrp="1"/>
          </p:cNvSpPr>
          <p:nvPr>
            <p:ph type="title"/>
          </p:nvPr>
        </p:nvSpPr>
        <p:spPr>
          <a:xfrm>
            <a:off x="10545240" y="501146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0F2C68"/>
                </a:solidFill>
                <a:latin typeface="Calibri"/>
              </a:rPr>
              <a:t>14/15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640080" y="1234440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3000" b="1">
                <a:solidFill>
                  <a:srgbClr val="0B1F4D"/>
                </a:solidFill>
                <a:latin typeface="Arial"/>
              </a:rPr>
              <a:t>Выводы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77240" y="1965960"/>
            <a:ext cx="10515600" cy="393192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400" b="1" dirty="0" err="1">
                <a:solidFill>
                  <a:srgbClr val="0B1F4D"/>
                </a:solidFill>
                <a:latin typeface="Arial"/>
              </a:rPr>
              <a:t>Построен</a:t>
            </a:r>
            <a:r>
              <a:rPr sz="140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B1F4D"/>
                </a:solidFill>
                <a:latin typeface="Arial"/>
              </a:rPr>
              <a:t>полный</a:t>
            </a:r>
            <a:r>
              <a:rPr sz="1400" b="1" dirty="0">
                <a:solidFill>
                  <a:srgbClr val="0B1F4D"/>
                </a:solidFill>
                <a:latin typeface="Arial"/>
              </a:rPr>
              <a:t> ML-</a:t>
            </a:r>
            <a:r>
              <a:rPr sz="1400" b="1" dirty="0" err="1">
                <a:solidFill>
                  <a:srgbClr val="0B1F4D"/>
                </a:solidFill>
                <a:latin typeface="Arial"/>
              </a:rPr>
              <a:t>пайплайн</a:t>
            </a:r>
            <a:r>
              <a:rPr sz="140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B1F4D"/>
                </a:solidFill>
                <a:latin typeface="Arial"/>
              </a:rPr>
              <a:t>для</a:t>
            </a:r>
            <a:r>
              <a:rPr sz="140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B1F4D"/>
                </a:solidFill>
                <a:latin typeface="Arial"/>
              </a:rPr>
              <a:t>табличной</a:t>
            </a:r>
            <a:r>
              <a:rPr sz="140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B1F4D"/>
                </a:solidFill>
                <a:latin typeface="Arial"/>
              </a:rPr>
              <a:t>задачи</a:t>
            </a:r>
            <a:r>
              <a:rPr sz="140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B1F4D"/>
                </a:solidFill>
                <a:latin typeface="Arial"/>
              </a:rPr>
              <a:t>бинарной</a:t>
            </a:r>
            <a:r>
              <a:rPr sz="140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B1F4D"/>
                </a:solidFill>
                <a:latin typeface="Arial"/>
              </a:rPr>
              <a:t>классификации</a:t>
            </a:r>
            <a:r>
              <a:rPr sz="140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B1F4D"/>
                </a:solidFill>
                <a:latin typeface="Arial"/>
              </a:rPr>
              <a:t>с</a:t>
            </a:r>
            <a:r>
              <a:rPr sz="140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B1F4D"/>
                </a:solidFill>
                <a:latin typeface="Arial"/>
              </a:rPr>
              <a:t>сильным</a:t>
            </a:r>
            <a:r>
              <a:rPr sz="140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B1F4D"/>
                </a:solidFill>
                <a:latin typeface="Arial"/>
              </a:rPr>
              <a:t>дисбалансом</a:t>
            </a:r>
            <a:r>
              <a:rPr sz="1400" b="1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B1F4D"/>
                </a:solidFill>
                <a:latin typeface="Arial"/>
              </a:rPr>
              <a:t>классов</a:t>
            </a:r>
            <a:r>
              <a:rPr sz="1400" b="1" dirty="0">
                <a:solidFill>
                  <a:srgbClr val="0B1F4D"/>
                </a:solidFill>
                <a:latin typeface="Arial"/>
              </a:rPr>
              <a:t>.</a:t>
            </a:r>
          </a:p>
          <a:p>
            <a:endParaRPr sz="1400" b="1" dirty="0">
              <a:solidFill>
                <a:srgbClr val="0B1F4D"/>
              </a:solidFill>
              <a:latin typeface="Arial"/>
            </a:endParaRPr>
          </a:p>
          <a:p>
            <a:r>
              <a:rPr sz="1400" b="0" dirty="0">
                <a:solidFill>
                  <a:srgbClr val="0B1F4D"/>
                </a:solidFill>
                <a:latin typeface="Arial"/>
              </a:rPr>
              <a:t>1. EDA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показал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слабый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одиночный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сигнал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избыточность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признаков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и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важность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нелинейных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комбинаций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.</a:t>
            </a:r>
          </a:p>
          <a:p>
            <a:r>
              <a:rPr sz="1400" b="0" dirty="0">
                <a:solidFill>
                  <a:srgbClr val="0B1F4D"/>
                </a:solidFill>
                <a:latin typeface="Arial"/>
              </a:rPr>
              <a:t>2. Feature engineering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дал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несколько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полезных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пространств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признаков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вместо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одного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универсального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набора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.</a:t>
            </a:r>
          </a:p>
          <a:p>
            <a:r>
              <a:rPr sz="1400" b="0" dirty="0">
                <a:solidFill>
                  <a:srgbClr val="0B1F4D"/>
                </a:solidFill>
                <a:latin typeface="Arial"/>
              </a:rPr>
              <a:t>3.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Лучшие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одиночные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модели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на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private test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были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около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0.69 ROC-AUC.</a:t>
            </a:r>
          </a:p>
          <a:p>
            <a:r>
              <a:rPr sz="1400" b="0" dirty="0">
                <a:solidFill>
                  <a:srgbClr val="0B1F4D"/>
                </a:solidFill>
                <a:latin typeface="Arial"/>
              </a:rPr>
              <a:t>4.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Лучший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blend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достиг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0.70878 private ROC-AUC.</a:t>
            </a:r>
          </a:p>
          <a:p>
            <a:r>
              <a:rPr sz="1400" b="0" dirty="0">
                <a:solidFill>
                  <a:srgbClr val="0B1F4D"/>
                </a:solidFill>
                <a:latin typeface="Arial"/>
              </a:rPr>
              <a:t>5.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Основной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вклад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дали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честная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валидация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разнородные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модели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и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аккуратное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B1F4D"/>
                </a:solidFill>
                <a:latin typeface="Arial"/>
              </a:rPr>
              <a:t>ансамблирование</a:t>
            </a:r>
            <a:r>
              <a:rPr sz="1400" b="0" dirty="0">
                <a:solidFill>
                  <a:srgbClr val="0B1F4D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"/>
          <p:cNvSpPr/>
          <p:nvPr/>
        </p:nvSpPr>
        <p:spPr>
          <a:xfrm>
            <a:off x="29198" y="1524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F2C6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01" name="Google Shape;201;p15"/>
          <p:cNvGrpSpPr/>
          <p:nvPr/>
        </p:nvGrpSpPr>
        <p:grpSpPr>
          <a:xfrm>
            <a:off x="29200" y="-78300"/>
            <a:ext cx="12192000" cy="6858000"/>
            <a:chOff x="0" y="0"/>
            <a:chExt cx="12192000" cy="6858000"/>
          </a:xfrm>
        </p:grpSpPr>
        <p:sp>
          <p:nvSpPr>
            <p:cNvPr id="202" name="Google Shape;202;p1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 extrusionOk="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675" cap="flat" cmpd="sng">
              <a:solidFill>
                <a:srgbClr val="0A204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203" name="Google Shape;203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10809" y="2643809"/>
              <a:ext cx="1570383" cy="15703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4" name="Google Shape;204;p15"/>
          <p:cNvSpPr txBox="1"/>
          <p:nvPr/>
        </p:nvSpPr>
        <p:spPr>
          <a:xfrm>
            <a:off x="292281" y="5416124"/>
            <a:ext cx="4806315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r>
              <a:rPr lang="ru-RU" sz="900" b="0" dirty="0" err="1">
                <a:solidFill>
                  <a:srgbClr val="FFFFFF"/>
                </a:solidFill>
                <a:latin typeface="Trebuchet MS"/>
              </a:rPr>
              <a:t>Пеганов</a:t>
            </a:r>
            <a:r>
              <a:rPr lang="ru-RU" sz="900" b="0" dirty="0">
                <a:solidFill>
                  <a:srgbClr val="FFFFFF"/>
                </a:solidFill>
                <a:latin typeface="Trebuchet MS"/>
              </a:rPr>
              <a:t> Илья, Поздеев Арсений, Сорочан Дмитрий</a:t>
            </a:r>
          </a:p>
          <a:p>
            <a:r>
              <a:rPr sz="900" b="0" dirty="0">
                <a:solidFill>
                  <a:srgbClr val="FFFFFF"/>
                </a:solidFill>
                <a:latin typeface="Trebuchet MS"/>
              </a:rPr>
              <a:t>VK Predict CMC Hackathon</a:t>
            </a:r>
          </a:p>
        </p:txBody>
      </p:sp>
      <p:sp>
        <p:nvSpPr>
          <p:cNvPr id="205" name="Google Shape;205;p15"/>
          <p:cNvSpPr txBox="1"/>
          <p:nvPr/>
        </p:nvSpPr>
        <p:spPr>
          <a:xfrm>
            <a:off x="5011647" y="4369083"/>
            <a:ext cx="238696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Arial"/>
              </a:rPr>
              <a:t>Спасибо за внимание!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6" name="Google Shape;206;p15"/>
          <p:cNvSpPr txBox="1"/>
          <p:nvPr/>
        </p:nvSpPr>
        <p:spPr>
          <a:xfrm>
            <a:off x="7045986" y="5423746"/>
            <a:ext cx="4815205" cy="825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63500" marR="5080" lvl="0" indent="-51435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FFFFF"/>
                </a:solidFill>
                <a:latin typeface="Trebuchet MS"/>
              </a:rPr>
              <a:t>Прогнозирование склонности пользователя к секретному событию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1105</Words>
  <Application>Microsoft Office PowerPoint</Application>
  <PresentationFormat>Широкоэкранный</PresentationFormat>
  <Paragraphs>266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Trebuchet MS</vt:lpstr>
      <vt:lpstr>Arial</vt:lpstr>
      <vt:lpstr>Calibri</vt:lpstr>
      <vt:lpstr>Helvetica Neue</vt:lpstr>
      <vt:lpstr>Office Theme</vt:lpstr>
      <vt:lpstr>Презентация PowerPoint</vt:lpstr>
      <vt:lpstr>2/15</vt:lpstr>
      <vt:lpstr>3/15</vt:lpstr>
      <vt:lpstr>4/15</vt:lpstr>
      <vt:lpstr>5/15</vt:lpstr>
      <vt:lpstr>6/15</vt:lpstr>
      <vt:lpstr>7/15</vt:lpstr>
      <vt:lpstr>8/15</vt:lpstr>
      <vt:lpstr>9/15</vt:lpstr>
      <vt:lpstr>10/15</vt:lpstr>
      <vt:lpstr>11/15</vt:lpstr>
      <vt:lpstr>12/15</vt:lpstr>
      <vt:lpstr>13/15</vt:lpstr>
      <vt:lpstr>14/15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Арсений Поздеев</cp:lastModifiedBy>
  <cp:revision>3</cp:revision>
  <dcterms:created xsi:type="dcterms:W3CDTF">2026-06-09T00:00:31Z</dcterms:created>
  <dcterms:modified xsi:type="dcterms:W3CDTF">2026-06-16T18:18:53Z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2026-06-09T00:00:00Z</vt:filetime>
  </property>
  <property fmtid="{D5CDD505-2E9C-101B-9397-08002B2CF9AE}" pid="4" name="Creator">
    <vt:lpwstr>Google</vt:lpwstr>
  </property>
  <property fmtid="{D5CDD505-2E9C-101B-9397-08002B2CF9AE}" pid="5" name="LastSaved">
    <vt:filetime>2026-06-09T00:00:00Z</vt:filetime>
  </property>
</Properties>
</file>