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fbe63821c_16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efbe63821c_16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Добрый день. Мы представляем работу команды «Фанта с хлебом» на VK Predict CMC Hackathon. Задача была в том, чтобы по анонимизированным табличным признакам предсказать склонность пользователя к секретному событию. По сути это классическая, но достаточно сложная задача бинарной классификации: признаков много, смысл колонок скрыт, а положительный класс встречается редко. Дальше я коротко расскажу, как мы прошли весь пайплайн: от анализа данных и генерации признаков до моделей, блендов и итогового результата.</a:t>
            </a:r>
            <a:endParaRPr/>
          </a:p>
        </p:txBody>
      </p:sp>
      <p:sp>
        <p:nvSpPr>
          <p:cNvPr id="56" name="Google Shape;56;g3efbe63821c_16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fbe63821c_16_1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efbe63821c_16_1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Сначала зафиксируем постановку. На входе у нас для каждого пользователя есть вектор числовых и категориальных признаков. Нужно не просто поставить класс ноль или один, а выдать непрерывный score — чем выше score, тем больше модель считает пользователя склонным к событию. Поэтому задача оптимизируется не под accuracy, а под ROC-AUC: важно правильно упорядочить объекты. Отдельная сложность — сильный дисбаланс. Положительных примеров мало, поэтому модели легко переобучаются на большинство и плохо ловят редкий класс.</a:t>
            </a:r>
            <a:endParaRPr/>
          </a:p>
        </p:txBody>
      </p:sp>
      <p:sp>
        <p:nvSpPr>
          <p:cNvPr id="70" name="Google Shape;70;g3efbe63821c_16_1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fbe63821c_16_2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efbe63821c_16_2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Данные довольно большие для табличной задачи: почти 248 тысяч строк в train, чуть больше 106 тысяч в test и 1367 признаков. Положительный класс составляет примерно 1,35 процента, то есть задача сильно несбалансирована. На этом слайде также вынесена базовая проверка через df.info: видно количество колонок, типы данных и объем памяти. Важный момент — признаки анонимизированы, поэтому нельзя интерпретировать их предметно. Приходилось работать статистически: смотреть распределения, устойчивость, шум, выбросы и связь признаков с target.</a:t>
            </a:r>
            <a:endParaRPr/>
          </a:p>
        </p:txBody>
      </p:sp>
      <p:sp>
        <p:nvSpPr>
          <p:cNvPr id="82" name="Google Shape;82;g3efbe63821c_16_2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fbe63821c_16_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efbe63821c_16_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 этапе EDA мы не ограничились просмотром размеров таблиц. Мы проверяли пропуски, типы данных, базовые статистики, квазиконстантные признаки, признаки-близнецы и корреляции. Отдельно смотрели, нет ли совпадающих строк между train и test, чтобы не получить скрытую утечку. После этого считали связь отдельных признаков с target: корреляции, single-feature AUC, importance. Еще важная часть — train/test drift: если распределение признака сильно отличается между train и test, такой признак может вредить обобщению.</a:t>
            </a:r>
            <a:endParaRPr/>
          </a:p>
        </p:txBody>
      </p:sp>
      <p:sp>
        <p:nvSpPr>
          <p:cNvPr id="108" name="Google Shape;108;g3efbe63821c_16_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fbe63821c_16_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efbe63821c_16_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Здесь собраны визуальные проверки из ноутбуков EDA. Гистограммы показывали, как ведут себя top-признаки по классам, scatter-графики помогали увидеть, есть ли хотя бы локальная разделимость, а meta-признаки вроде количества нулей и уникальных значений показывали структуру строк. PCA использовали не как финальное решение, а как диагностику сжатия признакового пространства. В сумме эти графики подтверждают, что одиночные признаки слабые, но в комбинациях сигнал есть, поэтому дальше мы делали несколько разных feature spaces.</a:t>
            </a:r>
            <a:endParaRPr/>
          </a:p>
        </p:txBody>
      </p:sp>
      <p:sp>
        <p:nvSpPr>
          <p:cNvPr id="121" name="Google Shape;121;g3efbe63821c_16_6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fbe63821c_16_8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efbe63821c_16_8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После EDA мы собрали не один датасет, а целую линейку вариантов. Были сырые наборы как контроль, очищенные датасеты без очевидного мусора, top300, top500 и top700 по важности и корреляциям, stable-наборы после проверки train/test drift. Отдельно пробовали frequency encoding, rank-преобразования, OOF target encoding, PCA/SVD-компоненты, meta-features из out-of-fold прогнозов и interaction-блоки. Идея была в том, что разные модели могут извлекать сигнал из разных представлений данных, а потом это полезно для ансамбля.</a:t>
            </a:r>
            <a:endParaRPr/>
          </a:p>
        </p:txBody>
      </p:sp>
      <p:sp>
        <p:nvSpPr>
          <p:cNvPr id="144" name="Google Shape;144;g3efbe63821c_16_8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fbe63821c_16_1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efbe63821c_16_1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 этом слайде показана проверка разных feature spaces уже на моделях. Мы не предполагали, что один набор признаков будет лучшим для всего. Например, бустинги хорошо работают на очищенных и top-N наборах, а TabM и AutoML по-разному реагировали на meta-features и сжатые представления. Поэтому каждый новый датасет проверялся не абстрактно, а через качество конкретной модели. Это помогло оставить несколько разнообразных наборов признаков для финального ансамблирования.</a:t>
            </a:r>
            <a:endParaRPr/>
          </a:p>
        </p:txBody>
      </p:sp>
      <p:sp>
        <p:nvSpPr>
          <p:cNvPr id="157" name="Google Shape;157;g3efbe63821c_16_1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fbe63821c_16_1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efbe63821c_16_1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Дальше — валидационная схема. Общая логика была такая: сначала делим train на обучающую и валидационную части со стратификацией, чтобы сохранить долю положительного класса. На validation или OOF подбираем гиперпараметры и выбираем лучшие конфигурации. После этого фиксируем параметры и переобучаем модель уже на train плюс validation, чтобы использовать максимум данных. Затем, если несколько моделей дают разный порядок объектов, смешиваем их предсказания. Финальная проверка — сабмит на Kaggle и test ROC-AUC.</a:t>
            </a:r>
            <a:endParaRPr/>
          </a:p>
        </p:txBody>
      </p:sp>
      <p:sp>
        <p:nvSpPr>
          <p:cNvPr id="175" name="Google Shape;175;g3efbe63821c_16_1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fbe63821c_16_1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efbe63821c_16_1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 одиночным моделям лучше всего себя показали бустинги, что ожидаемо для анонимизированных табличных данных. Лучший результат дала LightGBM на инженерном top500-наборе — около 0,691 ROC-AUC на test. Рядом были LightGBM DART, FLAML AutoML, XGBoost, CatBoost, ExtraTrees и HistGradientBoosting. Нейросетевые подходы мы тоже пробовали, но они не стали основными: для такой табличной задачи без явной структуры данных бустинги оказались стабильнее и сильнее.</a:t>
            </a:r>
            <a:endParaRPr/>
          </a:p>
        </p:txBody>
      </p:sp>
      <p:sp>
        <p:nvSpPr>
          <p:cNvPr id="212" name="Google Shape;212;g3efbe63821c_16_15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fbe63821c_16_19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efbe63821c_16_19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Здесь показаны диагностические графики для моделей на validation. Матрицы ошибок полезны не как основная метрика, а как проверка поведения при сильном дисбалансе. При стандартном пороге 0,5 многие модели почти не выделяют положительный класс, потому что он очень редкий. Это объясняет, почему в задаче важнее ранжирование и ROC-AUC, а не accuracy или прямое качество классификации по фиксированному порогу. Нам нужно было хорошо упорядочить пользователей, а не подобрать универсальный threshold.</a:t>
            </a:r>
            <a:endParaRPr/>
          </a:p>
        </p:txBody>
      </p:sp>
      <p:sp>
        <p:nvSpPr>
          <p:cNvPr id="253" name="Google Shape;253;g3efbe63821c_16_19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fbe63821c_16_2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efbe63821c_16_2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После одиночных моделей мы перешли к блендам. Бленд — это взвешенное смешивание предсказаний нескольких моделей или уже готовых сабмитов. Смысл в том, что разные модели ошибаются по-разному: LightGBM, CatBoost, XGBoost, FLAML и meta-модели могут давать разные ранги одним и тем же объектам. Мы пробовали равные веса, веса по качеству, ручную настройку, random и greedy search, logistic stacker, а также power-blends, где усиливали вклад более уверенных предсказаний.</a:t>
            </a:r>
            <a:endParaRPr/>
          </a:p>
        </p:txBody>
      </p:sp>
      <p:sp>
        <p:nvSpPr>
          <p:cNvPr id="271" name="Google Shape;271;g3efbe63821c_16_2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fbe63821c_16_22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efbe63821c_16_22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таблице показаны основные стратегии блендинга и их test ROC-AUC. Лучшим оказался Overdrive blend — примерно 0,71513. Близко к нему Surgical и Tuning blends, где мы аккуратно подстраивали веса сильного core и добавку FLAML. Также видно, что не каждый бленд автоматически улучшает качество: некоторые стратегии дают средний результат или даже проигрывают более точечной настройке. Поэтому блендинг мы воспринимали как отдельную оптимизационную задачу, а не просто как усреднение всего подряд.</a:t>
            </a:r>
            <a:endParaRPr/>
          </a:p>
        </p:txBody>
      </p:sp>
      <p:sp>
        <p:nvSpPr>
          <p:cNvPr id="287" name="Google Shape;287;g3efbe63821c_16_22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fbe63821c_16_26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efbe63821c_16_26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Этот график показывает эволюцию качества: от лучшей одиночной модели к разным вариантам ансамблей. По оси Y — test ROC-AUC, то есть чем выше столбец, тем лучше ранжирование пользователей. Видно, что основной прирост дали не просто дополнительные признаки или одна новая модель, а аккуратная комбинация нескольких источников сигнала. Важный вывод: массовое смешивание всех предсказаний не обязательно лучше, чем точечный бленд из сильных и достаточно разных моделей.</a:t>
            </a:r>
            <a:endParaRPr/>
          </a:p>
        </p:txBody>
      </p:sp>
      <p:sp>
        <p:nvSpPr>
          <p:cNvPr id="322" name="Google Shape;322;g3efbe63821c_16_26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fbe63821c_16_28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efbe63821c_16_28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Финальный итог на test такой: лучшая одиночная модель получила 0,69074 ROC-AUC, а лучший blend — 0,71513 ROC-AUC. Это заметный прирост для соревнования, где метрика обычно растет небольшими шагами. Главный результат работы — топ-1 хакатона по целевой метрике ROC-AUC. То есть в итоге сработал весь пайплайн: EDA, feature engineering, подбор моделей, переобучение на полном train и аккуратное ансамблирование.</a:t>
            </a:r>
            <a:endParaRPr/>
          </a:p>
        </p:txBody>
      </p:sp>
      <p:sp>
        <p:nvSpPr>
          <p:cNvPr id="337" name="Google Shape;337;g3efbe63821c_16_28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fbe63821c_16_3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efbe63821c_16_3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Подведем итог по этапам. EDA помогла понять структуру данных, найти шум, drift, дубли и слабость одиночных признаков. Feature engineering дал несколько рабочих пространств признаков, а не один универсальный набор. Валидация позволила выбирать модели до сабмита и снизить риск случайного подгона. Одиночные модели дали сильный baseline, но решающим стал блендинг, потому что он объединил разные источники сигнала. Поэтому главный вывод простой: для этой задачи победила не одна модель, а полный и аккуратно собранный ML-пайплайн.</a:t>
            </a:r>
            <a:endParaRPr/>
          </a:p>
        </p:txBody>
      </p:sp>
      <p:sp>
        <p:nvSpPr>
          <p:cNvPr id="358" name="Google Shape;358;g3efbe63821c_16_3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fbe63821c_14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efbe63821c_14_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внимание, готовы ответить на Ваши вопросы!</a:t>
            </a:r>
            <a:endParaRPr/>
          </a:p>
        </p:txBody>
      </p:sp>
      <p:sp>
        <p:nvSpPr>
          <p:cNvPr id="370" name="Google Shape;370;g3efbe63821c_14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fbe63821c_18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efbe63821c_18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efbe63821c_18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D69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0" y="0"/>
            <a:ext cx="2160270" cy="5143500"/>
          </a:xfrm>
          <a:prstGeom prst="rect">
            <a:avLst/>
          </a:prstGeom>
          <a:solidFill>
            <a:srgbClr val="0B2559"/>
          </a:solidFill>
          <a:ln cap="flat" cmpd="sng" w="12700">
            <a:solidFill>
              <a:srgbClr val="0B255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6"/>
          <p:cNvSpPr/>
          <p:nvPr/>
        </p:nvSpPr>
        <p:spPr>
          <a:xfrm>
            <a:off x="2160270" y="0"/>
            <a:ext cx="27432" cy="5143500"/>
          </a:xfrm>
          <a:prstGeom prst="rect">
            <a:avLst/>
          </a:prstGeom>
          <a:solidFill>
            <a:srgbClr val="2380C3"/>
          </a:solidFill>
          <a:ln cap="flat" cmpd="sng" w="12700">
            <a:solidFill>
              <a:srgbClr val="2380C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hse_logo_white.png" id="60" name="Google Shape;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634" y="514350"/>
            <a:ext cx="582930" cy="58293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/>
          <p:nvPr/>
        </p:nvSpPr>
        <p:spPr>
          <a:xfrm>
            <a:off x="500634" y="1248156"/>
            <a:ext cx="13716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800"/>
              <a:buFont typeface="Arial"/>
              <a:buNone/>
            </a:pPr>
            <a:r>
              <a:rPr lang="ru" sz="800">
                <a:solidFill>
                  <a:srgbClr val="D6E0F0"/>
                </a:solidFill>
              </a:rPr>
              <a:t>Школа информатики, физики и технологий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2551176" y="822960"/>
            <a:ext cx="5349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D6E0F0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2537460" y="1220724"/>
            <a:ext cx="6000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ru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Прогнозирование склонности пользователя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ru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 секретному событию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2551176" y="3552444"/>
            <a:ext cx="61036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800"/>
              <a:buFont typeface="Arial"/>
              <a:buNone/>
            </a:pPr>
            <a:r>
              <a:rPr lang="ru" sz="800">
                <a:solidFill>
                  <a:srgbClr val="D6E0F0"/>
                </a:solidFill>
              </a:rPr>
              <a:t>Прикладной Анализ Данных и Искусственный Интеллект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2551176" y="3806190"/>
            <a:ext cx="600075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ru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Выполнили: Пеганов Илья, Поздеев Арсений, Сорочан Дмитрий (</a:t>
            </a:r>
            <a:r>
              <a:rPr b="1" lang="ru" sz="900">
                <a:solidFill>
                  <a:srgbClr val="FFFFFF"/>
                </a:solidFill>
              </a:rPr>
              <a:t>Команда “</a:t>
            </a:r>
            <a:r>
              <a:rPr b="1" i="0" lang="ru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r>
              <a:rPr b="1" lang="ru" sz="900">
                <a:solidFill>
                  <a:srgbClr val="FFFFFF"/>
                </a:solidFill>
              </a:rPr>
              <a:t>”</a:t>
            </a:r>
            <a:r>
              <a:rPr b="1" i="0" lang="ru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2551176" y="4066794"/>
            <a:ext cx="5897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D6E0F0"/>
                </a:solidFill>
                <a:latin typeface="Arial"/>
                <a:ea typeface="Arial"/>
                <a:cs typeface="Arial"/>
                <a:sym typeface="Arial"/>
              </a:rPr>
              <a:t>Санкт-Петербург,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72" name="Google Shape;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2/16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lang="ru" sz="2000">
                <a:solidFill>
                  <a:srgbClr val="102D69"/>
                </a:solidFill>
              </a:rPr>
              <a:t>Постановка </a:t>
            </a: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задачи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7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7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17220" y="1110996"/>
            <a:ext cx="7920900" cy="3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AutoNum type="arabicPeriod"/>
            </a:pPr>
            <a:r>
              <a:rPr b="0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Структурированные табличные данные: вектор числовых и категориальных признаков.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AutoNum type="arabicPeriod"/>
            </a:pPr>
            <a:r>
              <a:rPr b="0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Для каждого пользователя нужно предсказать склонность к секретному событию.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AutoNum type="arabicPeriod"/>
            </a:pPr>
            <a:r>
              <a:rPr b="0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На выходе нужен непрерывный score, а не жёсткий класс.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AutoNum type="arabicPeriod"/>
            </a:pPr>
            <a:r>
              <a:rPr b="0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Задача решается как бинарная классификация с ранжированием объектов.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AutoNum type="arabicPeriod"/>
            </a:pPr>
            <a:r>
              <a:rPr b="0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Целевая метрика: ROC-AUC; важен корректный порядок пользователей по вероятности события.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AutoNum type="arabicPeriod"/>
            </a:pPr>
            <a:r>
              <a:rPr b="0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Дисбаланс классов: крайне низкая доля положительного класса в обучающей выборке.</a:t>
            </a:r>
            <a:endParaRPr b="0" i="0" sz="140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84" name="Google Shape;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3/16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Данные и метрика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8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8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672084" y="1062990"/>
            <a:ext cx="15430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247 972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672084" y="1371600"/>
            <a:ext cx="15430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строк в train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2571750" y="1062990"/>
            <a:ext cx="15430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106 274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2571750" y="1371600"/>
            <a:ext cx="15430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строк в test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4471416" y="1062990"/>
            <a:ext cx="15430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1367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4471416" y="1371600"/>
            <a:ext cx="15430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признаков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6377940" y="1062990"/>
            <a:ext cx="15430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1.35%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6377940" y="1371600"/>
            <a:ext cx="15430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класс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8"/>
          <p:cNvCxnSpPr/>
          <p:nvPr/>
        </p:nvCxnSpPr>
        <p:spPr>
          <a:xfrm>
            <a:off x="562356" y="1748790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8"/>
          <p:cNvSpPr/>
          <p:nvPr/>
        </p:nvSpPr>
        <p:spPr>
          <a:xfrm>
            <a:off x="617220" y="2077974"/>
            <a:ext cx="2880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Особенности данных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617220" y="2372868"/>
            <a:ext cx="3703320" cy="1611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признаки анонимизированы, семантики колонок нет;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положительный класс редкий: около 1.35%;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одиночные признаки слабые, основной сигнал проявляется в комбинациях;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данные шумные: есть выбросы, тяжёлые хвосты и нестабильные распределения.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622292" y="2002536"/>
            <a:ext cx="3785616" cy="2091690"/>
          </a:xfrm>
          <a:prstGeom prst="roundRect">
            <a:avLst>
              <a:gd fmla="val 1803" name="adj"/>
            </a:avLst>
          </a:prstGeom>
          <a:solidFill>
            <a:srgbClr val="F4F7FC"/>
          </a:solidFill>
          <a:ln cap="flat" cmpd="sng" w="11425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4786884" y="2167128"/>
            <a:ext cx="346329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900"/>
              <a:buFont typeface="Arial"/>
              <a:buNone/>
            </a:pPr>
            <a:r>
              <a:rPr b="1" i="0" lang="ru" sz="9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Базовая проверка датафреймов: df.info()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4786884" y="2434590"/>
            <a:ext cx="3463290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ourier New"/>
              <a:buNone/>
            </a:pPr>
            <a:r>
              <a:rPr b="0" i="0" lang="ru" sz="6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Тренировочная выборка: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ourier New"/>
              <a:buNone/>
            </a:pPr>
            <a:r>
              <a:rPr b="0" i="0" lang="ru" sz="6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&lt;class pandas.core.frame.DataFrame&gt;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ourier New"/>
              <a:buNone/>
            </a:pPr>
            <a:r>
              <a:rPr b="0" i="0" lang="ru" sz="6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Int64Index: 247972 entries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ourier New"/>
              <a:buNone/>
            </a:pPr>
            <a:r>
              <a:rPr b="0" i="0" lang="ru" sz="6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Columns: 1368 entries, target to feature_1366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ourier New"/>
              <a:buNone/>
            </a:pPr>
            <a:r>
              <a:rPr b="0" i="0" lang="ru" sz="6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dtypes: float64(1361), int64(7)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ourier New"/>
              <a:buNone/>
            </a:pPr>
            <a:r>
              <a:rPr b="0" i="0" lang="ru" sz="6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memory usage: 2.5 GB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ourier New"/>
              <a:buNone/>
            </a:pPr>
            <a:r>
              <a:rPr b="0" i="0" lang="ru" sz="6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Тестовая выборка: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ourier New"/>
              <a:buNone/>
            </a:pPr>
            <a:r>
              <a:rPr b="0" i="0" lang="ru" sz="6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Int64Index: 106274 entries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ourier New"/>
              <a:buNone/>
            </a:pPr>
            <a:r>
              <a:rPr b="0" i="0" lang="ru" sz="6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Columns: 1367 entries, feature_0 to feature_1366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ourier New"/>
              <a:buNone/>
            </a:pPr>
            <a:r>
              <a:rPr b="0" i="0" lang="ru" sz="6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dtypes: float64(1360), int64(7)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Courier New"/>
              <a:buNone/>
            </a:pPr>
            <a:r>
              <a:rPr b="0" i="0" lang="ru" sz="6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memory usage: 1.1 GB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786884" y="3867912"/>
            <a:ext cx="346329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Дополнительно проверяли describe(), распределения и долю редкого класса.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110" name="Google Shape;1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4/16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EDA: базовая диагностика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19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9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617220" y="1062990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Что проверяли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651510" y="1351026"/>
            <a:ext cx="8023860" cy="336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200">
                <a:solidFill>
                  <a:srgbClr val="111827"/>
                </a:solidFill>
              </a:rPr>
              <a:t>Р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азмерности train/test и баланс таргета;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200">
                <a:solidFill>
                  <a:srgbClr val="111827"/>
                </a:solidFill>
              </a:rPr>
              <a:t>П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ропуски, типы данных и базовые статистики признаков;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200">
                <a:solidFill>
                  <a:srgbClr val="111827"/>
                </a:solidFill>
              </a:rPr>
              <a:t>К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вазиконстантные, слабые и потенциально мусорные признаки;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200">
                <a:solidFill>
                  <a:srgbClr val="111827"/>
                </a:solidFill>
              </a:rPr>
              <a:t>К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орреляции и признаки-близнецы;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200">
                <a:solidFill>
                  <a:srgbClr val="111827"/>
                </a:solidFill>
              </a:rPr>
              <a:t>С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овпадающие строки train/test как возможную утечку;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200">
                <a:solidFill>
                  <a:srgbClr val="111827"/>
                </a:solidFill>
              </a:rPr>
              <a:t>С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вязь отдельных признаков с target через корреляции, single-feature AUC и importance;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top-N наборы признаков по важности, корреляциям и combined ranking;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train/test drift: признаки со смещением распределений;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200">
                <a:solidFill>
                  <a:srgbClr val="111827"/>
                </a:solidFill>
              </a:rPr>
              <a:t>Д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олю нулей, выбросы, тяжёлые хвосты и повторяющиеся значения.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123" name="Google Shape;1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5/16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EDA: визуальная диагностика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20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0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EDA__EDA__c026_o00.png" id="129" name="Google Shape;1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7378" y="1165860"/>
            <a:ext cx="709109" cy="113842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514350" y="2455164"/>
            <a:ext cx="2455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1. Распределения top-18 признаков</a:t>
            </a:r>
            <a:r>
              <a:rPr b="0" i="0" lang="ru" sz="6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" sz="6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по классам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EDA__EDA__c030_o00.png" id="131" name="Google Shape;13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3589" y="1165860"/>
            <a:ext cx="1640246" cy="113842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/>
          <p:nvPr/>
        </p:nvSpPr>
        <p:spPr>
          <a:xfrm>
            <a:off x="3326130" y="2455164"/>
            <a:ext cx="24551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2. Scatter feature_337 × feature_16: разделимость классов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EDA__EDA__c045_o01.png" id="133" name="Google Shape;13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785" y="1165860"/>
            <a:ext cx="2137415" cy="11384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/>
          <p:nvPr/>
        </p:nvSpPr>
        <p:spPr>
          <a:xfrm>
            <a:off x="6137910" y="2455164"/>
            <a:ext cx="24551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3. Нулевые значения в строке как meta-feature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EDA__EDA__c048_o01.png" id="135" name="Google Shape;13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2591" y="2990088"/>
            <a:ext cx="2118683" cy="113842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/>
          <p:nvPr/>
        </p:nvSpPr>
        <p:spPr>
          <a:xfrm>
            <a:off x="514350" y="4279392"/>
            <a:ext cx="24551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4. Уникальные значения в строке как meta-feature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EDA__EDA__c056_o01.png" id="137" name="Google Shape;13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29127" y="2990088"/>
            <a:ext cx="2049170" cy="113842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/>
          <p:nvPr/>
        </p:nvSpPr>
        <p:spPr>
          <a:xfrm>
            <a:off x="3326130" y="4279392"/>
            <a:ext cx="24551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5. PCA: сколько компонент сохраняет дисперсию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EDA__EDA__c069_o01.png" id="139" name="Google Shape;13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14475" y="2990088"/>
            <a:ext cx="2102033" cy="113842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6137910" y="4279392"/>
            <a:ext cx="24551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6. Кумулятивная активность top-10 признаков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146" name="Google Shape;1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6/16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Feature engineering: новые датасеты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21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21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617220" y="960120"/>
            <a:ext cx="78867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Собрали несколько вариантов датасета: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630936" y="1357884"/>
            <a:ext cx="7920990" cy="3305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raw_all / all_train_fields — полный контрольный набор без агрессивной чистки;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clean dataset — очищенный baseline: убрали квазиконстанты, дубли, признаки-близнецы и явный шум;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top300 / top500 / top700 — наборы лучших признаков по importance, корреляциям и combined ranking;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stable_top300 / stable_top500 / stable_top700 — top-наборы после проверки устойчивости train/test распределений;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nodrift_top700 — признаки без сильного train/test drift;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frequency-encoded dataset — частоты значений для дискретных и категориальных колонок;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rank-transformed dataset — ранговые версии признаков для устойчивого порядка объектов;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OOF target-encoded dataset — target encoding по фолдам без прямой утечки;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peak_freq_te — peak-флаги + frequency encoding + OOF target encoding;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pca_svd_stack — PCA/SVD-компоненты и компактные stack-признаки;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linear_stack_compact — сжатый набор для линейных моделей;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lgb_top500_meta / top500_magic_meta — top500 по LGB importance + meta-features;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top500_engineered / top700_engineered — top-признаки + частотные, ранговые и статистические блоки;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stable_top700_engineered / nodrift_top700_engineered — engineered-наборы с контролем drift;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mask_svd / svd_pca — компоненты по маскам ненулевых значений и log-признакам;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AutoNum type="arabicPeriod"/>
            </a:pPr>
            <a:r>
              <a:rPr b="0" i="0" lang="ru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interaction features — простые взаимодействия сильных признаков.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159" name="Google Shape;1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7/16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Feature spaces: проверка на моделях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22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22"/>
          <p:cNvSpPr/>
          <p:nvPr/>
        </p:nvSpPr>
        <p:spPr>
          <a:xfrm>
            <a:off x="473202" y="884682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00"/>
              <a:buFont typeface="Arial"/>
              <a:buNone/>
            </a:pPr>
            <a:r>
              <a:rPr b="0" i="0" lang="ru" sz="11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Сравнение ROC-AUC для разных наборов признаков и базовых моделей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modeling__tabm_optuna__c030_o00.png" id="166" name="Google Shape;1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752" y="1336323"/>
            <a:ext cx="2795500" cy="138503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/>
          <p:nvPr/>
        </p:nvSpPr>
        <p:spPr>
          <a:xfrm>
            <a:off x="365326" y="2777844"/>
            <a:ext cx="2764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795"/>
              <a:buFont typeface="Arial"/>
              <a:buNone/>
            </a:pPr>
            <a:r>
              <a:rPr b="0" i="0" lang="ru" sz="795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TabM: качество на разных feature spaces</a:t>
            </a:r>
            <a:endParaRPr b="0" i="0" sz="79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modeling__flaml_automl_full_train__c018_o00.png" id="168" name="Google Shape;1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4153" y="2667650"/>
            <a:ext cx="2995695" cy="169321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/>
          <p:nvPr/>
        </p:nvSpPr>
        <p:spPr>
          <a:xfrm>
            <a:off x="3086659" y="4518088"/>
            <a:ext cx="29622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52"/>
              <a:buFont typeface="Arial"/>
              <a:buNone/>
            </a:pPr>
            <a:r>
              <a:rPr b="0" i="0" lang="ru" sz="852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FLAML AutoML: baseline на полном наборе признаков</a:t>
            </a:r>
            <a:endParaRPr b="0" i="0" sz="85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modeling__flaml_automl_optuna__c021_o00.png" id="170" name="Google Shape;17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850" y="1220725"/>
            <a:ext cx="2744181" cy="150945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>
            <a:off x="6180770" y="2782045"/>
            <a:ext cx="27135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780"/>
              <a:buFont typeface="Arial"/>
              <a:buNone/>
            </a:pPr>
            <a:r>
              <a:rPr b="0" i="0" lang="ru" sz="78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FLAML AutoML: clean, top-N и meta-наборы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8/16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Валидационная схема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23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3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617220" y="973836"/>
            <a:ext cx="78181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Общая логика отбора моделей и сабмитов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23"/>
          <p:cNvCxnSpPr/>
          <p:nvPr/>
        </p:nvCxnSpPr>
        <p:spPr>
          <a:xfrm>
            <a:off x="1954530" y="1865376"/>
            <a:ext cx="178308" cy="0"/>
          </a:xfrm>
          <a:prstGeom prst="straightConnector1">
            <a:avLst/>
          </a:prstGeom>
          <a:noFill/>
          <a:ln cap="flat" cmpd="sng" w="15225">
            <a:solidFill>
              <a:srgbClr val="1D4E8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23"/>
          <p:cNvCxnSpPr/>
          <p:nvPr/>
        </p:nvCxnSpPr>
        <p:spPr>
          <a:xfrm>
            <a:off x="3641598" y="1865376"/>
            <a:ext cx="178308" cy="0"/>
          </a:xfrm>
          <a:prstGeom prst="straightConnector1">
            <a:avLst/>
          </a:prstGeom>
          <a:noFill/>
          <a:ln cap="flat" cmpd="sng" w="15225">
            <a:solidFill>
              <a:srgbClr val="1D4E8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" name="Google Shape;186;p23"/>
          <p:cNvCxnSpPr/>
          <p:nvPr/>
        </p:nvCxnSpPr>
        <p:spPr>
          <a:xfrm>
            <a:off x="5328666" y="1865376"/>
            <a:ext cx="178308" cy="0"/>
          </a:xfrm>
          <a:prstGeom prst="straightConnector1">
            <a:avLst/>
          </a:prstGeom>
          <a:noFill/>
          <a:ln cap="flat" cmpd="sng" w="15225">
            <a:solidFill>
              <a:srgbClr val="1D4E8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23"/>
          <p:cNvCxnSpPr/>
          <p:nvPr/>
        </p:nvCxnSpPr>
        <p:spPr>
          <a:xfrm>
            <a:off x="7015734" y="1865376"/>
            <a:ext cx="178308" cy="0"/>
          </a:xfrm>
          <a:prstGeom prst="straightConnector1">
            <a:avLst/>
          </a:prstGeom>
          <a:noFill/>
          <a:ln cap="flat" cmpd="sng" w="15225">
            <a:solidFill>
              <a:srgbClr val="1D4E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p23"/>
          <p:cNvSpPr/>
          <p:nvPr/>
        </p:nvSpPr>
        <p:spPr>
          <a:xfrm>
            <a:off x="480060" y="1385316"/>
            <a:ext cx="1453896" cy="973836"/>
          </a:xfrm>
          <a:prstGeom prst="roundRect">
            <a:avLst>
              <a:gd fmla="val 5634" name="adj"/>
            </a:avLst>
          </a:prstGeom>
          <a:solidFill>
            <a:srgbClr val="F4F7FC"/>
          </a:solidFill>
          <a:ln cap="flat" cmpd="sng" w="12700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562356" y="1467612"/>
            <a:ext cx="260604" cy="246888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905256" y="1467612"/>
            <a:ext cx="939546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Train → Validation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855525" y="1714500"/>
            <a:ext cx="9894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стратифицированно делим train и сохраняем баланс target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2167128" y="1385316"/>
            <a:ext cx="1453896" cy="973836"/>
          </a:xfrm>
          <a:prstGeom prst="roundRect">
            <a:avLst>
              <a:gd fmla="val 5634" name="adj"/>
            </a:avLst>
          </a:prstGeom>
          <a:solidFill>
            <a:srgbClr val="F4F7FC"/>
          </a:solidFill>
          <a:ln cap="flat" cmpd="sng" w="12700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2249424" y="1467612"/>
            <a:ext cx="260604" cy="246888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2592324" y="1467612"/>
            <a:ext cx="939546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Tune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2592324" y="1714500"/>
            <a:ext cx="939546" cy="589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подбираем гиперпараметры по validation / OOF ROC-AUC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3854196" y="1385316"/>
            <a:ext cx="1453896" cy="973836"/>
          </a:xfrm>
          <a:prstGeom prst="roundRect">
            <a:avLst>
              <a:gd fmla="val 5634" name="adj"/>
            </a:avLst>
          </a:prstGeom>
          <a:solidFill>
            <a:srgbClr val="F4F7FC"/>
          </a:solidFill>
          <a:ln cap="flat" cmpd="sng" w="12700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3"/>
          <p:cNvSpPr/>
          <p:nvPr/>
        </p:nvSpPr>
        <p:spPr>
          <a:xfrm>
            <a:off x="3936492" y="1467612"/>
            <a:ext cx="260604" cy="246888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4279392" y="1467612"/>
            <a:ext cx="939546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Refit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4279392" y="1714500"/>
            <a:ext cx="939546" cy="589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фиксируем конфигурацию и обучаем модель на train + validation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5541264" y="1385316"/>
            <a:ext cx="1453896" cy="973836"/>
          </a:xfrm>
          <a:prstGeom prst="roundRect">
            <a:avLst>
              <a:gd fmla="val 5634" name="adj"/>
            </a:avLst>
          </a:prstGeom>
          <a:solidFill>
            <a:srgbClr val="F4F7FC"/>
          </a:solidFill>
          <a:ln cap="flat" cmpd="sng" w="12700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5623560" y="1467612"/>
            <a:ext cx="260604" cy="246888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966460" y="1467612"/>
            <a:ext cx="939546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Blend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5966460" y="1714500"/>
            <a:ext cx="939546" cy="589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смешиваем сильные модели, если они дают разный порядок объектов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7228332" y="1385316"/>
            <a:ext cx="1453896" cy="973836"/>
          </a:xfrm>
          <a:prstGeom prst="roundRect">
            <a:avLst>
              <a:gd fmla="val 5634" name="adj"/>
            </a:avLst>
          </a:prstGeom>
          <a:solidFill>
            <a:srgbClr val="F4F7FC"/>
          </a:solidFill>
          <a:ln cap="flat" cmpd="sng" w="12700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7310628" y="1467612"/>
            <a:ext cx="260604" cy="246888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7653528" y="1467612"/>
            <a:ext cx="939546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7653528" y="1714500"/>
            <a:ext cx="939546" cy="589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отправляем на Kaggle и фиксируем итоговый test ROC-AUC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720090" y="2983230"/>
            <a:ext cx="768096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Сначала выбирали модель и гиперпараметры на validation / OOF, не ориентируясь на test.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После выбора обучали финальную версию на train + validation, чтобы использовать максимум разметки.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Для ансамбля брали модели с разными feature spaces и разными ошибками, а не просто все подряд.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В презентации показываем только test ROC-AUC как финальную метрику.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214" name="Google Shape;2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9/16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Одиночные модели: что пробовали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24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4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1028700" y="994410"/>
            <a:ext cx="5110582" cy="217170"/>
          </a:xfrm>
          <a:prstGeom prst="rect">
            <a:avLst/>
          </a:prstGeom>
          <a:solidFill>
            <a:srgbClr val="102D6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ru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Модель / лучший вариант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6139282" y="994410"/>
            <a:ext cx="1987448" cy="217170"/>
          </a:xfrm>
          <a:prstGeom prst="rect">
            <a:avLst/>
          </a:prstGeom>
          <a:solidFill>
            <a:srgbClr val="102D6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ru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ROC-AUC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1028700" y="1211580"/>
            <a:ext cx="5110582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LightGBM, top500 engineered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6139282" y="1211580"/>
            <a:ext cx="1987448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0.69074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1028700" y="1428750"/>
            <a:ext cx="5110582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LightGBM DART, v3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6139282" y="1428750"/>
            <a:ext cx="1987448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0.68927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1028700" y="1645920"/>
            <a:ext cx="5110582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FLAML AutoML, v3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6139282" y="1645920"/>
            <a:ext cx="1987448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68439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1028700" y="1863090"/>
            <a:ext cx="5110582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XGBoost, PCA/SVD stack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6139282" y="1863090"/>
            <a:ext cx="1987448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0.68315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1028700" y="2080260"/>
            <a:ext cx="5110582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CatBoost, linear stack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6139282" y="2080260"/>
            <a:ext cx="1987448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0.68306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1028700" y="2297430"/>
            <a:ext cx="5110582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ExtraTrees, PCA/SVD stack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6139282" y="2297430"/>
            <a:ext cx="1987448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0.68290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1028700" y="2514600"/>
            <a:ext cx="5110582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HistGradientBoosting, PCA/SVD stack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6139282" y="2514600"/>
            <a:ext cx="1987448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0.67825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1028700" y="2731770"/>
            <a:ext cx="5110582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Random Forest balanced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6139282" y="2731770"/>
            <a:ext cx="1987448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0.67129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1028700" y="2948940"/>
            <a:ext cx="5110582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Logistic Regression, linear stack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6139282" y="2948940"/>
            <a:ext cx="1987448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0.66887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1028700" y="3166110"/>
            <a:ext cx="5110582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CatBoost, peak_freq_te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6139282" y="3166110"/>
            <a:ext cx="1987448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0.66065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1028700" y="3383280"/>
            <a:ext cx="5110582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TabM, magic meta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6139282" y="3383280"/>
            <a:ext cx="1987448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0.65034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1028700" y="3600450"/>
            <a:ext cx="5110582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MLP / quantile NN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6139282" y="3600450"/>
            <a:ext cx="1987448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0.62135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1028700" y="3817620"/>
            <a:ext cx="5110582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SGD Modified Huber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6139282" y="3817620"/>
            <a:ext cx="1987448" cy="21717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0.61849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1028700" y="4034790"/>
            <a:ext cx="5110582" cy="2171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CNN, top300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6139282" y="4034790"/>
            <a:ext cx="1987500" cy="21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5" lIns="325" spcFirstLastPara="1" rIns="325" wrap="square" tIns="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lang="ru" sz="700">
                <a:solidFill>
                  <a:srgbClr val="111827"/>
                </a:solidFill>
              </a:rPr>
              <a:t>61732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255" name="Google Shape;2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10/16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Модели: диагностические графики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25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5"/>
          <p:cNvSpPr/>
          <p:nvPr/>
        </p:nvSpPr>
        <p:spPr>
          <a:xfrm>
            <a:off x="473202" y="884682"/>
            <a:ext cx="8023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Матрицы ошибок на validation показывают поведение моделей при сильном дисбалансе классов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modeling__tabm_optuna__c033_o01.png" id="262" name="Google Shape;2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574" y="2039963"/>
            <a:ext cx="2551800" cy="216214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/>
          <p:nvPr/>
        </p:nvSpPr>
        <p:spPr>
          <a:xfrm>
            <a:off x="340559" y="4235797"/>
            <a:ext cx="2519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17"/>
              <a:buFont typeface="Arial"/>
              <a:buNone/>
            </a:pPr>
            <a:r>
              <a:rPr b="0" i="0" lang="ru" sz="817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TabM на top500_magic_meta, порог 0.5</a:t>
            </a:r>
            <a:endParaRPr b="0" i="0" sz="81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modeling__flaml_automl_full_train__c021_o00.png" id="264" name="Google Shape;26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01826" y="1200724"/>
            <a:ext cx="2551790" cy="216213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/>
          <p:nvPr/>
        </p:nvSpPr>
        <p:spPr>
          <a:xfrm>
            <a:off x="3317825" y="3396573"/>
            <a:ext cx="2519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17"/>
              <a:buFont typeface="Arial"/>
              <a:buNone/>
            </a:pPr>
            <a:r>
              <a:rPr b="0" i="0" lang="ru" sz="817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FLAML на полном наборе признаков, порог 0.5</a:t>
            </a:r>
            <a:endParaRPr b="0" i="0" sz="81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images_trimmed/modeling__flaml_automl_optuna__c024_o01.png" id="266" name="Google Shape;26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9075" y="2044769"/>
            <a:ext cx="2551800" cy="216214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/>
          <p:nvPr/>
        </p:nvSpPr>
        <p:spPr>
          <a:xfrm>
            <a:off x="6279094" y="4206922"/>
            <a:ext cx="2519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17"/>
              <a:buFont typeface="Arial"/>
              <a:buNone/>
            </a:pPr>
            <a:r>
              <a:rPr b="0" i="0" lang="ru" sz="817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FLAML на top500_magic_meta, порог 0.5</a:t>
            </a:r>
            <a:endParaRPr b="0" i="0" sz="81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273" name="Google Shape;2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11/16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Бленды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26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26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617220" y="1062990"/>
            <a:ext cx="3771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Идея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617220" y="1357884"/>
            <a:ext cx="3737610" cy="1817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Бленд — это взвешенное смешивание предсказаний нескольких моделей или сабмитов. Одиночные модели ловят разные части сигнала: бустинги лучше работают с нелинейностями, линейные модели и meta-признаки дают другой порядок объектов. Поэтому мы смешивали probability- и rank-предсказания.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4834890" y="1062990"/>
            <a:ext cx="3771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Как подбирали веса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4834890" y="1357884"/>
            <a:ext cx="3531870" cy="2091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equal blend как baseline;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AUC-weighted blend;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200">
                <a:solidFill>
                  <a:srgbClr val="111827"/>
                </a:solidFill>
              </a:rPr>
              <a:t>Р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учные веса;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random / greedy search по OOF;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logistic stacker на OOF-прогнозах;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AutoNum type="arabicPeriod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power / overdrive blends для усиления сильных моделей.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p26"/>
          <p:cNvCxnSpPr/>
          <p:nvPr/>
        </p:nvCxnSpPr>
        <p:spPr>
          <a:xfrm>
            <a:off x="4560570" y="1131570"/>
            <a:ext cx="0" cy="2674620"/>
          </a:xfrm>
          <a:prstGeom prst="straightConnector1">
            <a:avLst/>
          </a:prstGeom>
          <a:noFill/>
          <a:ln cap="flat" cmpd="sng" w="114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289" name="Google Shape;2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12/16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Бленды: результаты на test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27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27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534924" y="1200150"/>
            <a:ext cx="2739771" cy="347186"/>
          </a:xfrm>
          <a:prstGeom prst="rect">
            <a:avLst/>
          </a:prstGeom>
          <a:solidFill>
            <a:srgbClr val="102D6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ru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Бленд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3274695" y="1200150"/>
            <a:ext cx="1369885" cy="347186"/>
          </a:xfrm>
          <a:prstGeom prst="rect">
            <a:avLst/>
          </a:prstGeom>
          <a:solidFill>
            <a:srgbClr val="102D6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ru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ROC-AUC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4644581" y="1200150"/>
            <a:ext cx="3948494" cy="347186"/>
          </a:xfrm>
          <a:prstGeom prst="rect">
            <a:avLst/>
          </a:prstGeom>
          <a:solidFill>
            <a:srgbClr val="102D6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ru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Комментарий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534924" y="1547336"/>
            <a:ext cx="2739771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Overdrive blend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3274695" y="1547336"/>
            <a:ext cx="1369885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0.71513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4644581" y="1547336"/>
            <a:ext cx="3948494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ru" sz="800">
                <a:solidFill>
                  <a:srgbClr val="111827"/>
                </a:solidFill>
              </a:rPr>
              <a:t>Л</a:t>
            </a: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учший результат; усиление сильного core + FLAML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534924" y="1894523"/>
            <a:ext cx="2739771" cy="34718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Surgical blend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3274695" y="1894523"/>
            <a:ext cx="1369885" cy="34718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0.71506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4644581" y="1894523"/>
            <a:ext cx="3948494" cy="34718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ru" sz="800">
                <a:solidFill>
                  <a:srgbClr val="111827"/>
                </a:solidFill>
              </a:rPr>
              <a:t>Т</a:t>
            </a: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онкая подстройка веса FLAML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534924" y="2241709"/>
            <a:ext cx="2739771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Tuning blend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3274695" y="2241709"/>
            <a:ext cx="1369885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0.71504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4644581" y="2241709"/>
            <a:ext cx="3948494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grid по power-параметру и весу FLAML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534924" y="2588895"/>
            <a:ext cx="2739771" cy="34718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Upgrade loop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3274695" y="2588895"/>
            <a:ext cx="1369885" cy="34718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0.71358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4644581" y="2588895"/>
            <a:ext cx="3948494" cy="34718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ru" sz="800">
                <a:solidFill>
                  <a:srgbClr val="111827"/>
                </a:solidFill>
              </a:rPr>
              <a:t>И</a:t>
            </a: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теративное добавление полезных моделей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534924" y="2936081"/>
            <a:ext cx="2739771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Mass blend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3274695" y="2936081"/>
            <a:ext cx="1369885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0.70947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4644581" y="2936081"/>
            <a:ext cx="3948494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ru" sz="800">
                <a:solidFill>
                  <a:srgbClr val="111827"/>
                </a:solidFill>
              </a:rPr>
              <a:t>С</a:t>
            </a: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мешивание 9 моделей с power-весами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534924" y="3283268"/>
            <a:ext cx="2739771" cy="34718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Early LGBM-heavy blend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3274695" y="3283268"/>
            <a:ext cx="1369885" cy="34718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0.70878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4644581" y="3283268"/>
            <a:ext cx="3948494" cy="34718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ru" sz="800">
                <a:solidFill>
                  <a:srgbClr val="111827"/>
                </a:solidFill>
              </a:rPr>
              <a:t>Р</a:t>
            </a: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анний сильный baseline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534924" y="3630454"/>
            <a:ext cx="2739771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Focused blend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3274695" y="3630454"/>
            <a:ext cx="1369885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0.69624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4644581" y="3630454"/>
            <a:ext cx="3948494" cy="347186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ru" sz="800">
                <a:solidFill>
                  <a:srgbClr val="111827"/>
                </a:solidFill>
              </a:rPr>
              <a:t>Результат не самого удачного бленда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324" name="Google Shape;32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8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13/16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Бленды: эволюция качества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28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28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5705856" y="1179576"/>
            <a:ext cx="2914650" cy="3051810"/>
          </a:xfrm>
          <a:prstGeom prst="roundRect">
            <a:avLst>
              <a:gd fmla="val 1412" name="adj"/>
            </a:avLst>
          </a:prstGeom>
          <a:solidFill>
            <a:srgbClr val="F4F7FC"/>
          </a:solidFill>
          <a:ln cap="flat" cmpd="sng" w="11425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8"/>
          <p:cNvSpPr/>
          <p:nvPr/>
        </p:nvSpPr>
        <p:spPr>
          <a:xfrm>
            <a:off x="5897880" y="137160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Как читать график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5932170" y="1714500"/>
            <a:ext cx="2503170" cy="1817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71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AutoNum type="arabicPeriod"/>
            </a:pPr>
            <a:r>
              <a:rPr b="0" i="0" lang="ru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900">
                <a:solidFill>
                  <a:srgbClr val="111827"/>
                </a:solidFill>
              </a:rPr>
              <a:t>К</a:t>
            </a:r>
            <a:r>
              <a:rPr b="0" i="0" lang="ru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аждый столбец — отдельный вариант модели или бленда;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AutoNum type="arabicPeriod"/>
            </a:pPr>
            <a:r>
              <a:rPr b="0" i="0" lang="ru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900">
                <a:solidFill>
                  <a:srgbClr val="111827"/>
                </a:solidFill>
              </a:rPr>
              <a:t>Р</a:t>
            </a:r>
            <a:r>
              <a:rPr b="0" i="0" lang="ru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 оси Y отложен test ROC-AUC; чем выше, тем лучше ранжирование;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AutoNum type="arabicPeriod"/>
            </a:pPr>
            <a:r>
              <a:rPr b="0" i="0" lang="ru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лучший результат дал Overdrive blend: 0.71513 ROC-AUC.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50" y="1187958"/>
            <a:ext cx="5069322" cy="3542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339" name="Google Shape;3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9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14/16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Итог на тесте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29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29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685750" y="1263399"/>
            <a:ext cx="2634900" cy="436200"/>
          </a:xfrm>
          <a:prstGeom prst="rect">
            <a:avLst/>
          </a:prstGeom>
          <a:solidFill>
            <a:srgbClr val="102D6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Подход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3320593" y="1263399"/>
            <a:ext cx="1549800" cy="435900"/>
          </a:xfrm>
          <a:prstGeom prst="rect">
            <a:avLst/>
          </a:prstGeom>
          <a:solidFill>
            <a:srgbClr val="102D6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ROC-AUC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4870500" y="1263399"/>
            <a:ext cx="3564900" cy="435900"/>
          </a:xfrm>
          <a:prstGeom prst="rect">
            <a:avLst/>
          </a:prstGeom>
          <a:solidFill>
            <a:srgbClr val="102D6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Что это значит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685750" y="1699478"/>
            <a:ext cx="2634900" cy="43620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Лучшая одиночная модель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3320593" y="1699478"/>
            <a:ext cx="1549800" cy="43620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0.69074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4870500" y="1699478"/>
            <a:ext cx="3564900" cy="43620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LightGBM на top500 engineered features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685750" y="2135556"/>
            <a:ext cx="2634900" cy="43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Лучший blend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3320593" y="2135556"/>
            <a:ext cx="1549800" cy="43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0.71513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4870500" y="2135556"/>
            <a:ext cx="3564900" cy="43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overdrive blend с небольшой FLAML-добавкой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720090" y="3394710"/>
            <a:ext cx="7680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Главный результат: топ-1 хакатона по целевой метрике ROC-AUC.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360" name="Google Shape;36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0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15/16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30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30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720100" y="1048574"/>
            <a:ext cx="76467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1" lang="ru" sz="1100">
                <a:solidFill>
                  <a:srgbClr val="111827"/>
                </a:solidFill>
              </a:rPr>
              <a:t>Взят топ-1 хакатона.</a:t>
            </a: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EDA сработала как фильтр качества: нашли шум, дубли, drift, слабость одиночных признаков и точки для отбора.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Feature engineering дал несколько рабочих датасетов, а не один набор: frequency/rank, OOF target encoding, PCA/SVD, meta-features и interaction-блоки.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Валидация помогла выбирать модели и гиперпараметры до сабмита, а финальные решения обучались на train + validation.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Одиночные модели дали сильный baseline: лучший LightGBM получил 0.69074 ROC-AUC на test.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Блендинг стал решающим этапом: разные модели и feature spaces подняли результат до 0.71513 ROC-AUC.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AutoNum type="arabicPeriod"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Итоговый пайплайн получился воспроизводимым: его можно расширять новыми датасетами, моделями и аккуратными blend-стратегиями.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D69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1"/>
          <p:cNvSpPr/>
          <p:nvPr/>
        </p:nvSpPr>
        <p:spPr>
          <a:xfrm>
            <a:off x="0" y="0"/>
            <a:ext cx="2160300" cy="5143500"/>
          </a:xfrm>
          <a:prstGeom prst="rect">
            <a:avLst/>
          </a:prstGeom>
          <a:solidFill>
            <a:srgbClr val="0B2559"/>
          </a:solidFill>
          <a:ln cap="flat" cmpd="sng" w="12700">
            <a:solidFill>
              <a:srgbClr val="0B255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1"/>
          <p:cNvSpPr/>
          <p:nvPr/>
        </p:nvSpPr>
        <p:spPr>
          <a:xfrm>
            <a:off x="2160270" y="0"/>
            <a:ext cx="27300" cy="5143500"/>
          </a:xfrm>
          <a:prstGeom prst="rect">
            <a:avLst/>
          </a:prstGeom>
          <a:solidFill>
            <a:srgbClr val="2380C3"/>
          </a:solidFill>
          <a:ln cap="flat" cmpd="sng" w="12700">
            <a:solidFill>
              <a:srgbClr val="2380C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hse_logo_white.png" id="374" name="Google Shape;3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634" y="514350"/>
            <a:ext cx="582930" cy="58293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/>
          <p:nvPr/>
        </p:nvSpPr>
        <p:spPr>
          <a:xfrm>
            <a:off x="500634" y="1248156"/>
            <a:ext cx="13716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800"/>
              <a:buFont typeface="Arial"/>
              <a:buNone/>
            </a:pPr>
            <a:r>
              <a:rPr lang="ru" sz="800">
                <a:solidFill>
                  <a:srgbClr val="D6E0F0"/>
                </a:solidFill>
              </a:rPr>
              <a:t>Школа информатики, физики и технологий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2551176" y="822960"/>
            <a:ext cx="5349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D6E0F0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2537460" y="1220724"/>
            <a:ext cx="6000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ru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Прогнозирование склонности пользователя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ru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 секретному событию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2551176" y="3552444"/>
            <a:ext cx="6103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800"/>
              <a:buFont typeface="Arial"/>
              <a:buNone/>
            </a:pPr>
            <a:r>
              <a:rPr lang="ru" sz="800">
                <a:solidFill>
                  <a:srgbClr val="D6E0F0"/>
                </a:solidFill>
              </a:rPr>
              <a:t>Прикладной Анализ Данных и Искусственный Интеллект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2551176" y="3806190"/>
            <a:ext cx="6000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ru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Выполнили: Пеганов Илья, Поздеев Арсений, Сорочан Дмитрий (</a:t>
            </a:r>
            <a:r>
              <a:rPr b="1" lang="ru" sz="900">
                <a:solidFill>
                  <a:srgbClr val="FFFFFF"/>
                </a:solidFill>
              </a:rPr>
              <a:t>Команда “</a:t>
            </a:r>
            <a:r>
              <a:rPr b="1" i="0" lang="ru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r>
              <a:rPr b="1" lang="ru" sz="900">
                <a:solidFill>
                  <a:srgbClr val="FFFFFF"/>
                </a:solidFill>
              </a:rPr>
              <a:t>”</a:t>
            </a:r>
            <a:r>
              <a:rPr b="1" i="0" lang="ru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1"/>
          <p:cNvSpPr/>
          <p:nvPr/>
        </p:nvSpPr>
        <p:spPr>
          <a:xfrm>
            <a:off x="2551176" y="4066794"/>
            <a:ext cx="5898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D6E0F0"/>
                </a:solidFill>
                <a:latin typeface="Arial"/>
                <a:ea typeface="Arial"/>
                <a:cs typeface="Arial"/>
                <a:sym typeface="Arial"/>
              </a:rPr>
              <a:t>Санкт-Петербург,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02D69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"/>
          <p:cNvSpPr/>
          <p:nvPr/>
        </p:nvSpPr>
        <p:spPr>
          <a:xfrm>
            <a:off x="0" y="0"/>
            <a:ext cx="2160270" cy="5143500"/>
          </a:xfrm>
          <a:prstGeom prst="rect">
            <a:avLst/>
          </a:prstGeom>
          <a:solidFill>
            <a:srgbClr val="0B2559"/>
          </a:solidFill>
          <a:ln cap="flat" cmpd="sng" w="12700">
            <a:solidFill>
              <a:srgbClr val="0B255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2"/>
          <p:cNvSpPr/>
          <p:nvPr/>
        </p:nvSpPr>
        <p:spPr>
          <a:xfrm>
            <a:off x="2160270" y="0"/>
            <a:ext cx="27432" cy="5143500"/>
          </a:xfrm>
          <a:prstGeom prst="rect">
            <a:avLst/>
          </a:prstGeom>
          <a:solidFill>
            <a:srgbClr val="2380C3"/>
          </a:solidFill>
          <a:ln cap="flat" cmpd="sng" w="12700">
            <a:solidFill>
              <a:srgbClr val="2380C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hse_logo_white.png" id="388" name="Google Shape;3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634" y="514350"/>
            <a:ext cx="582930" cy="58293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2"/>
          <p:cNvSpPr/>
          <p:nvPr/>
        </p:nvSpPr>
        <p:spPr>
          <a:xfrm>
            <a:off x="500634" y="1248156"/>
            <a:ext cx="13716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800"/>
              <a:buFont typeface="Arial"/>
              <a:buNone/>
            </a:pPr>
            <a:r>
              <a:rPr lang="ru" sz="800">
                <a:solidFill>
                  <a:srgbClr val="D6E0F0"/>
                </a:solidFill>
              </a:rPr>
              <a:t>Школа информатики, физики и технологий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2551176" y="822960"/>
            <a:ext cx="5349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A"/>
              </a:buClr>
              <a:buSzPts val="1400"/>
              <a:buFont typeface="Arial"/>
              <a:buNone/>
            </a:pPr>
            <a:r>
              <a:rPr b="0" lang="ru" sz="1400">
                <a:solidFill>
                  <a:srgbClr val="E6EEFA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2537460" y="1268730"/>
            <a:ext cx="600075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Репозиторий проекта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2551176" y="3552444"/>
            <a:ext cx="61036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2551176" y="4149090"/>
            <a:ext cx="52120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A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E6EEFA"/>
                </a:solidFill>
                <a:latin typeface="Arial"/>
                <a:ea typeface="Arial"/>
                <a:cs typeface="Arial"/>
                <a:sym typeface="Arial"/>
              </a:rPr>
              <a:t>github.com/medlopi/ml-project-adaai_VK_predict_hackathon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2"/>
          <p:cNvSpPr/>
          <p:nvPr/>
        </p:nvSpPr>
        <p:spPr>
          <a:xfrm>
            <a:off x="2551176" y="4423410"/>
            <a:ext cx="4457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CEE"/>
              </a:buClr>
              <a:buSzPts val="1100"/>
              <a:buFont typeface="Arial"/>
              <a:buNone/>
            </a:pPr>
            <a:r>
              <a:rPr b="0" lang="ru" sz="1100">
                <a:solidFill>
                  <a:srgbClr val="D2DCEE"/>
                </a:solidFill>
                <a:latin typeface="Arial"/>
                <a:ea typeface="Arial"/>
                <a:cs typeface="Arial"/>
                <a:sym typeface="Arial"/>
              </a:rPr>
              <a:t>Фанта с хлебом · Санкт-Петербург,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3353550" y="1783122"/>
            <a:ext cx="1899600" cy="189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po_qr_highres.png" id="396" name="Google Shape;39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3252" y="1892863"/>
            <a:ext cx="1680209" cy="1680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