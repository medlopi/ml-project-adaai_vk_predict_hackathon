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12192000" cy="6858000"/>
  <p:embeddedFontLst>
    <p:embeddedFont>
      <p:font typeface="Helvetica Neue" panose="02000503000000020004" pitchFamily="2" charset="0"/>
      <p:regular r:id="rId18"/>
      <p:bold r:id="rId19"/>
      <p:italic r:id="rId20"/>
      <p:boldItalic r:id="rId21"/>
    </p:embeddedFont>
    <p:embeddedFont>
      <p:font typeface="Trebuchet MS" panose="020B0703020202090204" pitchFamily="34"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heOE+X4bE8sZmhOdNxlrS6rAZ3C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D81CE6-B62D-4A4B-B2EB-DFE3472FCBB5}">
  <a:tblStyle styleId="{8BD81CE6-B62D-4A4B-B2EB-DFE3472FCBB5}"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97" d="100"/>
          <a:sy n="97" d="100"/>
        </p:scale>
        <p:origin x="216" y="688"/>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6" Type="http://customschemas.google.com/relationships/presentationmetadata" Target="meta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На титульном слайде кратко обозначаем контекст проекта. Это соревнование VK Predict CMC Hackathon: табличная задача бинарной классификации на анонимизированных данных. Нам нужно было предсказывать склонность пользователя к секретному событию. Важный момент: мы не интерпретировали задачу как выбор порога и выдачу класса 0 или 1. Для leaderboard нужна ранжирующая модель, то есть непрерывный score: чем выше score, тем выше предполагаемая вероятность события. Дальше я расскажу пайплайн: сначала постановка и EDA, потом признаки, одиночные модели, бленды и итоговые результаты на private test.</a:t>
            </a:r>
          </a:p>
        </p:txBody>
      </p:sp>
      <p:sp>
        <p:nvSpPr>
          <p:cNvPr id="44" name="Google Shape;44;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Формально для каждого объекта, то есть пользователя, нужно выдать score склонности к событию. Данные полностью анонимизированы, поэтому нельзя было опираться на бизнес-смысл колонок: мы не знаем, что именно означает конкретный признак. Еще одна важная особенность — сильный дисбаланс: положительный класс около полутора процентов. Поэтому accuracy здесь практически бесполезна, а основной фокус был на ROC-AUC и качестве ранжирования. По первым экспериментам стало понятно, что один-два признака задачу не решают: сигнал слабый и проявляется скорее через комбинации признаков.</a:t>
            </a:r>
          </a:p>
        </p:txBody>
      </p:sp>
      <p:sp>
        <p:nvSpPr>
          <p:cNvPr id="56" name="Google Shape;56;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Здесь основные параметры данных. В train почти 248 тысяч строк, в test около 106 тысяч, признаков 1367. Метрика — ROC-AUC. Мы трактовали ROC-AUC как проверку ранжирования: насколько модель ставит положительные объекты выше отрицательных. Поэтому в пайплайне мы оптимизировали не конкретный threshold, а устойчивые вероятностные или rank-предсказания. Это повлияло и на финальный этап: для блендов мы отдельно пробовали смешивание вероятностей и смешивание рангов, потому что для AUC абсолютная калибровка score не всегда так важна, как порядок объектов.</a:t>
            </a:r>
          </a:p>
        </p:txBody>
      </p:sp>
      <p:sp>
        <p:nvSpPr>
          <p:cNvPr id="67" name="Google Shape;67;p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Первый блок EDA был техническим. Мы проверили размерности train и test, баланс таргета, типы данных, наличие пропусков, квазиконстантные признаки и сильно похожие колонки. Явных NaN не было, но были признаки, которые почти не менялись, поэтому часть мусорных колонок убрали. Также нашли группы близких признаков, где информация сильно дублировалась. Отдельно проверяли совпадающие строки между train и test: такие совпадения могут выглядеть как утечка, но в нашем случае это не заменяло нормальное моделирование, поэтому мы не строили решение только на этом.</a:t>
            </a:r>
          </a:p>
        </p:txBody>
      </p:sp>
      <p:sp>
        <p:nvSpPr>
          <p:cNvPr id="78" name="Google Shape;78;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Дальше смотрели структуру признаков. Из-за анонимизации мы не могли сказать, что именно означает каждая колонка, но по распределениям видно, что часть признаков ведет себя как дискретные счетчики, часть — как плотные непрерывные величины. У многих признаков много нулей, у сильных фичей часто есть тяжелые хвосты и выбросы. Поэтому простой линейный correlation-based selection оказался недостаточным. Мы сделали вывод, что надо строить несколько feature spaces и проверять их через модели, потому что разные алгоритмы могут по-разному использовать один и тот же слабый сигнал.</a:t>
            </a:r>
          </a:p>
        </p:txBody>
      </p:sp>
      <p:sp>
        <p:nvSpPr>
          <p:cNvPr id="88" name="Google Shape;88;p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В feature engineering мы добавляли признаки нескольких типов. Во-первых, frequency encoding: для анонимных дискретных значений частота сама по себе может быть сигналом. Во-вторых, rank-преобразования, потому что они устойчивее к масштабу и выбросам. В-третьих, OOF target encoding, чтобы не протащить прямую утечку таргета. Также делали PCA и SVD-компоненты, компактные stack-признаки и meta-features из OOF-предсказаний. Важная идея: мы не искали один идеальный набор. Мы оставляли несколько наборов, потому что для ансамбля полезно, когда модели ошибаются по-разному.</a:t>
            </a:r>
          </a:p>
        </p:txBody>
      </p:sp>
      <p:sp>
        <p:nvSpPr>
          <p:cNvPr id="101" name="Google Shape;101;p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Валидацию строили вокруг стратифицированных фолдов и OOF-предсказаний. Модель обучается на части фолдов, а предсказывает на отложенном фолде, поэтому для каждого train-объекта получается prediction, сделанный моделью, которая этот объект не видела. Это особенно важно для stacker-ов и target encoding. При этом в процессе мы обнаружили, что старая локальная схема давала завышенные значения около 0.71 и содержала утечку. Поэтому в финальной интерпретации эти числа не используем как абсолютное качество, а смотрим на private/public leaderboard и на относительную устойчивость кандидатов.</a:t>
            </a:r>
          </a:p>
        </p:txBody>
      </p:sp>
      <p:sp>
        <p:nvSpPr>
          <p:cNvPr id="111" name="Google Shape;111;p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На этом слайде — реальные leaderboard-метрики одиночных моделей. Лучшим одиночным решением оказался LightGBM на top500 engineered features: 0.69074 private. Близко к нему LightGBM DART: 0.68889. Сильным оказался и FLAML AutoML, у него 0.68439 private и при этом хороший public. XGBoost, CatBoost, ExtraTrees тоже дают сопоставимые результаты, но не пробивают лучший LightGBM. Главный вывод: одиночные модели упираются примерно в район 0.68–0.69 private, поэтому дальше логично искать прирост не только настройкой одной модели, а разнообразием и ансамблированием.</a:t>
            </a:r>
          </a:p>
        </p:txBody>
      </p:sp>
      <p:sp>
        <p:nvSpPr>
          <p:cNvPr id="121" name="Google Shape;121;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Здесь продолжение по одиночным моделям. Мы пробовали разные варианты LightGBM, CatBoost, линейные модели, ExtraTrees, MLP и SGD. Это важно показать, потому что мы не просто взяли один бустинг и сразу блендили его с самим собой. Были и более слабые решения: например MLP quantile и SGD modified huber заметно ниже по private score. Линейные модели тоже не стали основными, но их можно использовать как источник diversity. В итоге стало понятно, что сильнее всего работают бустинги, но для финального решения полезны разные feature spaces и разные типы ошибок.</a:t>
            </a:r>
          </a:p>
        </p:txBody>
      </p:sp>
      <p:sp>
        <p:nvSpPr>
          <p:cNvPr id="132" name="Google Shape;132;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После одиночных моделей перешли к блендам. Мотивация простая: разные алгоритмы и разные feature spaces ловят разные куски сигнала. CatBoost может лучше работать с одним типом признаков, LightGBM — с другим, XGBoost и линейные модели добавляют другие ошибки. Мы пробовали equal blend как baseline, AUC-weighted blend, ручные веса, random search по весам и logistic stacker на OOF-прогнозах. Отдельно проверяли probability blending и rank blending. Для AUC rank-подход иногда полезен, потому что он фокусируется на порядке объектов, а не на масштабе вероятностей.</a:t>
            </a:r>
          </a:p>
        </p:txBody>
      </p:sp>
      <p:sp>
        <p:nvSpPr>
          <p:cNvPr id="142" name="Google Shape;142;p1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Здесь уже не локальные завышенные метрики, а реальные leaderboard-результаты по блендам и финальным комбинациям. Видно, что простые OOF-бленды и stacker-ы сами по себе дают около 0.685–0.689 private. А финальные комбинации, где смешивались наиболее устойчивые кандидаты, поднимаются примерно до 0.704 private. Лучший private среди показанных — 0.70393. При этом есть несколько очень близких вариантов, что хорошо: результат не выглядит как один случайный lucky submit. Мы также смотрим на public, чтобы не выбрать вариант, который резко просел на другой части теста.</a:t>
            </a:r>
          </a:p>
        </p:txBody>
      </p:sp>
      <p:sp>
        <p:nvSpPr>
          <p:cNvPr id="156" name="Google Shape;156;p1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Сводный итог по private test. Лучший одиночный submit — 0.69074 ROC-AUC. Лучшие stacker/blend до финальных комбинаций были около 0.689. А финальная группа комбинаций дает от 0.70340 до 0.70393 private. Прирост к лучшей одиночной модели составляет примерно 0.013 ROC-AUC. Для такой табличной задачи с анонимными признаками это заметный прирост. Важно, что он получился не за счет одного магического приема, а за счет совокупности: feature engineering, разных моделей, OOF-прогнозов и аккуратного смешивания устойчивых кандидатов.</a:t>
            </a:r>
          </a:p>
        </p:txBody>
      </p:sp>
      <p:sp>
        <p:nvSpPr>
          <p:cNvPr id="169" name="Google Shape;169;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Если резюмировать, что сработало: сильные бустинги на разных наборах признаков, target encoding и meta-features без прямой утечки, drift-aware варианты признаков, а также probability и rank blending. Что не дало устойчивого прироста: ставка на один лучший датасет, нейросети без серьезной регуляризации и агрессивный подбор по public score. Последний пункт особенно важен: public score в соревновании может быть шумным ориентиром, поэтому мы старались смотреть на стабильность нескольких кандидатов, а не выбирать решение только потому, что оно один раз лучше совпало с public.</a:t>
            </a:r>
          </a:p>
        </p:txBody>
      </p:sp>
      <p:sp>
        <p:nvSpPr>
          <p:cNvPr id="179" name="Google Shape;179;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Финальный вывод такой. Мы построили полный ML-пайплайн: от EDA и очистки признаков до feature engineering, обучения одиночных моделей и ансамблирования. EDA показал, что задача сложная: классы сильно несбалансированы, а признаки анонимны и по отдельности слабые. Лучший одиночный submit дал 0.69074 private ROC-AUC. Финальные комбинации подняли результат до 0.70393. Основной вклад, на наш взгляд, дали не отдельная модель или один трюк, а системный подход: несколько пространств признаков, разнородные модели и аккуратное сравнение кандидатов по тестовым score.</a:t>
            </a:r>
          </a:p>
        </p:txBody>
      </p:sp>
      <p:sp>
        <p:nvSpPr>
          <p:cNvPr id="189" name="Google Shape;189;p1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На этом все. Вопросы можно обсуждать по трем направлениям: как именно строились feature spaces, как контролировалась утечка в OOF-схеме, и как выбирались финальные комбинации для отправки. К реальной защите можно дополнительно сверить все leaderboard-значения с финальными CSV и, если нужно, заменить временные названия final_combo на реальные имена файлов submission. Спасибо за внимание.</a:t>
            </a:r>
          </a:p>
        </p:txBody>
      </p:sp>
      <p:sp>
        <p:nvSpPr>
          <p:cNvPr id="198" name="Google Shape;198;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obj">
  <p:cSld name="OBJECT">
    <p:bg>
      <p:bgPr>
        <a:solidFill>
          <a:schemeClr val="lt1"/>
        </a:solidFill>
        <a:effectLst/>
      </p:bgPr>
    </p:bg>
    <p:spTree>
      <p:nvGrpSpPr>
        <p:cNvPr id="1" name="Shape 14"/>
        <p:cNvGrpSpPr/>
        <p:nvPr/>
      </p:nvGrpSpPr>
      <p:grpSpPr>
        <a:xfrm>
          <a:off x="0" y="0"/>
          <a:ext cx="0" cy="0"/>
          <a:chOff x="0" y="0"/>
          <a:chExt cx="0" cy="0"/>
        </a:xfrm>
      </p:grpSpPr>
      <p:sp>
        <p:nvSpPr>
          <p:cNvPr id="15" name="Google Shape;15;p1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1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8"/>
        <p:cNvGrpSpPr/>
        <p:nvPr/>
      </p:nvGrpSpPr>
      <p:grpSpPr>
        <a:xfrm>
          <a:off x="0" y="0"/>
          <a:ext cx="0" cy="0"/>
          <a:chOff x="0" y="0"/>
          <a:chExt cx="0" cy="0"/>
        </a:xfrm>
      </p:grpSpPr>
      <p:sp>
        <p:nvSpPr>
          <p:cNvPr id="19" name="Google Shape;19;p18"/>
          <p:cNvSpPr txBox="1">
            <a:spLocks noGrp="1"/>
          </p:cNvSpPr>
          <p:nvPr>
            <p:ph type="title"/>
          </p:nvPr>
        </p:nvSpPr>
        <p:spPr>
          <a:xfrm>
            <a:off x="10397500" y="484018"/>
            <a:ext cx="730250" cy="3606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000" b="0" i="0">
                <a:solidFill>
                  <a:srgbClr val="0F2C68"/>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8"/>
          <p:cNvSpPr txBox="1">
            <a:spLocks noGrp="1"/>
          </p:cNvSpPr>
          <p:nvPr>
            <p:ph type="body" idx="1"/>
          </p:nvPr>
        </p:nvSpPr>
        <p:spPr>
          <a:xfrm>
            <a:off x="1420170" y="2110702"/>
            <a:ext cx="9230360" cy="21463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 name="Google Shape;21;p18"/>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
        <p:cNvGrpSpPr/>
        <p:nvPr/>
      </p:nvGrpSpPr>
      <p:grpSpPr>
        <a:xfrm>
          <a:off x="0" y="0"/>
          <a:ext cx="0" cy="0"/>
          <a:chOff x="0" y="0"/>
          <a:chExt cx="0" cy="0"/>
        </a:xfrm>
      </p:grpSpPr>
      <p:sp>
        <p:nvSpPr>
          <p:cNvPr id="25" name="Google Shape;25;p19"/>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000" b="0" i="0">
                <a:solidFill>
                  <a:srgbClr val="0F2C68"/>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9"/>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9"/>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9"/>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20"/>
          <p:cNvSpPr txBox="1">
            <a:spLocks noGrp="1"/>
          </p:cNvSpPr>
          <p:nvPr>
            <p:ph type="title"/>
          </p:nvPr>
        </p:nvSpPr>
        <p:spPr>
          <a:xfrm>
            <a:off x="10397500" y="484018"/>
            <a:ext cx="730250" cy="3606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000" b="0" i="0">
                <a:solidFill>
                  <a:srgbClr val="0F2C68"/>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20"/>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20"/>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10397500" y="484018"/>
            <a:ext cx="730250" cy="3606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000" b="0" i="0">
                <a:solidFill>
                  <a:srgbClr val="0F2C68"/>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2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6"/>
          <p:cNvPicPr preferRelativeResize="0"/>
          <p:nvPr/>
        </p:nvPicPr>
        <p:blipFill rotWithShape="1">
          <a:blip r:embed="rId7">
            <a:alphaModFix/>
          </a:blip>
          <a:srcRect/>
          <a:stretch/>
        </p:blipFill>
        <p:spPr>
          <a:xfrm>
            <a:off x="0" y="0"/>
            <a:ext cx="12192000" cy="6858000"/>
          </a:xfrm>
          <a:prstGeom prst="rect">
            <a:avLst/>
          </a:prstGeom>
          <a:noFill/>
          <a:ln>
            <a:noFill/>
          </a:ln>
        </p:spPr>
      </p:pic>
      <p:pic>
        <p:nvPicPr>
          <p:cNvPr id="7" name="Google Shape;7;p16"/>
          <p:cNvPicPr preferRelativeResize="0"/>
          <p:nvPr/>
        </p:nvPicPr>
        <p:blipFill rotWithShape="1">
          <a:blip r:embed="rId8">
            <a:alphaModFix/>
          </a:blip>
          <a:srcRect/>
          <a:stretch/>
        </p:blipFill>
        <p:spPr>
          <a:xfrm>
            <a:off x="517199" y="464363"/>
            <a:ext cx="448275" cy="448275"/>
          </a:xfrm>
          <a:prstGeom prst="rect">
            <a:avLst/>
          </a:prstGeom>
          <a:noFill/>
          <a:ln>
            <a:noFill/>
          </a:ln>
        </p:spPr>
      </p:pic>
      <p:sp>
        <p:nvSpPr>
          <p:cNvPr id="8" name="Google Shape;8;p16"/>
          <p:cNvSpPr/>
          <p:nvPr/>
        </p:nvSpPr>
        <p:spPr>
          <a:xfrm>
            <a:off x="3298685" y="464362"/>
            <a:ext cx="8345805" cy="586740"/>
          </a:xfrm>
          <a:custGeom>
            <a:avLst/>
            <a:gdLst/>
            <a:ahLst/>
            <a:cxnLst/>
            <a:rect l="l" t="t" r="r" b="b"/>
            <a:pathLst>
              <a:path w="8345805" h="586740" extrusionOk="0">
                <a:moveTo>
                  <a:pt x="0" y="0"/>
                </a:moveTo>
                <a:lnTo>
                  <a:pt x="0" y="586259"/>
                </a:lnTo>
              </a:path>
              <a:path w="8345805" h="586740" extrusionOk="0">
                <a:moveTo>
                  <a:pt x="2800729" y="0"/>
                </a:moveTo>
                <a:lnTo>
                  <a:pt x="2800729" y="586259"/>
                </a:lnTo>
              </a:path>
              <a:path w="8345805" h="586740" extrusionOk="0">
                <a:moveTo>
                  <a:pt x="6978395" y="0"/>
                </a:moveTo>
                <a:lnTo>
                  <a:pt x="6978395" y="586259"/>
                </a:lnTo>
              </a:path>
              <a:path w="8345805" h="586740" extrusionOk="0">
                <a:moveTo>
                  <a:pt x="8345181" y="0"/>
                </a:moveTo>
                <a:lnTo>
                  <a:pt x="8345181" y="586259"/>
                </a:lnTo>
              </a:path>
            </a:pathLst>
          </a:custGeom>
          <a:noFill/>
          <a:ln w="12675" cap="flat" cmpd="sng">
            <a:solidFill>
              <a:srgbClr val="102D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 name="Google Shape;9;p16"/>
          <p:cNvSpPr txBox="1">
            <a:spLocks noGrp="1"/>
          </p:cNvSpPr>
          <p:nvPr>
            <p:ph type="title"/>
          </p:nvPr>
        </p:nvSpPr>
        <p:spPr>
          <a:xfrm>
            <a:off x="10397500" y="484018"/>
            <a:ext cx="730250" cy="36068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000" b="0" i="0" u="none" strike="noStrike" cap="none">
                <a:solidFill>
                  <a:srgbClr val="0F2C68"/>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6"/>
          <p:cNvSpPr txBox="1">
            <a:spLocks noGrp="1"/>
          </p:cNvSpPr>
          <p:nvPr>
            <p:ph type="body" idx="1"/>
          </p:nvPr>
        </p:nvSpPr>
        <p:spPr>
          <a:xfrm>
            <a:off x="1420170" y="2110702"/>
            <a:ext cx="9230360" cy="21463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1" name="Google Shape;11;p1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5"/>
        <p:cNvGrpSpPr/>
        <p:nvPr/>
      </p:nvGrpSpPr>
      <p:grpSpPr>
        <a:xfrm>
          <a:off x="0" y="0"/>
          <a:ext cx="0" cy="0"/>
          <a:chOff x="0" y="0"/>
          <a:chExt cx="0" cy="0"/>
        </a:xfrm>
      </p:grpSpPr>
      <p:grpSp>
        <p:nvGrpSpPr>
          <p:cNvPr id="46" name="Google Shape;46;p1"/>
          <p:cNvGrpSpPr/>
          <p:nvPr/>
        </p:nvGrpSpPr>
        <p:grpSpPr>
          <a:xfrm>
            <a:off x="0" y="0"/>
            <a:ext cx="12192000" cy="6858000"/>
            <a:chOff x="0" y="0"/>
            <a:chExt cx="12192000" cy="6858000"/>
          </a:xfrm>
        </p:grpSpPr>
        <p:pic>
          <p:nvPicPr>
            <p:cNvPr id="47" name="Google Shape;47;p1"/>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8" name="Google Shape;48;p1"/>
            <p:cNvPicPr preferRelativeResize="0"/>
            <p:nvPr/>
          </p:nvPicPr>
          <p:blipFill rotWithShape="1">
            <a:blip r:embed="rId4">
              <a:alphaModFix/>
            </a:blip>
            <a:srcRect/>
            <a:stretch/>
          </p:blipFill>
          <p:spPr>
            <a:xfrm>
              <a:off x="1013859" y="962173"/>
              <a:ext cx="886498" cy="886498"/>
            </a:xfrm>
            <a:prstGeom prst="rect">
              <a:avLst/>
            </a:prstGeom>
            <a:noFill/>
            <a:ln>
              <a:noFill/>
            </a:ln>
          </p:spPr>
        </p:pic>
        <p:sp>
          <p:nvSpPr>
            <p:cNvPr id="49" name="Google Shape;49;p1"/>
            <p:cNvSpPr/>
            <p:nvPr/>
          </p:nvSpPr>
          <p:spPr>
            <a:xfrm>
              <a:off x="6090211" y="985335"/>
              <a:ext cx="5088890" cy="840740"/>
            </a:xfrm>
            <a:custGeom>
              <a:avLst/>
              <a:gdLst/>
              <a:ahLst/>
              <a:cxnLst/>
              <a:rect l="l" t="t" r="r" b="b"/>
              <a:pathLst>
                <a:path w="5088890" h="840739" extrusionOk="0">
                  <a:moveTo>
                    <a:pt x="0" y="0"/>
                  </a:moveTo>
                  <a:lnTo>
                    <a:pt x="0" y="840172"/>
                  </a:lnTo>
                </a:path>
                <a:path w="5088890" h="840739" extrusionOk="0">
                  <a:moveTo>
                    <a:pt x="2552369" y="0"/>
                  </a:moveTo>
                  <a:lnTo>
                    <a:pt x="2552369" y="840172"/>
                  </a:lnTo>
                </a:path>
                <a:path w="5088890" h="840739" extrusionOk="0">
                  <a:moveTo>
                    <a:pt x="5088834" y="0"/>
                  </a:moveTo>
                  <a:lnTo>
                    <a:pt x="5088834" y="840172"/>
                  </a:lnTo>
                </a:path>
              </a:pathLst>
            </a:custGeom>
            <a:noFill/>
            <a:ln w="12675" cap="flat" cmpd="sng">
              <a:solidFill>
                <a:srgbClr val="102D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50" name="Google Shape;50;p1"/>
          <p:cNvSpPr txBox="1"/>
          <p:nvPr/>
        </p:nvSpPr>
        <p:spPr>
          <a:xfrm>
            <a:off x="2062247" y="1165997"/>
            <a:ext cx="3227070" cy="574040"/>
          </a:xfrm>
          <a:prstGeom prst="rect">
            <a:avLst/>
          </a:prstGeom>
          <a:noFill/>
          <a:ln>
            <a:noFill/>
          </a:ln>
        </p:spPr>
        <p:txBody>
          <a:bodyPr spcFirstLastPara="1" wrap="square" lIns="0" tIns="12700" rIns="0" bIns="0" anchor="t" anchorCtr="0">
            <a:noAutofit/>
          </a:bodyPr>
          <a:lstStyle/>
          <a:p>
            <a:pPr marL="12700" marR="5080" lvl="0" indent="0" algn="l" rtl="0">
              <a:lnSpc>
                <a:spcPct val="100000"/>
              </a:lnSpc>
              <a:spcBef>
                <a:spcPts val="0"/>
              </a:spcBef>
              <a:spcAft>
                <a:spcPts val="0"/>
              </a:spcAft>
              <a:buNone/>
            </a:pPr>
            <a:r>
              <a:rPr sz="1400" b="0">
                <a:solidFill>
                  <a:srgbClr val="0F2C68"/>
                </a:solidFill>
                <a:latin typeface="Trebuchet MS"/>
              </a:rPr>
              <a:t>Машинное обучение и анализ данных</a:t>
            </a:r>
            <a:endParaRPr sz="1800">
              <a:latin typeface="Trebuchet MS"/>
              <a:ea typeface="Trebuchet MS"/>
              <a:cs typeface="Trebuchet MS"/>
              <a:sym typeface="Trebuchet MS"/>
            </a:endParaRPr>
          </a:p>
        </p:txBody>
      </p:sp>
      <p:sp>
        <p:nvSpPr>
          <p:cNvPr id="51" name="Google Shape;51;p1"/>
          <p:cNvSpPr txBox="1"/>
          <p:nvPr/>
        </p:nvSpPr>
        <p:spPr>
          <a:xfrm>
            <a:off x="6246720" y="1112071"/>
            <a:ext cx="2152015" cy="482600"/>
          </a:xfrm>
          <a:prstGeom prst="rect">
            <a:avLst/>
          </a:prstGeom>
          <a:noFill/>
          <a:ln>
            <a:noFill/>
          </a:ln>
        </p:spPr>
        <p:txBody>
          <a:bodyPr spcFirstLastPara="1" wrap="square" lIns="0" tIns="61575" rIns="0" bIns="0" anchor="t" anchorCtr="0">
            <a:noAutofit/>
          </a:bodyPr>
          <a:lstStyle/>
          <a:p>
            <a:pPr marL="12700" marR="5080" lvl="0" indent="0" algn="l" rtl="0">
              <a:lnSpc>
                <a:spcPct val="96969"/>
              </a:lnSpc>
              <a:spcBef>
                <a:spcPts val="0"/>
              </a:spcBef>
              <a:spcAft>
                <a:spcPts val="0"/>
              </a:spcAft>
              <a:buNone/>
            </a:pPr>
            <a:r>
              <a:rPr sz="1100" b="0">
                <a:solidFill>
                  <a:srgbClr val="0F2C68"/>
                </a:solidFill>
                <a:latin typeface="Trebuchet MS"/>
              </a:rPr>
              <a:t>Школа информатики, физики и технологий</a:t>
            </a:r>
            <a:endParaRPr sz="1650">
              <a:latin typeface="Trebuchet MS"/>
              <a:ea typeface="Trebuchet MS"/>
              <a:cs typeface="Trebuchet MS"/>
              <a:sym typeface="Trebuchet MS"/>
            </a:endParaRPr>
          </a:p>
        </p:txBody>
      </p:sp>
      <p:sp>
        <p:nvSpPr>
          <p:cNvPr id="52" name="Google Shape;52;p1"/>
          <p:cNvSpPr txBox="1"/>
          <p:nvPr/>
        </p:nvSpPr>
        <p:spPr>
          <a:xfrm>
            <a:off x="987965" y="2057400"/>
            <a:ext cx="10191135" cy="3421642"/>
          </a:xfrm>
          <a:prstGeom prst="rect">
            <a:avLst/>
          </a:prstGeom>
          <a:noFill/>
          <a:ln>
            <a:noFill/>
          </a:ln>
        </p:spPr>
        <p:txBody>
          <a:bodyPr spcFirstLastPara="1" wrap="square" lIns="0" tIns="81275" rIns="0" bIns="0" anchor="t" anchorCtr="0">
            <a:noAutofit/>
          </a:bodyPr>
          <a:lstStyle/>
          <a:p>
            <a:pPr marL="85725" marR="5080" lvl="0" indent="0" algn="l" rtl="0">
              <a:lnSpc>
                <a:spcPct val="101299"/>
              </a:lnSpc>
              <a:spcBef>
                <a:spcPts val="0"/>
              </a:spcBef>
              <a:spcAft>
                <a:spcPts val="0"/>
              </a:spcAft>
              <a:buNone/>
            </a:pPr>
            <a:r>
              <a:rPr sz="1700" b="1" dirty="0">
                <a:solidFill>
                  <a:srgbClr val="0F2C68"/>
                </a:solidFill>
                <a:latin typeface="Trebuchet MS"/>
              </a:rPr>
              <a:t>VK Predict CMC Hackathon</a:t>
            </a:r>
            <a:endParaRPr dirty="0"/>
          </a:p>
          <a:p>
            <a:endParaRPr dirty="0"/>
          </a:p>
          <a:p>
            <a:r>
              <a:rPr sz="1700" b="0" dirty="0" err="1">
                <a:solidFill>
                  <a:srgbClr val="0F2C68"/>
                </a:solidFill>
                <a:latin typeface="Trebuchet MS"/>
              </a:rPr>
              <a:t>Прогнозирование</a:t>
            </a:r>
            <a:r>
              <a:rPr sz="1700" b="0" dirty="0">
                <a:solidFill>
                  <a:srgbClr val="0F2C68"/>
                </a:solidFill>
                <a:latin typeface="Trebuchet MS"/>
              </a:rPr>
              <a:t> </a:t>
            </a:r>
            <a:r>
              <a:rPr sz="1700" b="0" dirty="0" err="1">
                <a:solidFill>
                  <a:srgbClr val="0F2C68"/>
                </a:solidFill>
                <a:latin typeface="Trebuchet MS"/>
              </a:rPr>
              <a:t>склонности</a:t>
            </a:r>
            <a:r>
              <a:rPr sz="1700" b="0" dirty="0">
                <a:solidFill>
                  <a:srgbClr val="0F2C68"/>
                </a:solidFill>
                <a:latin typeface="Trebuchet MS"/>
              </a:rPr>
              <a:t> </a:t>
            </a:r>
            <a:r>
              <a:rPr sz="1700" b="0" dirty="0" err="1">
                <a:solidFill>
                  <a:srgbClr val="0F2C68"/>
                </a:solidFill>
                <a:latin typeface="Trebuchet MS"/>
              </a:rPr>
              <a:t>пользователя</a:t>
            </a:r>
            <a:r>
              <a:rPr sz="1700" b="0" dirty="0">
                <a:solidFill>
                  <a:srgbClr val="0F2C68"/>
                </a:solidFill>
                <a:latin typeface="Trebuchet MS"/>
              </a:rPr>
              <a:t> </a:t>
            </a:r>
            <a:r>
              <a:rPr sz="1700" b="0" dirty="0" err="1">
                <a:solidFill>
                  <a:srgbClr val="0F2C68"/>
                </a:solidFill>
                <a:latin typeface="Trebuchet MS"/>
              </a:rPr>
              <a:t>к</a:t>
            </a:r>
            <a:r>
              <a:rPr sz="1700" b="0" dirty="0">
                <a:solidFill>
                  <a:srgbClr val="0F2C68"/>
                </a:solidFill>
                <a:latin typeface="Trebuchet MS"/>
              </a:rPr>
              <a:t> </a:t>
            </a:r>
            <a:r>
              <a:rPr sz="1700" b="0" dirty="0" err="1">
                <a:solidFill>
                  <a:srgbClr val="0F2C68"/>
                </a:solidFill>
                <a:latin typeface="Trebuchet MS"/>
              </a:rPr>
              <a:t>секретному</a:t>
            </a:r>
            <a:r>
              <a:rPr sz="1700" b="0" dirty="0">
                <a:solidFill>
                  <a:srgbClr val="0F2C68"/>
                </a:solidFill>
                <a:latin typeface="Trebuchet MS"/>
              </a:rPr>
              <a:t> </a:t>
            </a:r>
            <a:r>
              <a:rPr sz="1700" b="0" dirty="0" err="1">
                <a:solidFill>
                  <a:srgbClr val="0F2C68"/>
                </a:solidFill>
                <a:latin typeface="Trebuchet MS"/>
              </a:rPr>
              <a:t>событию</a:t>
            </a:r>
            <a:endParaRPr sz="1700" b="0" dirty="0">
              <a:solidFill>
                <a:srgbClr val="0F2C68"/>
              </a:solidFill>
              <a:latin typeface="Trebuchet MS"/>
            </a:endParaRPr>
          </a:p>
          <a:p>
            <a:endParaRPr sz="1700" b="0" dirty="0">
              <a:solidFill>
                <a:srgbClr val="0F2C68"/>
              </a:solidFill>
              <a:latin typeface="Trebuchet MS"/>
            </a:endParaRPr>
          </a:p>
          <a:p>
            <a:r>
              <a:rPr sz="1700" b="0" dirty="0" err="1">
                <a:solidFill>
                  <a:srgbClr val="0F2C68"/>
                </a:solidFill>
                <a:latin typeface="Trebuchet MS"/>
              </a:rPr>
              <a:t>Бинарная</a:t>
            </a:r>
            <a:r>
              <a:rPr sz="1700" b="0" dirty="0">
                <a:solidFill>
                  <a:srgbClr val="0F2C68"/>
                </a:solidFill>
                <a:latin typeface="Trebuchet MS"/>
              </a:rPr>
              <a:t> </a:t>
            </a:r>
            <a:r>
              <a:rPr sz="1700" b="0" dirty="0" err="1">
                <a:solidFill>
                  <a:srgbClr val="0F2C68"/>
                </a:solidFill>
                <a:latin typeface="Trebuchet MS"/>
              </a:rPr>
              <a:t>классификация</a:t>
            </a:r>
            <a:r>
              <a:rPr sz="1700" b="0" dirty="0">
                <a:solidFill>
                  <a:srgbClr val="0F2C68"/>
                </a:solidFill>
                <a:latin typeface="Trebuchet MS"/>
              </a:rPr>
              <a:t> </a:t>
            </a:r>
            <a:r>
              <a:rPr sz="1700" b="0" dirty="0" err="1">
                <a:solidFill>
                  <a:srgbClr val="0F2C68"/>
                </a:solidFill>
                <a:latin typeface="Trebuchet MS"/>
              </a:rPr>
              <a:t>на</a:t>
            </a:r>
            <a:r>
              <a:rPr sz="1700" b="0" dirty="0">
                <a:solidFill>
                  <a:srgbClr val="0F2C68"/>
                </a:solidFill>
                <a:latin typeface="Trebuchet MS"/>
              </a:rPr>
              <a:t> </a:t>
            </a:r>
            <a:r>
              <a:rPr sz="1700" b="0" dirty="0" err="1">
                <a:solidFill>
                  <a:srgbClr val="0F2C68"/>
                </a:solidFill>
                <a:latin typeface="Trebuchet MS"/>
              </a:rPr>
              <a:t>анонимизированных</a:t>
            </a:r>
            <a:r>
              <a:rPr sz="1700" b="0" dirty="0">
                <a:solidFill>
                  <a:srgbClr val="0F2C68"/>
                </a:solidFill>
                <a:latin typeface="Trebuchet MS"/>
              </a:rPr>
              <a:t> </a:t>
            </a:r>
            <a:r>
              <a:rPr sz="1700" b="0" dirty="0" err="1">
                <a:solidFill>
                  <a:srgbClr val="0F2C68"/>
                </a:solidFill>
                <a:latin typeface="Trebuchet MS"/>
              </a:rPr>
              <a:t>табличных</a:t>
            </a:r>
            <a:r>
              <a:rPr sz="1700" b="0" dirty="0">
                <a:solidFill>
                  <a:srgbClr val="0F2C68"/>
                </a:solidFill>
                <a:latin typeface="Trebuchet MS"/>
              </a:rPr>
              <a:t> </a:t>
            </a:r>
            <a:r>
              <a:rPr sz="1700" b="0" dirty="0" err="1">
                <a:solidFill>
                  <a:srgbClr val="0F2C68"/>
                </a:solidFill>
                <a:latin typeface="Trebuchet MS"/>
              </a:rPr>
              <a:t>данных</a:t>
            </a:r>
            <a:endParaRPr sz="1700" b="0" dirty="0">
              <a:solidFill>
                <a:srgbClr val="0F2C68"/>
              </a:solidFill>
              <a:latin typeface="Trebuchet MS"/>
            </a:endParaRPr>
          </a:p>
          <a:p>
            <a:endParaRPr sz="1700" b="0" dirty="0">
              <a:solidFill>
                <a:srgbClr val="0F2C68"/>
              </a:solidFill>
              <a:latin typeface="Trebuchet MS"/>
            </a:endParaRPr>
          </a:p>
          <a:p>
            <a:r>
              <a:rPr sz="1700" b="0" dirty="0" err="1">
                <a:solidFill>
                  <a:srgbClr val="0F2C68"/>
                </a:solidFill>
                <a:latin typeface="Trebuchet MS"/>
              </a:rPr>
              <a:t>Направление</a:t>
            </a:r>
            <a:r>
              <a:rPr sz="1700" b="0" dirty="0">
                <a:solidFill>
                  <a:srgbClr val="0F2C68"/>
                </a:solidFill>
                <a:latin typeface="Trebuchet MS"/>
              </a:rPr>
              <a:t> </a:t>
            </a:r>
            <a:r>
              <a:rPr sz="1700" b="0" dirty="0" err="1">
                <a:solidFill>
                  <a:srgbClr val="0F2C68"/>
                </a:solidFill>
                <a:latin typeface="Trebuchet MS"/>
              </a:rPr>
              <a:t>подготовки</a:t>
            </a:r>
            <a:r>
              <a:rPr sz="1700" b="0" dirty="0">
                <a:solidFill>
                  <a:srgbClr val="0F2C68"/>
                </a:solidFill>
                <a:latin typeface="Trebuchet MS"/>
              </a:rPr>
              <a:t> 01.0</a:t>
            </a:r>
            <a:r>
              <a:rPr lang="ru-RU" sz="1700" b="0" dirty="0">
                <a:solidFill>
                  <a:srgbClr val="0F2C68"/>
                </a:solidFill>
                <a:latin typeface="Trebuchet MS"/>
              </a:rPr>
              <a:t>3</a:t>
            </a:r>
            <a:r>
              <a:rPr sz="1700" b="0" dirty="0">
                <a:solidFill>
                  <a:srgbClr val="0F2C68"/>
                </a:solidFill>
                <a:latin typeface="Trebuchet MS"/>
              </a:rPr>
              <a:t>.02 «</a:t>
            </a:r>
            <a:r>
              <a:rPr sz="1700" b="0" dirty="0" err="1">
                <a:solidFill>
                  <a:srgbClr val="0F2C68"/>
                </a:solidFill>
                <a:latin typeface="Trebuchet MS"/>
              </a:rPr>
              <a:t>Прикладная</a:t>
            </a:r>
            <a:r>
              <a:rPr sz="1700" b="0" dirty="0">
                <a:solidFill>
                  <a:srgbClr val="0F2C68"/>
                </a:solidFill>
                <a:latin typeface="Trebuchet MS"/>
              </a:rPr>
              <a:t> </a:t>
            </a:r>
            <a:r>
              <a:rPr sz="1700" b="0" dirty="0" err="1">
                <a:solidFill>
                  <a:srgbClr val="0F2C68"/>
                </a:solidFill>
                <a:latin typeface="Trebuchet MS"/>
              </a:rPr>
              <a:t>математика</a:t>
            </a:r>
            <a:r>
              <a:rPr sz="1700" b="0" dirty="0">
                <a:solidFill>
                  <a:srgbClr val="0F2C68"/>
                </a:solidFill>
                <a:latin typeface="Trebuchet MS"/>
              </a:rPr>
              <a:t> </a:t>
            </a:r>
            <a:r>
              <a:rPr sz="1700" b="0" dirty="0" err="1">
                <a:solidFill>
                  <a:srgbClr val="0F2C68"/>
                </a:solidFill>
                <a:latin typeface="Trebuchet MS"/>
              </a:rPr>
              <a:t>и</a:t>
            </a:r>
            <a:r>
              <a:rPr sz="1700" b="0" dirty="0">
                <a:solidFill>
                  <a:srgbClr val="0F2C68"/>
                </a:solidFill>
                <a:latin typeface="Trebuchet MS"/>
              </a:rPr>
              <a:t> </a:t>
            </a:r>
            <a:r>
              <a:rPr sz="1700" b="0" dirty="0" err="1">
                <a:solidFill>
                  <a:srgbClr val="0F2C68"/>
                </a:solidFill>
                <a:latin typeface="Trebuchet MS"/>
              </a:rPr>
              <a:t>информатика</a:t>
            </a:r>
            <a:r>
              <a:rPr sz="1700" b="0" dirty="0">
                <a:solidFill>
                  <a:srgbClr val="0F2C68"/>
                </a:solidFill>
                <a:latin typeface="Trebuchet MS"/>
              </a:rPr>
              <a:t>»</a:t>
            </a:r>
            <a:r>
              <a:rPr lang="ru-RU" sz="1700" b="0" dirty="0">
                <a:solidFill>
                  <a:srgbClr val="0F2C68"/>
                </a:solidFill>
                <a:latin typeface="Trebuchet MS"/>
              </a:rPr>
              <a:t>, ПАДИИ</a:t>
            </a:r>
            <a:endParaRPr sz="1700" b="0" dirty="0">
              <a:solidFill>
                <a:srgbClr val="0F2C68"/>
              </a:solidFill>
              <a:latin typeface="Trebuchet MS"/>
            </a:endParaRPr>
          </a:p>
          <a:p>
            <a:r>
              <a:rPr sz="1700" b="0" dirty="0" err="1">
                <a:solidFill>
                  <a:srgbClr val="0F2C68"/>
                </a:solidFill>
                <a:latin typeface="Trebuchet MS"/>
              </a:rPr>
              <a:t>Выполнили</a:t>
            </a:r>
            <a:r>
              <a:rPr sz="1700" b="0" dirty="0">
                <a:solidFill>
                  <a:srgbClr val="0F2C68"/>
                </a:solidFill>
                <a:latin typeface="Trebuchet MS"/>
              </a:rPr>
              <a:t>:</a:t>
            </a:r>
            <a:r>
              <a:rPr lang="ru-RU" sz="1700" b="0" dirty="0">
                <a:solidFill>
                  <a:srgbClr val="0F2C68"/>
                </a:solidFill>
                <a:latin typeface="Trebuchet MS"/>
              </a:rPr>
              <a:t> </a:t>
            </a:r>
            <a:r>
              <a:rPr lang="ru-RU" sz="1700" b="0" dirty="0" err="1">
                <a:solidFill>
                  <a:srgbClr val="0F2C68"/>
                </a:solidFill>
                <a:latin typeface="Trebuchet MS"/>
              </a:rPr>
              <a:t>Пеганов</a:t>
            </a:r>
            <a:r>
              <a:rPr lang="ru-RU" sz="1700" b="0" dirty="0">
                <a:solidFill>
                  <a:srgbClr val="0F2C68"/>
                </a:solidFill>
                <a:latin typeface="Trebuchet MS"/>
              </a:rPr>
              <a:t> Илья, Поздеев Арсений, Сорочан Дмитрий</a:t>
            </a:r>
            <a:endParaRPr sz="1700" b="0" dirty="0">
              <a:solidFill>
                <a:srgbClr val="0F2C68"/>
              </a:solidFill>
              <a:latin typeface="Trebuchet MS"/>
            </a:endParaRPr>
          </a:p>
        </p:txBody>
      </p:sp>
      <p:sp>
        <p:nvSpPr>
          <p:cNvPr id="53" name="Google Shape;53;p1"/>
          <p:cNvSpPr txBox="1"/>
          <p:nvPr/>
        </p:nvSpPr>
        <p:spPr>
          <a:xfrm>
            <a:off x="8774020" y="1108093"/>
            <a:ext cx="1884680" cy="519430"/>
          </a:xfrm>
          <a:prstGeom prst="rect">
            <a:avLst/>
          </a:prstGeom>
          <a:noFill/>
          <a:ln>
            <a:noFill/>
          </a:ln>
        </p:spPr>
        <p:txBody>
          <a:bodyPr spcFirstLastPara="1" wrap="square" lIns="0" tIns="67300" rIns="0" bIns="0" anchor="t" anchorCtr="0">
            <a:noAutofit/>
          </a:bodyPr>
          <a:lstStyle/>
          <a:p>
            <a:pPr marL="12700" marR="5080" lvl="0" indent="0" algn="l" rtl="0">
              <a:lnSpc>
                <a:spcPct val="80000"/>
              </a:lnSpc>
              <a:spcBef>
                <a:spcPts val="0"/>
              </a:spcBef>
              <a:spcAft>
                <a:spcPts val="0"/>
              </a:spcAft>
              <a:buNone/>
            </a:pPr>
            <a:r>
              <a:rPr sz="1800" b="0">
                <a:solidFill>
                  <a:srgbClr val="0F2C68"/>
                </a:solidFill>
                <a:latin typeface="Trebuchet MS"/>
              </a:rPr>
              <a:t>Санкт-Петербург, 2026</a:t>
            </a:r>
            <a:endParaRPr sz="18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2"/>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60" name="Google Shape;60;p2"/>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61" name="Google Shape;61;p2"/>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62" name="Google Shape;62;p2" descr="$PPTXTitle"/>
          <p:cNvSpPr txBox="1">
            <a:spLocks noGrp="1"/>
          </p:cNvSpPr>
          <p:nvPr>
            <p:ph type="title"/>
          </p:nvPr>
        </p:nvSpPr>
        <p:spPr>
          <a:xfrm>
            <a:off x="10397500" y="484018"/>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2/15</a:t>
            </a:r>
            <a:endParaRPr sz="2400" baseline="30000">
              <a:latin typeface="Calibri"/>
              <a:ea typeface="Calibri"/>
              <a:cs typeface="Calibri"/>
              <a:sym typeface="Calibri"/>
            </a:endParaRPr>
          </a:p>
        </p:txBody>
      </p:sp>
      <p:sp>
        <p:nvSpPr>
          <p:cNvPr id="63" name="TextBox 62"/>
          <p:cNvSpPr txBox="1"/>
          <p:nvPr/>
        </p:nvSpPr>
        <p:spPr>
          <a:xfrm>
            <a:off x="685800" y="1874519"/>
            <a:ext cx="5166360" cy="3429000"/>
          </a:xfrm>
          <a:prstGeom prst="rect">
            <a:avLst/>
          </a:prstGeom>
          <a:noFill/>
        </p:spPr>
        <p:txBody>
          <a:bodyPr wrap="square" lIns="36576" tIns="18288" rIns="36576" bIns="18288">
            <a:noAutofit/>
          </a:bodyPr>
          <a:lstStyle/>
          <a:p>
            <a:r>
              <a:rPr sz="1500" b="1">
                <a:solidFill>
                  <a:srgbClr val="0B1F4D"/>
                </a:solidFill>
                <a:latin typeface="Arial"/>
              </a:rPr>
              <a:t>Формулировка</a:t>
            </a:r>
          </a:p>
          <a:p>
            <a:endParaRPr sz="1500" b="1">
              <a:solidFill>
                <a:srgbClr val="0B1F4D"/>
              </a:solidFill>
              <a:latin typeface="Arial"/>
            </a:endParaRPr>
          </a:p>
          <a:p>
            <a:r>
              <a:rPr sz="1500" b="0">
                <a:solidFill>
                  <a:srgbClr val="0B1F4D"/>
                </a:solidFill>
                <a:latin typeface="Arial"/>
              </a:rPr>
              <a:t>• для каждого пользователя нужно предсказать склонность к секретному событию</a:t>
            </a:r>
          </a:p>
          <a:p>
            <a:r>
              <a:rPr sz="1500" b="0">
                <a:solidFill>
                  <a:srgbClr val="0B1F4D"/>
                </a:solidFill>
                <a:latin typeface="Arial"/>
              </a:rPr>
              <a:t>• на выходе нужен непрерывный score, а не жёсткий класс</a:t>
            </a:r>
          </a:p>
          <a:p>
            <a:r>
              <a:rPr sz="1500" b="0">
                <a:solidFill>
                  <a:srgbClr val="0B1F4D"/>
                </a:solidFill>
                <a:latin typeface="Arial"/>
              </a:rPr>
              <a:t>• задача решается как бинарная классификация с ранжированием объектов</a:t>
            </a:r>
          </a:p>
        </p:txBody>
      </p:sp>
      <p:sp>
        <p:nvSpPr>
          <p:cNvPr id="64" name="TextBox 63"/>
          <p:cNvSpPr txBox="1"/>
          <p:nvPr/>
        </p:nvSpPr>
        <p:spPr>
          <a:xfrm>
            <a:off x="6263640" y="1874519"/>
            <a:ext cx="4983480" cy="3429000"/>
          </a:xfrm>
          <a:prstGeom prst="rect">
            <a:avLst/>
          </a:prstGeom>
          <a:noFill/>
        </p:spPr>
        <p:txBody>
          <a:bodyPr wrap="square" lIns="36576" tIns="18288" rIns="36576" bIns="18288">
            <a:noAutofit/>
          </a:bodyPr>
          <a:lstStyle/>
          <a:p>
            <a:r>
              <a:rPr lang="ru-RU" sz="1500" b="1" dirty="0">
                <a:solidFill>
                  <a:srgbClr val="0B1F4D"/>
                </a:solidFill>
                <a:latin typeface="Arial"/>
              </a:rPr>
              <a:t>Особенности данных</a:t>
            </a:r>
            <a:endParaRPr sz="1500" b="1" dirty="0">
              <a:solidFill>
                <a:srgbClr val="0B1F4D"/>
              </a:solidFill>
              <a:latin typeface="Arial"/>
            </a:endParaRPr>
          </a:p>
          <a:p>
            <a:endParaRPr sz="1500" b="1" dirty="0">
              <a:solidFill>
                <a:srgbClr val="0B1F4D"/>
              </a:solidFill>
              <a:latin typeface="Arial"/>
            </a:endParaRPr>
          </a:p>
          <a:p>
            <a:r>
              <a:rPr sz="1500" b="0" dirty="0">
                <a:solidFill>
                  <a:srgbClr val="0B1F4D"/>
                </a:solidFill>
                <a:latin typeface="Arial"/>
              </a:rPr>
              <a:t>• </a:t>
            </a:r>
            <a:r>
              <a:rPr sz="1500" b="0" dirty="0" err="1">
                <a:solidFill>
                  <a:srgbClr val="0B1F4D"/>
                </a:solidFill>
                <a:latin typeface="Arial"/>
              </a:rPr>
              <a:t>признаки</a:t>
            </a:r>
            <a:r>
              <a:rPr sz="1500" b="0" dirty="0">
                <a:solidFill>
                  <a:srgbClr val="0B1F4D"/>
                </a:solidFill>
                <a:latin typeface="Arial"/>
              </a:rPr>
              <a:t> </a:t>
            </a:r>
            <a:r>
              <a:rPr sz="1500" b="0" dirty="0" err="1">
                <a:solidFill>
                  <a:srgbClr val="0B1F4D"/>
                </a:solidFill>
                <a:latin typeface="Arial"/>
              </a:rPr>
              <a:t>анонимизированы</a:t>
            </a:r>
            <a:r>
              <a:rPr sz="1500" b="0" dirty="0">
                <a:solidFill>
                  <a:srgbClr val="0B1F4D"/>
                </a:solidFill>
                <a:latin typeface="Arial"/>
              </a:rPr>
              <a:t>, </a:t>
            </a:r>
            <a:r>
              <a:rPr sz="1500" b="0" dirty="0" err="1">
                <a:solidFill>
                  <a:srgbClr val="0B1F4D"/>
                </a:solidFill>
                <a:latin typeface="Arial"/>
              </a:rPr>
              <a:t>семантики</a:t>
            </a:r>
            <a:r>
              <a:rPr sz="1500" b="0" dirty="0">
                <a:solidFill>
                  <a:srgbClr val="0B1F4D"/>
                </a:solidFill>
                <a:latin typeface="Arial"/>
              </a:rPr>
              <a:t> </a:t>
            </a:r>
            <a:r>
              <a:rPr sz="1500" b="0" dirty="0" err="1">
                <a:solidFill>
                  <a:srgbClr val="0B1F4D"/>
                </a:solidFill>
                <a:latin typeface="Arial"/>
              </a:rPr>
              <a:t>колонок</a:t>
            </a:r>
            <a:r>
              <a:rPr sz="1500" b="0" dirty="0">
                <a:solidFill>
                  <a:srgbClr val="0B1F4D"/>
                </a:solidFill>
                <a:latin typeface="Arial"/>
              </a:rPr>
              <a:t> </a:t>
            </a:r>
            <a:r>
              <a:rPr sz="1500" b="0" dirty="0" err="1">
                <a:solidFill>
                  <a:srgbClr val="0B1F4D"/>
                </a:solidFill>
                <a:latin typeface="Arial"/>
              </a:rPr>
              <a:t>нет</a:t>
            </a:r>
            <a:endParaRPr sz="1500" b="0" dirty="0">
              <a:solidFill>
                <a:srgbClr val="0B1F4D"/>
              </a:solidFill>
              <a:latin typeface="Arial"/>
            </a:endParaRPr>
          </a:p>
          <a:p>
            <a:r>
              <a:rPr sz="1500" b="0" dirty="0">
                <a:solidFill>
                  <a:srgbClr val="0B1F4D"/>
                </a:solidFill>
                <a:latin typeface="Arial"/>
              </a:rPr>
              <a:t>• </a:t>
            </a:r>
            <a:r>
              <a:rPr sz="1500" b="0" dirty="0" err="1">
                <a:solidFill>
                  <a:srgbClr val="0B1F4D"/>
                </a:solidFill>
                <a:latin typeface="Arial"/>
              </a:rPr>
              <a:t>положительный</a:t>
            </a:r>
            <a:r>
              <a:rPr sz="1500" b="0" dirty="0">
                <a:solidFill>
                  <a:srgbClr val="0B1F4D"/>
                </a:solidFill>
                <a:latin typeface="Arial"/>
              </a:rPr>
              <a:t> </a:t>
            </a:r>
            <a:r>
              <a:rPr sz="1500" b="0" dirty="0" err="1">
                <a:solidFill>
                  <a:srgbClr val="0B1F4D"/>
                </a:solidFill>
                <a:latin typeface="Arial"/>
              </a:rPr>
              <a:t>класс</a:t>
            </a:r>
            <a:r>
              <a:rPr sz="1500" b="0" dirty="0">
                <a:solidFill>
                  <a:srgbClr val="0B1F4D"/>
                </a:solidFill>
                <a:latin typeface="Arial"/>
              </a:rPr>
              <a:t> </a:t>
            </a:r>
            <a:r>
              <a:rPr sz="1500" b="0" dirty="0" err="1">
                <a:solidFill>
                  <a:srgbClr val="0B1F4D"/>
                </a:solidFill>
                <a:latin typeface="Arial"/>
              </a:rPr>
              <a:t>редкий</a:t>
            </a:r>
            <a:r>
              <a:rPr sz="1500" b="0" dirty="0">
                <a:solidFill>
                  <a:srgbClr val="0B1F4D"/>
                </a:solidFill>
                <a:latin typeface="Arial"/>
              </a:rPr>
              <a:t>: </a:t>
            </a:r>
            <a:r>
              <a:rPr sz="1500" b="0" dirty="0" err="1">
                <a:solidFill>
                  <a:srgbClr val="0B1F4D"/>
                </a:solidFill>
                <a:latin typeface="Arial"/>
              </a:rPr>
              <a:t>около</a:t>
            </a:r>
            <a:r>
              <a:rPr sz="1500" b="0" dirty="0">
                <a:solidFill>
                  <a:srgbClr val="0B1F4D"/>
                </a:solidFill>
                <a:latin typeface="Arial"/>
              </a:rPr>
              <a:t> 1.35%</a:t>
            </a:r>
          </a:p>
          <a:p>
            <a:r>
              <a:rPr sz="1500" b="0" dirty="0">
                <a:solidFill>
                  <a:srgbClr val="0B1F4D"/>
                </a:solidFill>
                <a:latin typeface="Arial"/>
              </a:rPr>
              <a:t>• </a:t>
            </a:r>
            <a:r>
              <a:rPr sz="1500" b="0" dirty="0" err="1">
                <a:solidFill>
                  <a:srgbClr val="0B1F4D"/>
                </a:solidFill>
                <a:latin typeface="Arial"/>
              </a:rPr>
              <a:t>одиночные</a:t>
            </a:r>
            <a:r>
              <a:rPr sz="1500" b="0" dirty="0">
                <a:solidFill>
                  <a:srgbClr val="0B1F4D"/>
                </a:solidFill>
                <a:latin typeface="Arial"/>
              </a:rPr>
              <a:t> </a:t>
            </a:r>
            <a:r>
              <a:rPr sz="1500" b="0" dirty="0" err="1">
                <a:solidFill>
                  <a:srgbClr val="0B1F4D"/>
                </a:solidFill>
                <a:latin typeface="Arial"/>
              </a:rPr>
              <a:t>признаки</a:t>
            </a:r>
            <a:r>
              <a:rPr sz="1500" b="0" dirty="0">
                <a:solidFill>
                  <a:srgbClr val="0B1F4D"/>
                </a:solidFill>
                <a:latin typeface="Arial"/>
              </a:rPr>
              <a:t> </a:t>
            </a:r>
            <a:r>
              <a:rPr sz="1500" b="0" dirty="0" err="1">
                <a:solidFill>
                  <a:srgbClr val="0B1F4D"/>
                </a:solidFill>
                <a:latin typeface="Arial"/>
              </a:rPr>
              <a:t>слабые</a:t>
            </a:r>
            <a:r>
              <a:rPr sz="1500" b="0" dirty="0">
                <a:solidFill>
                  <a:srgbClr val="0B1F4D"/>
                </a:solidFill>
                <a:latin typeface="Arial"/>
              </a:rPr>
              <a:t>, </a:t>
            </a:r>
            <a:r>
              <a:rPr sz="1500" b="0" dirty="0" err="1">
                <a:solidFill>
                  <a:srgbClr val="0B1F4D"/>
                </a:solidFill>
                <a:latin typeface="Arial"/>
              </a:rPr>
              <a:t>основной</a:t>
            </a:r>
            <a:r>
              <a:rPr sz="1500" b="0" dirty="0">
                <a:solidFill>
                  <a:srgbClr val="0B1F4D"/>
                </a:solidFill>
                <a:latin typeface="Arial"/>
              </a:rPr>
              <a:t> </a:t>
            </a:r>
            <a:r>
              <a:rPr sz="1500" b="0" dirty="0" err="1">
                <a:solidFill>
                  <a:srgbClr val="0B1F4D"/>
                </a:solidFill>
                <a:latin typeface="Arial"/>
              </a:rPr>
              <a:t>сигнал</a:t>
            </a:r>
            <a:r>
              <a:rPr sz="1500" b="0" dirty="0">
                <a:solidFill>
                  <a:srgbClr val="0B1F4D"/>
                </a:solidFill>
                <a:latin typeface="Arial"/>
              </a:rPr>
              <a:t> </a:t>
            </a:r>
            <a:r>
              <a:rPr sz="1500" b="0" dirty="0" err="1">
                <a:solidFill>
                  <a:srgbClr val="0B1F4D"/>
                </a:solidFill>
                <a:latin typeface="Arial"/>
              </a:rPr>
              <a:t>проявляется</a:t>
            </a:r>
            <a:r>
              <a:rPr sz="1500" b="0" dirty="0">
                <a:solidFill>
                  <a:srgbClr val="0B1F4D"/>
                </a:solidFill>
                <a:latin typeface="Arial"/>
              </a:rPr>
              <a:t> </a:t>
            </a:r>
            <a:r>
              <a:rPr sz="1500" b="0" dirty="0" err="1">
                <a:solidFill>
                  <a:srgbClr val="0B1F4D"/>
                </a:solidFill>
                <a:latin typeface="Arial"/>
              </a:rPr>
              <a:t>в</a:t>
            </a:r>
            <a:r>
              <a:rPr sz="1500" b="0" dirty="0">
                <a:solidFill>
                  <a:srgbClr val="0B1F4D"/>
                </a:solidFill>
                <a:latin typeface="Arial"/>
              </a:rPr>
              <a:t> </a:t>
            </a:r>
            <a:r>
              <a:rPr sz="1500" b="0" dirty="0" err="1">
                <a:solidFill>
                  <a:srgbClr val="0B1F4D"/>
                </a:solidFill>
                <a:latin typeface="Arial"/>
              </a:rPr>
              <a:t>комбинациях</a:t>
            </a:r>
            <a:endParaRPr sz="1500" b="0" dirty="0">
              <a:solidFill>
                <a:srgbClr val="0B1F4D"/>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70" name="Google Shape;70;p3"/>
          <p:cNvSpPr txBox="1"/>
          <p:nvPr/>
        </p:nvSpPr>
        <p:spPr>
          <a:xfrm>
            <a:off x="500070" y="1230871"/>
            <a:ext cx="8567729"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Данные и метрика</a:t>
            </a:r>
            <a:endParaRPr sz="3000" b="1">
              <a:solidFill>
                <a:srgbClr val="0B1F4D"/>
              </a:solidFill>
              <a:latin typeface="Arial"/>
              <a:ea typeface="Arial"/>
              <a:cs typeface="Arial"/>
              <a:sym typeface="Arial"/>
            </a:endParaRPr>
          </a:p>
        </p:txBody>
      </p:sp>
      <p:sp>
        <p:nvSpPr>
          <p:cNvPr id="71" name="Google Shape;71;p3"/>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72" name="Google Shape;72;p3"/>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73" name="Google Shape;73;p3" descr="$PPTXTitle"/>
          <p:cNvSpPr txBox="1">
            <a:spLocks noGrp="1"/>
          </p:cNvSpPr>
          <p:nvPr>
            <p:ph type="title"/>
          </p:nvPr>
        </p:nvSpPr>
        <p:spPr>
          <a:xfrm>
            <a:off x="10591800" y="529421"/>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3/15</a:t>
            </a:r>
            <a:endParaRPr sz="2400">
              <a:latin typeface="Calibri"/>
              <a:ea typeface="Calibri"/>
              <a:cs typeface="Calibri"/>
              <a:sym typeface="Calibri"/>
            </a:endParaRPr>
          </a:p>
        </p:txBody>
      </p:sp>
      <p:sp>
        <p:nvSpPr>
          <p:cNvPr id="74" name="TextBox 73"/>
          <p:cNvSpPr txBox="1"/>
          <p:nvPr/>
        </p:nvSpPr>
        <p:spPr>
          <a:xfrm>
            <a:off x="594360" y="1828800"/>
            <a:ext cx="1874519" cy="777240"/>
          </a:xfrm>
          <a:prstGeom prst="rect">
            <a:avLst/>
          </a:prstGeom>
          <a:noFill/>
        </p:spPr>
        <p:txBody>
          <a:bodyPr wrap="none" lIns="9144" tIns="9144" rIns="9144" bIns="9144">
            <a:spAutoFit/>
          </a:bodyPr>
          <a:lstStyle/>
          <a:p>
            <a:pPr algn="ctr"/>
            <a:r>
              <a:rPr sz="2300" b="1">
                <a:solidFill>
                  <a:srgbClr val="0B1F4D"/>
                </a:solidFill>
                <a:latin typeface="Arial"/>
              </a:rPr>
              <a:t>247 972</a:t>
            </a:r>
          </a:p>
          <a:p>
            <a:pPr algn="ctr"/>
            <a:r>
              <a:rPr sz="1000">
                <a:solidFill>
                  <a:srgbClr val="0B1F4D"/>
                </a:solidFill>
                <a:latin typeface="Arial"/>
              </a:rPr>
              <a:t>строк в train</a:t>
            </a:r>
          </a:p>
        </p:txBody>
      </p:sp>
      <p:sp>
        <p:nvSpPr>
          <p:cNvPr id="75" name="TextBox 74"/>
          <p:cNvSpPr txBox="1"/>
          <p:nvPr/>
        </p:nvSpPr>
        <p:spPr>
          <a:xfrm>
            <a:off x="2834640" y="1828800"/>
            <a:ext cx="1874519" cy="777240"/>
          </a:xfrm>
          <a:prstGeom prst="rect">
            <a:avLst/>
          </a:prstGeom>
          <a:noFill/>
        </p:spPr>
        <p:txBody>
          <a:bodyPr wrap="none" lIns="9144" tIns="9144" rIns="9144" bIns="9144">
            <a:spAutoFit/>
          </a:bodyPr>
          <a:lstStyle/>
          <a:p>
            <a:pPr algn="ctr"/>
            <a:r>
              <a:rPr sz="2300" b="1">
                <a:solidFill>
                  <a:srgbClr val="0B1F4D"/>
                </a:solidFill>
                <a:latin typeface="Arial"/>
              </a:rPr>
              <a:t>106 274</a:t>
            </a:r>
          </a:p>
          <a:p>
            <a:pPr algn="ctr"/>
            <a:r>
              <a:rPr sz="1000">
                <a:solidFill>
                  <a:srgbClr val="0B1F4D"/>
                </a:solidFill>
                <a:latin typeface="Arial"/>
              </a:rPr>
              <a:t>строк в test</a:t>
            </a:r>
          </a:p>
        </p:txBody>
      </p:sp>
      <p:sp>
        <p:nvSpPr>
          <p:cNvPr id="76" name="TextBox 75"/>
          <p:cNvSpPr txBox="1"/>
          <p:nvPr/>
        </p:nvSpPr>
        <p:spPr>
          <a:xfrm>
            <a:off x="5074920" y="1828800"/>
            <a:ext cx="1874519" cy="777240"/>
          </a:xfrm>
          <a:prstGeom prst="rect">
            <a:avLst/>
          </a:prstGeom>
          <a:noFill/>
        </p:spPr>
        <p:txBody>
          <a:bodyPr wrap="none" lIns="9144" tIns="9144" rIns="9144" bIns="9144">
            <a:spAutoFit/>
          </a:bodyPr>
          <a:lstStyle/>
          <a:p>
            <a:pPr algn="ctr"/>
            <a:r>
              <a:rPr sz="2300" b="1">
                <a:solidFill>
                  <a:srgbClr val="0B1F4D"/>
                </a:solidFill>
                <a:latin typeface="Arial"/>
              </a:rPr>
              <a:t>1367</a:t>
            </a:r>
          </a:p>
          <a:p>
            <a:pPr algn="ctr"/>
            <a:r>
              <a:rPr sz="1000">
                <a:solidFill>
                  <a:srgbClr val="0B1F4D"/>
                </a:solidFill>
                <a:latin typeface="Arial"/>
              </a:rPr>
              <a:t>признаков</a:t>
            </a:r>
          </a:p>
        </p:txBody>
      </p:sp>
      <p:sp>
        <p:nvSpPr>
          <p:cNvPr id="77" name="TextBox 76"/>
          <p:cNvSpPr txBox="1"/>
          <p:nvPr/>
        </p:nvSpPr>
        <p:spPr>
          <a:xfrm>
            <a:off x="7315200" y="1828800"/>
            <a:ext cx="1874519" cy="777240"/>
          </a:xfrm>
          <a:prstGeom prst="rect">
            <a:avLst/>
          </a:prstGeom>
          <a:noFill/>
        </p:spPr>
        <p:txBody>
          <a:bodyPr wrap="none" lIns="9144" tIns="9144" rIns="9144" bIns="9144">
            <a:spAutoFit/>
          </a:bodyPr>
          <a:lstStyle/>
          <a:p>
            <a:pPr algn="ctr"/>
            <a:r>
              <a:rPr sz="2300" b="1">
                <a:solidFill>
                  <a:srgbClr val="0B1F4D"/>
                </a:solidFill>
                <a:latin typeface="Arial"/>
              </a:rPr>
              <a:t>1.35%</a:t>
            </a:r>
          </a:p>
          <a:p>
            <a:pPr algn="ctr"/>
            <a:r>
              <a:rPr sz="1000">
                <a:solidFill>
                  <a:srgbClr val="0B1F4D"/>
                </a:solidFill>
                <a:latin typeface="Arial"/>
              </a:rPr>
              <a:t>класс 1</a:t>
            </a:r>
          </a:p>
        </p:txBody>
      </p:sp>
      <p:sp>
        <p:nvSpPr>
          <p:cNvPr id="78" name="TextBox 77"/>
          <p:cNvSpPr txBox="1"/>
          <p:nvPr/>
        </p:nvSpPr>
        <p:spPr>
          <a:xfrm>
            <a:off x="9555480" y="1828800"/>
            <a:ext cx="1874519" cy="777240"/>
          </a:xfrm>
          <a:prstGeom prst="rect">
            <a:avLst/>
          </a:prstGeom>
          <a:noFill/>
        </p:spPr>
        <p:txBody>
          <a:bodyPr wrap="none" lIns="9144" tIns="9144" rIns="9144" bIns="9144">
            <a:spAutoFit/>
          </a:bodyPr>
          <a:lstStyle/>
          <a:p>
            <a:pPr algn="ctr"/>
            <a:r>
              <a:rPr sz="2300" b="1">
                <a:solidFill>
                  <a:srgbClr val="0B1F4D"/>
                </a:solidFill>
                <a:latin typeface="Arial"/>
              </a:rPr>
              <a:t>ROC-AUC</a:t>
            </a:r>
          </a:p>
          <a:p>
            <a:pPr algn="ctr"/>
            <a:r>
              <a:rPr sz="1000">
                <a:solidFill>
                  <a:srgbClr val="0B1F4D"/>
                </a:solidFill>
                <a:latin typeface="Arial"/>
              </a:rPr>
              <a:t>метрика</a:t>
            </a:r>
          </a:p>
        </p:txBody>
      </p:sp>
      <p:sp>
        <p:nvSpPr>
          <p:cNvPr id="79" name="TextBox 78"/>
          <p:cNvSpPr txBox="1"/>
          <p:nvPr/>
        </p:nvSpPr>
        <p:spPr>
          <a:xfrm>
            <a:off x="777240" y="3017520"/>
            <a:ext cx="10332720" cy="1965960"/>
          </a:xfrm>
          <a:prstGeom prst="rect">
            <a:avLst/>
          </a:prstGeom>
          <a:noFill/>
        </p:spPr>
        <p:txBody>
          <a:bodyPr wrap="square" lIns="36576" tIns="18288" rIns="36576" bIns="18288">
            <a:noAutofit/>
          </a:bodyPr>
          <a:lstStyle/>
          <a:p>
            <a:r>
              <a:rPr sz="1500" b="1">
                <a:solidFill>
                  <a:srgbClr val="0B1F4D"/>
                </a:solidFill>
                <a:latin typeface="Arial"/>
              </a:rPr>
              <a:t>Как интерпретировали задачу</a:t>
            </a:r>
          </a:p>
          <a:p>
            <a:endParaRPr sz="1500" b="1">
              <a:solidFill>
                <a:srgbClr val="0B1F4D"/>
              </a:solidFill>
              <a:latin typeface="Arial"/>
            </a:endParaRPr>
          </a:p>
          <a:p>
            <a:r>
              <a:rPr sz="1500" b="0">
                <a:solidFill>
                  <a:srgbClr val="0B1F4D"/>
                </a:solidFill>
                <a:latin typeface="Arial"/>
              </a:rPr>
              <a:t>Метрика ROC-AUC оценивает качество ранжирования: насколько выше модель ставит объекты положительного класса. Поэтому в пайплайне мы оптимизировали не порог, а устойчивость вероятностных / rank-предсказаний.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4"/>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81" name="Google Shape;81;p4"/>
          <p:cNvSpPr txBox="1"/>
          <p:nvPr/>
        </p:nvSpPr>
        <p:spPr>
          <a:xfrm>
            <a:off x="500071" y="1230871"/>
            <a:ext cx="6465750"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EDA: базовая диагностика</a:t>
            </a:r>
            <a:endParaRPr sz="3000" b="1">
              <a:solidFill>
                <a:srgbClr val="0B1F4D"/>
              </a:solidFill>
              <a:latin typeface="Arial"/>
              <a:ea typeface="Arial"/>
              <a:cs typeface="Arial"/>
              <a:sym typeface="Arial"/>
            </a:endParaRPr>
          </a:p>
        </p:txBody>
      </p:sp>
      <p:sp>
        <p:nvSpPr>
          <p:cNvPr id="82" name="Google Shape;82;p4"/>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83" name="Google Shape;83;p4"/>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84" name="Google Shape;84;p4" descr="$PPTXTitle"/>
          <p:cNvSpPr txBox="1">
            <a:spLocks noGrp="1"/>
          </p:cNvSpPr>
          <p:nvPr>
            <p:ph type="title"/>
          </p:nvPr>
        </p:nvSpPr>
        <p:spPr>
          <a:xfrm>
            <a:off x="10591800" y="635860"/>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4/15</a:t>
            </a:r>
            <a:endParaRPr sz="2400">
              <a:latin typeface="Calibri"/>
              <a:ea typeface="Calibri"/>
              <a:cs typeface="Calibri"/>
              <a:sym typeface="Calibri"/>
            </a:endParaRPr>
          </a:p>
        </p:txBody>
      </p:sp>
      <p:sp>
        <p:nvSpPr>
          <p:cNvPr id="85" name="TextBox 84"/>
          <p:cNvSpPr txBox="1"/>
          <p:nvPr/>
        </p:nvSpPr>
        <p:spPr>
          <a:xfrm>
            <a:off x="640080" y="1737360"/>
            <a:ext cx="5349240" cy="4160520"/>
          </a:xfrm>
          <a:prstGeom prst="rect">
            <a:avLst/>
          </a:prstGeom>
          <a:noFill/>
        </p:spPr>
        <p:txBody>
          <a:bodyPr wrap="square" lIns="36576" tIns="18288" rIns="36576" bIns="18288">
            <a:noAutofit/>
          </a:bodyPr>
          <a:lstStyle/>
          <a:p>
            <a:r>
              <a:rPr sz="1450" b="1" dirty="0" err="1">
                <a:solidFill>
                  <a:srgbClr val="0B1F4D"/>
                </a:solidFill>
                <a:latin typeface="Arial"/>
              </a:rPr>
              <a:t>Что</a:t>
            </a:r>
            <a:r>
              <a:rPr sz="1450" b="1" dirty="0">
                <a:solidFill>
                  <a:srgbClr val="0B1F4D"/>
                </a:solidFill>
                <a:latin typeface="Arial"/>
              </a:rPr>
              <a:t> </a:t>
            </a:r>
            <a:r>
              <a:rPr sz="1450" b="1" dirty="0" err="1">
                <a:solidFill>
                  <a:srgbClr val="0B1F4D"/>
                </a:solidFill>
                <a:latin typeface="Arial"/>
              </a:rPr>
              <a:t>проверял</a:t>
            </a:r>
            <a:r>
              <a:rPr lang="ru-RU" sz="1450" b="1" dirty="0">
                <a:solidFill>
                  <a:srgbClr val="0B1F4D"/>
                </a:solidFill>
                <a:latin typeface="Arial"/>
              </a:rPr>
              <a:t>и</a:t>
            </a:r>
            <a:endParaRPr sz="1450" b="1" dirty="0">
              <a:solidFill>
                <a:srgbClr val="0B1F4D"/>
              </a:solidFill>
              <a:latin typeface="Arial"/>
            </a:endParaRPr>
          </a:p>
          <a:p>
            <a:endParaRPr sz="1450" b="1"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размерности</a:t>
            </a:r>
            <a:r>
              <a:rPr sz="1450" b="0" dirty="0">
                <a:solidFill>
                  <a:srgbClr val="0B1F4D"/>
                </a:solidFill>
                <a:latin typeface="Arial"/>
              </a:rPr>
              <a:t> train/test </a:t>
            </a:r>
            <a:r>
              <a:rPr sz="1450" b="0" dirty="0" err="1">
                <a:solidFill>
                  <a:srgbClr val="0B1F4D"/>
                </a:solidFill>
                <a:latin typeface="Arial"/>
              </a:rPr>
              <a:t>и</a:t>
            </a:r>
            <a:r>
              <a:rPr sz="1450" b="0" dirty="0">
                <a:solidFill>
                  <a:srgbClr val="0B1F4D"/>
                </a:solidFill>
                <a:latin typeface="Arial"/>
              </a:rPr>
              <a:t> </a:t>
            </a:r>
            <a:r>
              <a:rPr sz="1450" b="0" dirty="0" err="1">
                <a:solidFill>
                  <a:srgbClr val="0B1F4D"/>
                </a:solidFill>
                <a:latin typeface="Arial"/>
              </a:rPr>
              <a:t>баланс</a:t>
            </a:r>
            <a:r>
              <a:rPr sz="1450" b="0" dirty="0">
                <a:solidFill>
                  <a:srgbClr val="0B1F4D"/>
                </a:solidFill>
                <a:latin typeface="Arial"/>
              </a:rPr>
              <a:t> </a:t>
            </a:r>
            <a:r>
              <a:rPr sz="1450" b="0" dirty="0" err="1">
                <a:solidFill>
                  <a:srgbClr val="0B1F4D"/>
                </a:solidFill>
                <a:latin typeface="Arial"/>
              </a:rPr>
              <a:t>таргета</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наличие</a:t>
            </a:r>
            <a:r>
              <a:rPr sz="1450" b="0" dirty="0">
                <a:solidFill>
                  <a:srgbClr val="0B1F4D"/>
                </a:solidFill>
                <a:latin typeface="Arial"/>
              </a:rPr>
              <a:t> </a:t>
            </a:r>
            <a:r>
              <a:rPr sz="1450" b="0" dirty="0" err="1">
                <a:solidFill>
                  <a:srgbClr val="0B1F4D"/>
                </a:solidFill>
                <a:latin typeface="Arial"/>
              </a:rPr>
              <a:t>пропусков</a:t>
            </a:r>
            <a:r>
              <a:rPr sz="1450" b="0" dirty="0">
                <a:solidFill>
                  <a:srgbClr val="0B1F4D"/>
                </a:solidFill>
                <a:latin typeface="Arial"/>
              </a:rPr>
              <a:t> </a:t>
            </a:r>
            <a:r>
              <a:rPr sz="1450" b="0" dirty="0" err="1">
                <a:solidFill>
                  <a:srgbClr val="0B1F4D"/>
                </a:solidFill>
                <a:latin typeface="Arial"/>
              </a:rPr>
              <a:t>и</a:t>
            </a:r>
            <a:r>
              <a:rPr sz="1450" b="0" dirty="0">
                <a:solidFill>
                  <a:srgbClr val="0B1F4D"/>
                </a:solidFill>
                <a:latin typeface="Arial"/>
              </a:rPr>
              <a:t> </a:t>
            </a:r>
            <a:r>
              <a:rPr sz="1450" b="0" dirty="0" err="1">
                <a:solidFill>
                  <a:srgbClr val="0B1F4D"/>
                </a:solidFill>
                <a:latin typeface="Arial"/>
              </a:rPr>
              <a:t>типы</a:t>
            </a:r>
            <a:r>
              <a:rPr sz="1450" b="0" dirty="0">
                <a:solidFill>
                  <a:srgbClr val="0B1F4D"/>
                </a:solidFill>
                <a:latin typeface="Arial"/>
              </a:rPr>
              <a:t> </a:t>
            </a:r>
            <a:r>
              <a:rPr sz="1450" b="0" dirty="0" err="1">
                <a:solidFill>
                  <a:srgbClr val="0B1F4D"/>
                </a:solidFill>
                <a:latin typeface="Arial"/>
              </a:rPr>
              <a:t>данных</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квазиконстантные</a:t>
            </a:r>
            <a:r>
              <a:rPr sz="1450" b="0" dirty="0">
                <a:solidFill>
                  <a:srgbClr val="0B1F4D"/>
                </a:solidFill>
                <a:latin typeface="Arial"/>
              </a:rPr>
              <a:t> </a:t>
            </a:r>
            <a:r>
              <a:rPr sz="1450" b="0" dirty="0" err="1">
                <a:solidFill>
                  <a:srgbClr val="0B1F4D"/>
                </a:solidFill>
                <a:latin typeface="Arial"/>
              </a:rPr>
              <a:t>и</a:t>
            </a:r>
            <a:r>
              <a:rPr sz="1450" b="0" dirty="0">
                <a:solidFill>
                  <a:srgbClr val="0B1F4D"/>
                </a:solidFill>
                <a:latin typeface="Arial"/>
              </a:rPr>
              <a:t> </a:t>
            </a:r>
            <a:r>
              <a:rPr sz="1450" b="0" dirty="0" err="1">
                <a:solidFill>
                  <a:srgbClr val="0B1F4D"/>
                </a:solidFill>
                <a:latin typeface="Arial"/>
              </a:rPr>
              <a:t>слабые</a:t>
            </a:r>
            <a:r>
              <a:rPr sz="1450" b="0" dirty="0">
                <a:solidFill>
                  <a:srgbClr val="0B1F4D"/>
                </a:solidFill>
                <a:latin typeface="Arial"/>
              </a:rPr>
              <a:t> </a:t>
            </a:r>
            <a:r>
              <a:rPr sz="1450" b="0" dirty="0" err="1">
                <a:solidFill>
                  <a:srgbClr val="0B1F4D"/>
                </a:solidFill>
                <a:latin typeface="Arial"/>
              </a:rPr>
              <a:t>признаки</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корреляции</a:t>
            </a:r>
            <a:r>
              <a:rPr sz="1450" b="0" dirty="0">
                <a:solidFill>
                  <a:srgbClr val="0B1F4D"/>
                </a:solidFill>
                <a:latin typeface="Arial"/>
              </a:rPr>
              <a:t> </a:t>
            </a:r>
            <a:r>
              <a:rPr sz="1450" b="0" dirty="0" err="1">
                <a:solidFill>
                  <a:srgbClr val="0B1F4D"/>
                </a:solidFill>
                <a:latin typeface="Arial"/>
              </a:rPr>
              <a:t>и</a:t>
            </a:r>
            <a:r>
              <a:rPr sz="1450" b="0" dirty="0">
                <a:solidFill>
                  <a:srgbClr val="0B1F4D"/>
                </a:solidFill>
                <a:latin typeface="Arial"/>
              </a:rPr>
              <a:t> </a:t>
            </a:r>
            <a:r>
              <a:rPr sz="1450" b="0" dirty="0" err="1">
                <a:solidFill>
                  <a:srgbClr val="0B1F4D"/>
                </a:solidFill>
                <a:latin typeface="Arial"/>
              </a:rPr>
              <a:t>признаки-близнецы</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совпадающие</a:t>
            </a:r>
            <a:r>
              <a:rPr sz="1450" b="0" dirty="0">
                <a:solidFill>
                  <a:srgbClr val="0B1F4D"/>
                </a:solidFill>
                <a:latin typeface="Arial"/>
              </a:rPr>
              <a:t> </a:t>
            </a:r>
            <a:r>
              <a:rPr sz="1450" b="0" dirty="0" err="1">
                <a:solidFill>
                  <a:srgbClr val="0B1F4D"/>
                </a:solidFill>
                <a:latin typeface="Arial"/>
              </a:rPr>
              <a:t>строки</a:t>
            </a:r>
            <a:r>
              <a:rPr sz="1450" b="0" dirty="0">
                <a:solidFill>
                  <a:srgbClr val="0B1F4D"/>
                </a:solidFill>
                <a:latin typeface="Arial"/>
              </a:rPr>
              <a:t> train/test </a:t>
            </a:r>
            <a:r>
              <a:rPr sz="1450" b="0" dirty="0" err="1">
                <a:solidFill>
                  <a:srgbClr val="0B1F4D"/>
                </a:solidFill>
                <a:latin typeface="Arial"/>
              </a:rPr>
              <a:t>как</a:t>
            </a:r>
            <a:r>
              <a:rPr sz="1450" b="0" dirty="0">
                <a:solidFill>
                  <a:srgbClr val="0B1F4D"/>
                </a:solidFill>
                <a:latin typeface="Arial"/>
              </a:rPr>
              <a:t> </a:t>
            </a:r>
            <a:r>
              <a:rPr sz="1450" b="0" dirty="0" err="1">
                <a:solidFill>
                  <a:srgbClr val="0B1F4D"/>
                </a:solidFill>
                <a:latin typeface="Arial"/>
              </a:rPr>
              <a:t>возможную</a:t>
            </a:r>
            <a:r>
              <a:rPr sz="1450" b="0" dirty="0">
                <a:solidFill>
                  <a:srgbClr val="0B1F4D"/>
                </a:solidFill>
                <a:latin typeface="Arial"/>
              </a:rPr>
              <a:t> </a:t>
            </a:r>
            <a:r>
              <a:rPr sz="1450" b="0" dirty="0" err="1">
                <a:solidFill>
                  <a:srgbClr val="0B1F4D"/>
                </a:solidFill>
                <a:latin typeface="Arial"/>
              </a:rPr>
              <a:t>утечку</a:t>
            </a:r>
            <a:endParaRPr sz="1450" b="0" dirty="0">
              <a:solidFill>
                <a:srgbClr val="0B1F4D"/>
              </a:solidFill>
              <a:latin typeface="Arial"/>
            </a:endParaRPr>
          </a:p>
        </p:txBody>
      </p:sp>
      <p:sp>
        <p:nvSpPr>
          <p:cNvPr id="86" name="TextBox 85"/>
          <p:cNvSpPr txBox="1"/>
          <p:nvPr/>
        </p:nvSpPr>
        <p:spPr>
          <a:xfrm>
            <a:off x="6263640" y="1737360"/>
            <a:ext cx="5074920" cy="4160520"/>
          </a:xfrm>
          <a:prstGeom prst="rect">
            <a:avLst/>
          </a:prstGeom>
          <a:noFill/>
        </p:spPr>
        <p:txBody>
          <a:bodyPr wrap="square" lIns="36576" tIns="18288" rIns="36576" bIns="18288">
            <a:noAutofit/>
          </a:bodyPr>
          <a:lstStyle/>
          <a:p>
            <a:r>
              <a:rPr sz="1450" b="1" dirty="0" err="1">
                <a:solidFill>
                  <a:srgbClr val="0B1F4D"/>
                </a:solidFill>
                <a:latin typeface="Arial"/>
              </a:rPr>
              <a:t>Главные</a:t>
            </a:r>
            <a:r>
              <a:rPr sz="1450" b="1" dirty="0">
                <a:solidFill>
                  <a:srgbClr val="0B1F4D"/>
                </a:solidFill>
                <a:latin typeface="Arial"/>
              </a:rPr>
              <a:t> </a:t>
            </a:r>
            <a:r>
              <a:rPr sz="1450" b="1" dirty="0" err="1">
                <a:solidFill>
                  <a:srgbClr val="0B1F4D"/>
                </a:solidFill>
                <a:latin typeface="Arial"/>
              </a:rPr>
              <a:t>факты</a:t>
            </a:r>
            <a:endParaRPr sz="1450" b="1" dirty="0">
              <a:solidFill>
                <a:srgbClr val="0B1F4D"/>
              </a:solidFill>
              <a:latin typeface="Arial"/>
            </a:endParaRPr>
          </a:p>
          <a:p>
            <a:endParaRPr sz="1450" b="1"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явных</a:t>
            </a:r>
            <a:r>
              <a:rPr sz="1450" b="0" dirty="0">
                <a:solidFill>
                  <a:srgbClr val="0B1F4D"/>
                </a:solidFill>
                <a:latin typeface="Arial"/>
              </a:rPr>
              <a:t> </a:t>
            </a:r>
            <a:r>
              <a:rPr sz="1450" b="0" dirty="0" err="1">
                <a:solidFill>
                  <a:srgbClr val="0B1F4D"/>
                </a:solidFill>
                <a:latin typeface="Arial"/>
              </a:rPr>
              <a:t>NaN</a:t>
            </a:r>
            <a:r>
              <a:rPr sz="1450" b="0" dirty="0">
                <a:solidFill>
                  <a:srgbClr val="0B1F4D"/>
                </a:solidFill>
                <a:latin typeface="Arial"/>
              </a:rPr>
              <a:t> </a:t>
            </a:r>
            <a:r>
              <a:rPr sz="1450" b="0" dirty="0" err="1">
                <a:solidFill>
                  <a:srgbClr val="0B1F4D"/>
                </a:solidFill>
                <a:latin typeface="Arial"/>
              </a:rPr>
              <a:t>нет</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удалили</a:t>
            </a:r>
            <a:r>
              <a:rPr sz="1450" b="0" dirty="0">
                <a:solidFill>
                  <a:srgbClr val="0B1F4D"/>
                </a:solidFill>
                <a:latin typeface="Arial"/>
              </a:rPr>
              <a:t> 7 </a:t>
            </a:r>
            <a:r>
              <a:rPr sz="1450" b="0" dirty="0" err="1">
                <a:solidFill>
                  <a:srgbClr val="0B1F4D"/>
                </a:solidFill>
                <a:latin typeface="Arial"/>
              </a:rPr>
              <a:t>мусорных</a:t>
            </a:r>
            <a:r>
              <a:rPr sz="1450" b="0" dirty="0">
                <a:solidFill>
                  <a:srgbClr val="0B1F4D"/>
                </a:solidFill>
                <a:latin typeface="Arial"/>
              </a:rPr>
              <a:t> </a:t>
            </a:r>
            <a:r>
              <a:rPr sz="1450" b="0" dirty="0" err="1">
                <a:solidFill>
                  <a:srgbClr val="0B1F4D"/>
                </a:solidFill>
                <a:latin typeface="Arial"/>
              </a:rPr>
              <a:t>квазиконстантных</a:t>
            </a:r>
            <a:r>
              <a:rPr sz="1450" b="0" dirty="0">
                <a:solidFill>
                  <a:srgbClr val="0B1F4D"/>
                </a:solidFill>
                <a:latin typeface="Arial"/>
              </a:rPr>
              <a:t> </a:t>
            </a:r>
            <a:r>
              <a:rPr sz="1450" b="0" dirty="0" err="1">
                <a:solidFill>
                  <a:srgbClr val="0B1F4D"/>
                </a:solidFill>
                <a:latin typeface="Arial"/>
              </a:rPr>
              <a:t>признаков</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нашли</a:t>
            </a:r>
            <a:r>
              <a:rPr sz="1450" b="0" dirty="0">
                <a:solidFill>
                  <a:srgbClr val="0B1F4D"/>
                </a:solidFill>
                <a:latin typeface="Arial"/>
              </a:rPr>
              <a:t> 41 </a:t>
            </a:r>
            <a:r>
              <a:rPr sz="1450" b="0" dirty="0" err="1">
                <a:solidFill>
                  <a:srgbClr val="0B1F4D"/>
                </a:solidFill>
                <a:latin typeface="Arial"/>
              </a:rPr>
              <a:t>сильно</a:t>
            </a:r>
            <a:r>
              <a:rPr sz="1450" b="0" dirty="0">
                <a:solidFill>
                  <a:srgbClr val="0B1F4D"/>
                </a:solidFill>
                <a:latin typeface="Arial"/>
              </a:rPr>
              <a:t> </a:t>
            </a:r>
            <a:r>
              <a:rPr sz="1450" b="0" dirty="0" err="1">
                <a:solidFill>
                  <a:srgbClr val="0B1F4D"/>
                </a:solidFill>
                <a:latin typeface="Arial"/>
              </a:rPr>
              <a:t>похожий</a:t>
            </a:r>
            <a:r>
              <a:rPr sz="1450" b="0" dirty="0">
                <a:solidFill>
                  <a:srgbClr val="0B1F4D"/>
                </a:solidFill>
                <a:latin typeface="Arial"/>
              </a:rPr>
              <a:t> </a:t>
            </a:r>
            <a:r>
              <a:rPr sz="1450" b="0" dirty="0" err="1">
                <a:solidFill>
                  <a:srgbClr val="0B1F4D"/>
                </a:solidFill>
                <a:latin typeface="Arial"/>
              </a:rPr>
              <a:t>признак</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есть</a:t>
            </a:r>
            <a:r>
              <a:rPr sz="1450" b="0" dirty="0">
                <a:solidFill>
                  <a:srgbClr val="0B1F4D"/>
                </a:solidFill>
                <a:latin typeface="Arial"/>
              </a:rPr>
              <a:t> </a:t>
            </a:r>
            <a:r>
              <a:rPr sz="1450" b="0" dirty="0" err="1">
                <a:solidFill>
                  <a:srgbClr val="0B1F4D"/>
                </a:solidFill>
                <a:latin typeface="Arial"/>
              </a:rPr>
              <a:t>совпадения</a:t>
            </a:r>
            <a:r>
              <a:rPr sz="1450" b="0" dirty="0">
                <a:solidFill>
                  <a:srgbClr val="0B1F4D"/>
                </a:solidFill>
                <a:latin typeface="Arial"/>
              </a:rPr>
              <a:t> </a:t>
            </a:r>
            <a:r>
              <a:rPr sz="1450" b="0" dirty="0" err="1">
                <a:solidFill>
                  <a:srgbClr val="0B1F4D"/>
                </a:solidFill>
                <a:latin typeface="Arial"/>
              </a:rPr>
              <a:t>строк</a:t>
            </a:r>
            <a:r>
              <a:rPr sz="1450" b="0" dirty="0">
                <a:solidFill>
                  <a:srgbClr val="0B1F4D"/>
                </a:solidFill>
                <a:latin typeface="Arial"/>
              </a:rPr>
              <a:t> </a:t>
            </a:r>
            <a:r>
              <a:rPr sz="1450" b="0" dirty="0" err="1">
                <a:solidFill>
                  <a:srgbClr val="0B1F4D"/>
                </a:solidFill>
                <a:latin typeface="Arial"/>
              </a:rPr>
              <a:t>между</a:t>
            </a:r>
            <a:r>
              <a:rPr sz="1450" b="0" dirty="0">
                <a:solidFill>
                  <a:srgbClr val="0B1F4D"/>
                </a:solidFill>
                <a:latin typeface="Arial"/>
              </a:rPr>
              <a:t> train </a:t>
            </a:r>
            <a:r>
              <a:rPr sz="1450" b="0" dirty="0" err="1">
                <a:solidFill>
                  <a:srgbClr val="0B1F4D"/>
                </a:solidFill>
                <a:latin typeface="Arial"/>
              </a:rPr>
              <a:t>и</a:t>
            </a:r>
            <a:r>
              <a:rPr sz="1450" b="0" dirty="0">
                <a:solidFill>
                  <a:srgbClr val="0B1F4D"/>
                </a:solidFill>
                <a:latin typeface="Arial"/>
              </a:rPr>
              <a:t> test, </a:t>
            </a:r>
            <a:r>
              <a:rPr sz="1450" b="0" dirty="0" err="1">
                <a:solidFill>
                  <a:srgbClr val="0B1F4D"/>
                </a:solidFill>
                <a:latin typeface="Arial"/>
              </a:rPr>
              <a:t>но</a:t>
            </a:r>
            <a:r>
              <a:rPr sz="1450" b="0" dirty="0">
                <a:solidFill>
                  <a:srgbClr val="0B1F4D"/>
                </a:solidFill>
                <a:latin typeface="Arial"/>
              </a:rPr>
              <a:t> </a:t>
            </a:r>
            <a:r>
              <a:rPr sz="1450" b="0" dirty="0" err="1">
                <a:solidFill>
                  <a:srgbClr val="0B1F4D"/>
                </a:solidFill>
                <a:latin typeface="Arial"/>
              </a:rPr>
              <a:t>это</a:t>
            </a:r>
            <a:r>
              <a:rPr sz="1450" b="0" dirty="0">
                <a:solidFill>
                  <a:srgbClr val="0B1F4D"/>
                </a:solidFill>
                <a:latin typeface="Arial"/>
              </a:rPr>
              <a:t> </a:t>
            </a:r>
            <a:r>
              <a:rPr sz="1450" b="0" dirty="0" err="1">
                <a:solidFill>
                  <a:srgbClr val="0B1F4D"/>
                </a:solidFill>
                <a:latin typeface="Arial"/>
              </a:rPr>
              <a:t>не</a:t>
            </a:r>
            <a:r>
              <a:rPr sz="1450" b="0" dirty="0">
                <a:solidFill>
                  <a:srgbClr val="0B1F4D"/>
                </a:solidFill>
                <a:latin typeface="Arial"/>
              </a:rPr>
              <a:t> </a:t>
            </a:r>
            <a:r>
              <a:rPr sz="1450" b="0" dirty="0" err="1">
                <a:solidFill>
                  <a:srgbClr val="0B1F4D"/>
                </a:solidFill>
                <a:latin typeface="Arial"/>
              </a:rPr>
              <a:t>заменяет</a:t>
            </a:r>
            <a:r>
              <a:rPr sz="1450" b="0" dirty="0">
                <a:solidFill>
                  <a:srgbClr val="0B1F4D"/>
                </a:solidFill>
                <a:latin typeface="Arial"/>
              </a:rPr>
              <a:t> </a:t>
            </a:r>
            <a:r>
              <a:rPr sz="1450" b="0" dirty="0" err="1">
                <a:solidFill>
                  <a:srgbClr val="0B1F4D"/>
                </a:solidFill>
                <a:latin typeface="Arial"/>
              </a:rPr>
              <a:t>полноценное</a:t>
            </a:r>
            <a:r>
              <a:rPr sz="1450" b="0" dirty="0">
                <a:solidFill>
                  <a:srgbClr val="0B1F4D"/>
                </a:solidFill>
                <a:latin typeface="Arial"/>
              </a:rPr>
              <a:t> </a:t>
            </a:r>
            <a:r>
              <a:rPr sz="1450" b="0" dirty="0" err="1">
                <a:solidFill>
                  <a:srgbClr val="0B1F4D"/>
                </a:solidFill>
                <a:latin typeface="Arial"/>
              </a:rPr>
              <a:t>моделирование</a:t>
            </a:r>
            <a:endParaRPr sz="1450" b="0" dirty="0">
              <a:solidFill>
                <a:srgbClr val="0B1F4D"/>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5"/>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91" name="Google Shape;91;p5"/>
          <p:cNvSpPr txBox="1"/>
          <p:nvPr/>
        </p:nvSpPr>
        <p:spPr>
          <a:xfrm>
            <a:off x="500070" y="1230871"/>
            <a:ext cx="9253529"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EDA: структура признаков</a:t>
            </a:r>
            <a:endParaRPr sz="3000" b="1">
              <a:solidFill>
                <a:srgbClr val="0B1F4D"/>
              </a:solidFill>
              <a:latin typeface="Arial"/>
              <a:ea typeface="Arial"/>
              <a:cs typeface="Arial"/>
              <a:sym typeface="Arial"/>
            </a:endParaRPr>
          </a:p>
        </p:txBody>
      </p:sp>
      <p:sp>
        <p:nvSpPr>
          <p:cNvPr id="92" name="Google Shape;92;p5"/>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93" name="Google Shape;93;p5"/>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94" name="Google Shape;94;p5" descr="$PPTXTitle"/>
          <p:cNvSpPr txBox="1">
            <a:spLocks noGrp="1"/>
          </p:cNvSpPr>
          <p:nvPr>
            <p:ph type="title"/>
          </p:nvPr>
        </p:nvSpPr>
        <p:spPr>
          <a:xfrm>
            <a:off x="10591800" y="529421"/>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5/15</a:t>
            </a:r>
            <a:endParaRPr sz="2400">
              <a:latin typeface="Calibri"/>
              <a:ea typeface="Calibri"/>
              <a:cs typeface="Calibri"/>
              <a:sym typeface="Calibri"/>
            </a:endParaRPr>
          </a:p>
        </p:txBody>
      </p:sp>
      <p:sp>
        <p:nvSpPr>
          <p:cNvPr id="95" name="TextBox 94"/>
          <p:cNvSpPr txBox="1"/>
          <p:nvPr/>
        </p:nvSpPr>
        <p:spPr>
          <a:xfrm>
            <a:off x="640080" y="1828800"/>
            <a:ext cx="5257800" cy="3566160"/>
          </a:xfrm>
          <a:prstGeom prst="rect">
            <a:avLst/>
          </a:prstGeom>
          <a:noFill/>
        </p:spPr>
        <p:txBody>
          <a:bodyPr wrap="square" lIns="36576" tIns="18288" rIns="36576" bIns="18288">
            <a:noAutofit/>
          </a:bodyPr>
          <a:lstStyle/>
          <a:p>
            <a:r>
              <a:rPr sz="1500" b="1">
                <a:solidFill>
                  <a:srgbClr val="0B1F4D"/>
                </a:solidFill>
                <a:latin typeface="Arial"/>
              </a:rPr>
              <a:t>Что видно по сильным признакам</a:t>
            </a:r>
          </a:p>
          <a:p>
            <a:endParaRPr sz="1500" b="1">
              <a:solidFill>
                <a:srgbClr val="0B1F4D"/>
              </a:solidFill>
              <a:latin typeface="Arial"/>
            </a:endParaRPr>
          </a:p>
          <a:p>
            <a:r>
              <a:rPr sz="1500" b="0">
                <a:solidFill>
                  <a:srgbClr val="0B1F4D"/>
                </a:solidFill>
                <a:latin typeface="Arial"/>
              </a:rPr>
              <a:t>• часть признаков похожа на дискретные счётчики</a:t>
            </a:r>
          </a:p>
          <a:p>
            <a:r>
              <a:rPr sz="1500" b="0">
                <a:solidFill>
                  <a:srgbClr val="0B1F4D"/>
                </a:solidFill>
                <a:latin typeface="Arial"/>
              </a:rPr>
              <a:t>• часть — плотные непрерывные метрики</a:t>
            </a:r>
          </a:p>
          <a:p>
            <a:r>
              <a:rPr sz="1500" b="0">
                <a:solidFill>
                  <a:srgbClr val="0B1F4D"/>
                </a:solidFill>
                <a:latin typeface="Arial"/>
              </a:rPr>
              <a:t>• у многих признаков высокая доля нулей</a:t>
            </a:r>
          </a:p>
          <a:p>
            <a:r>
              <a:rPr sz="1500" b="0">
                <a:solidFill>
                  <a:srgbClr val="0B1F4D"/>
                </a:solidFill>
                <a:latin typeface="Arial"/>
              </a:rPr>
              <a:t>• у сильных фичей заметны тяжёлые хвосты и выбросы</a:t>
            </a:r>
          </a:p>
        </p:txBody>
      </p:sp>
      <p:sp>
        <p:nvSpPr>
          <p:cNvPr id="96" name="TextBox 95"/>
          <p:cNvSpPr txBox="1"/>
          <p:nvPr/>
        </p:nvSpPr>
        <p:spPr>
          <a:xfrm>
            <a:off x="6172200" y="1828800"/>
            <a:ext cx="5166360" cy="3566160"/>
          </a:xfrm>
          <a:prstGeom prst="rect">
            <a:avLst/>
          </a:prstGeom>
          <a:noFill/>
        </p:spPr>
        <p:txBody>
          <a:bodyPr wrap="square" lIns="36576" tIns="18288" rIns="36576" bIns="18288">
            <a:noAutofit/>
          </a:bodyPr>
          <a:lstStyle/>
          <a:p>
            <a:r>
              <a:rPr sz="1500" b="1">
                <a:solidFill>
                  <a:srgbClr val="0B1F4D"/>
                </a:solidFill>
                <a:latin typeface="Arial"/>
              </a:rPr>
              <a:t>Вывод для моделирования</a:t>
            </a:r>
          </a:p>
          <a:p>
            <a:endParaRPr sz="1500" b="1">
              <a:solidFill>
                <a:srgbClr val="0B1F4D"/>
              </a:solidFill>
              <a:latin typeface="Arial"/>
            </a:endParaRPr>
          </a:p>
          <a:p>
            <a:r>
              <a:rPr sz="1500" b="0">
                <a:solidFill>
                  <a:srgbClr val="0B1F4D"/>
                </a:solidFill>
                <a:latin typeface="Arial"/>
              </a:rPr>
              <a:t>Простого корреляционного отбора недостаточно: важен нелинейный сигнал. Поэтому дальше делали несколько feature spaces и проверяли их через валидацию, а не выбирали один набор признаков «на глаз».</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6"/>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04" name="Google Shape;104;p6"/>
          <p:cNvSpPr txBox="1"/>
          <p:nvPr/>
        </p:nvSpPr>
        <p:spPr>
          <a:xfrm>
            <a:off x="500071" y="1230871"/>
            <a:ext cx="6465750"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Feature engineering</a:t>
            </a:r>
            <a:endParaRPr sz="3000" b="1">
              <a:solidFill>
                <a:srgbClr val="0B1F4D"/>
              </a:solidFill>
              <a:latin typeface="Arial"/>
              <a:ea typeface="Arial"/>
              <a:cs typeface="Arial"/>
              <a:sym typeface="Arial"/>
            </a:endParaRPr>
          </a:p>
        </p:txBody>
      </p:sp>
      <p:sp>
        <p:nvSpPr>
          <p:cNvPr id="105" name="Google Shape;105;p6"/>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06" name="Google Shape;106;p6"/>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07" name="Google Shape;107;p6" descr="$PPTXTitle"/>
          <p:cNvSpPr txBox="1">
            <a:spLocks noGrp="1"/>
          </p:cNvSpPr>
          <p:nvPr>
            <p:ph type="title"/>
          </p:nvPr>
        </p:nvSpPr>
        <p:spPr>
          <a:xfrm>
            <a:off x="10515600" y="529421"/>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6/15</a:t>
            </a:r>
            <a:endParaRPr sz="2400">
              <a:latin typeface="Calibri"/>
              <a:ea typeface="Calibri"/>
              <a:cs typeface="Calibri"/>
              <a:sym typeface="Calibri"/>
            </a:endParaRPr>
          </a:p>
        </p:txBody>
      </p:sp>
      <p:sp>
        <p:nvSpPr>
          <p:cNvPr id="108" name="TextBox 107"/>
          <p:cNvSpPr txBox="1"/>
          <p:nvPr/>
        </p:nvSpPr>
        <p:spPr>
          <a:xfrm>
            <a:off x="640080" y="1783080"/>
            <a:ext cx="5349240" cy="3657600"/>
          </a:xfrm>
          <a:prstGeom prst="rect">
            <a:avLst/>
          </a:prstGeom>
          <a:noFill/>
        </p:spPr>
        <p:txBody>
          <a:bodyPr wrap="square" lIns="36576" tIns="18288" rIns="36576" bIns="18288">
            <a:noAutofit/>
          </a:bodyPr>
          <a:lstStyle/>
          <a:p>
            <a:r>
              <a:rPr sz="1450" b="1">
                <a:solidFill>
                  <a:srgbClr val="0B1F4D"/>
                </a:solidFill>
                <a:latin typeface="Arial"/>
              </a:rPr>
              <a:t>Что добавляли</a:t>
            </a:r>
          </a:p>
          <a:p>
            <a:endParaRPr sz="1450" b="1">
              <a:solidFill>
                <a:srgbClr val="0B1F4D"/>
              </a:solidFill>
              <a:latin typeface="Arial"/>
            </a:endParaRPr>
          </a:p>
          <a:p>
            <a:r>
              <a:rPr sz="1450" b="0">
                <a:solidFill>
                  <a:srgbClr val="0B1F4D"/>
                </a:solidFill>
                <a:latin typeface="Arial"/>
              </a:rPr>
              <a:t>• frequency encoding для частот значений</a:t>
            </a:r>
          </a:p>
          <a:p>
            <a:r>
              <a:rPr sz="1450" b="0">
                <a:solidFill>
                  <a:srgbClr val="0B1F4D"/>
                </a:solidFill>
                <a:latin typeface="Arial"/>
              </a:rPr>
              <a:t>• rank-преобразования для устойчивого порядка</a:t>
            </a:r>
          </a:p>
          <a:p>
            <a:r>
              <a:rPr sz="1450" b="0">
                <a:solidFill>
                  <a:srgbClr val="0B1F4D"/>
                </a:solidFill>
                <a:latin typeface="Arial"/>
              </a:rPr>
              <a:t>• OOF target encoding без утечки</a:t>
            </a:r>
          </a:p>
          <a:p>
            <a:r>
              <a:rPr sz="1450" b="0">
                <a:solidFill>
                  <a:srgbClr val="0B1F4D"/>
                </a:solidFill>
                <a:latin typeface="Arial"/>
              </a:rPr>
              <a:t>• PCA / SVD и компактные stack-признаки</a:t>
            </a:r>
          </a:p>
          <a:p>
            <a:r>
              <a:rPr sz="1450" b="0">
                <a:solidFill>
                  <a:srgbClr val="0B1F4D"/>
                </a:solidFill>
                <a:latin typeface="Arial"/>
              </a:rPr>
              <a:t>• meta-features из OOF-предсказаний базовых моделей</a:t>
            </a:r>
          </a:p>
        </p:txBody>
      </p:sp>
      <p:sp>
        <p:nvSpPr>
          <p:cNvPr id="109" name="TextBox 108"/>
          <p:cNvSpPr txBox="1"/>
          <p:nvPr/>
        </p:nvSpPr>
        <p:spPr>
          <a:xfrm>
            <a:off x="6263640" y="1783080"/>
            <a:ext cx="5074920" cy="3657600"/>
          </a:xfrm>
          <a:prstGeom prst="rect">
            <a:avLst/>
          </a:prstGeom>
          <a:noFill/>
        </p:spPr>
        <p:txBody>
          <a:bodyPr wrap="square" lIns="36576" tIns="18288" rIns="36576" bIns="18288">
            <a:noAutofit/>
          </a:bodyPr>
          <a:lstStyle/>
          <a:p>
            <a:r>
              <a:rPr sz="1450" b="1">
                <a:solidFill>
                  <a:srgbClr val="0B1F4D"/>
                </a:solidFill>
                <a:latin typeface="Arial"/>
              </a:rPr>
              <a:t>Как отбирали</a:t>
            </a:r>
          </a:p>
          <a:p>
            <a:endParaRPr sz="1450" b="1">
              <a:solidFill>
                <a:srgbClr val="0B1F4D"/>
              </a:solidFill>
              <a:latin typeface="Arial"/>
            </a:endParaRPr>
          </a:p>
          <a:p>
            <a:r>
              <a:rPr sz="1450" b="0">
                <a:solidFill>
                  <a:srgbClr val="0B1F4D"/>
                </a:solidFill>
                <a:latin typeface="Arial"/>
              </a:rPr>
              <a:t>• top300 / top500 по важности и корреляциям</a:t>
            </a:r>
          </a:p>
          <a:p>
            <a:r>
              <a:rPr sz="1450" b="0">
                <a:solidFill>
                  <a:srgbClr val="0B1F4D"/>
                </a:solidFill>
                <a:latin typeface="Arial"/>
              </a:rPr>
              <a:t>• clean-наборы без квазиконстант и близнецов</a:t>
            </a:r>
          </a:p>
          <a:p>
            <a:r>
              <a:rPr sz="1450" b="0">
                <a:solidFill>
                  <a:srgbClr val="0B1F4D"/>
                </a:solidFill>
                <a:latin typeface="Arial"/>
              </a:rPr>
              <a:t>• stable-наборы с учётом train/test drift</a:t>
            </a:r>
          </a:p>
          <a:p>
            <a:r>
              <a:rPr sz="1450" b="0">
                <a:solidFill>
                  <a:srgbClr val="0B1F4D"/>
                </a:solidFill>
                <a:latin typeface="Arial"/>
              </a:rPr>
              <a:t>• несколько наборов оставляли для ансамбля, даже если один из них не был лучшим</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7"/>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14" name="Google Shape;114;p7"/>
          <p:cNvSpPr txBox="1"/>
          <p:nvPr/>
        </p:nvSpPr>
        <p:spPr>
          <a:xfrm>
            <a:off x="500071" y="1230871"/>
            <a:ext cx="6465750"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Валидационная схема</a:t>
            </a:r>
            <a:endParaRPr sz="3000" b="1">
              <a:solidFill>
                <a:srgbClr val="0B1F4D"/>
              </a:solidFill>
              <a:latin typeface="Arial"/>
              <a:ea typeface="Arial"/>
              <a:cs typeface="Arial"/>
              <a:sym typeface="Arial"/>
            </a:endParaRPr>
          </a:p>
        </p:txBody>
      </p:sp>
      <p:sp>
        <p:nvSpPr>
          <p:cNvPr id="115" name="Google Shape;115;p7"/>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16" name="Google Shape;116;p7"/>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17" name="Google Shape;117;p7" descr="$PPTXTitle"/>
          <p:cNvSpPr txBox="1">
            <a:spLocks noGrp="1"/>
          </p:cNvSpPr>
          <p:nvPr>
            <p:ph type="title"/>
          </p:nvPr>
        </p:nvSpPr>
        <p:spPr>
          <a:xfrm>
            <a:off x="10591800" y="522616"/>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7/15</a:t>
            </a:r>
            <a:endParaRPr sz="2400">
              <a:latin typeface="Calibri"/>
              <a:ea typeface="Calibri"/>
              <a:cs typeface="Calibri"/>
              <a:sym typeface="Calibri"/>
            </a:endParaRPr>
          </a:p>
        </p:txBody>
      </p:sp>
      <p:sp>
        <p:nvSpPr>
          <p:cNvPr id="118" name="TextBox 117"/>
          <p:cNvSpPr txBox="1"/>
          <p:nvPr/>
        </p:nvSpPr>
        <p:spPr>
          <a:xfrm>
            <a:off x="594360" y="1874519"/>
            <a:ext cx="1920240" cy="1783080"/>
          </a:xfrm>
          <a:prstGeom prst="rect">
            <a:avLst/>
          </a:prstGeom>
          <a:noFill/>
        </p:spPr>
        <p:txBody>
          <a:bodyPr wrap="square" lIns="36576" tIns="18288" rIns="36576" bIns="18288">
            <a:spAutoFit/>
          </a:bodyPr>
          <a:lstStyle/>
          <a:p>
            <a:r>
              <a:rPr sz="1450" b="1">
                <a:solidFill>
                  <a:srgbClr val="0B1F4D"/>
                </a:solidFill>
                <a:latin typeface="Arial"/>
              </a:rPr>
              <a:t>1. Split</a:t>
            </a:r>
          </a:p>
          <a:p>
            <a:r>
              <a:rPr sz="1100">
                <a:solidFill>
                  <a:srgbClr val="0B1F4D"/>
                </a:solidFill>
                <a:latin typeface="Arial"/>
              </a:rPr>
              <a:t>стратифицированные фолды</a:t>
            </a:r>
          </a:p>
        </p:txBody>
      </p:sp>
      <p:sp>
        <p:nvSpPr>
          <p:cNvPr id="119" name="TextBox 118"/>
          <p:cNvSpPr txBox="1"/>
          <p:nvPr/>
        </p:nvSpPr>
        <p:spPr>
          <a:xfrm>
            <a:off x="2862072" y="1874519"/>
            <a:ext cx="1920240" cy="1783080"/>
          </a:xfrm>
          <a:prstGeom prst="rect">
            <a:avLst/>
          </a:prstGeom>
          <a:noFill/>
        </p:spPr>
        <p:txBody>
          <a:bodyPr wrap="square" lIns="36576" tIns="18288" rIns="36576" bIns="18288">
            <a:spAutoFit/>
          </a:bodyPr>
          <a:lstStyle/>
          <a:p>
            <a:r>
              <a:rPr sz="1450" b="1">
                <a:solidFill>
                  <a:srgbClr val="0B1F4D"/>
                </a:solidFill>
                <a:latin typeface="Arial"/>
              </a:rPr>
              <a:t>2. OOF</a:t>
            </a:r>
          </a:p>
          <a:p>
            <a:r>
              <a:rPr sz="1100">
                <a:solidFill>
                  <a:srgbClr val="0B1F4D"/>
                </a:solidFill>
                <a:latin typeface="Arial"/>
              </a:rPr>
              <a:t>предсказания вне обучающего фолда</a:t>
            </a:r>
          </a:p>
        </p:txBody>
      </p:sp>
      <p:sp>
        <p:nvSpPr>
          <p:cNvPr id="120" name="TextBox 119"/>
          <p:cNvSpPr txBox="1"/>
          <p:nvPr/>
        </p:nvSpPr>
        <p:spPr>
          <a:xfrm>
            <a:off x="5129784" y="1874519"/>
            <a:ext cx="1920240" cy="1783080"/>
          </a:xfrm>
          <a:prstGeom prst="rect">
            <a:avLst/>
          </a:prstGeom>
          <a:noFill/>
        </p:spPr>
        <p:txBody>
          <a:bodyPr wrap="square" lIns="36576" tIns="18288" rIns="36576" bIns="18288">
            <a:spAutoFit/>
          </a:bodyPr>
          <a:lstStyle/>
          <a:p>
            <a:r>
              <a:rPr sz="1450" b="1">
                <a:solidFill>
                  <a:srgbClr val="0B1F4D"/>
                </a:solidFill>
                <a:latin typeface="Arial"/>
              </a:rPr>
              <a:t>3. Metric</a:t>
            </a:r>
          </a:p>
          <a:p>
            <a:r>
              <a:rPr sz="1100">
                <a:solidFill>
                  <a:srgbClr val="0B1F4D"/>
                </a:solidFill>
                <a:latin typeface="Arial"/>
              </a:rPr>
              <a:t>ROC-AUC на OOF / validation</a:t>
            </a:r>
          </a:p>
        </p:txBody>
      </p:sp>
      <p:sp>
        <p:nvSpPr>
          <p:cNvPr id="121" name="TextBox 120"/>
          <p:cNvSpPr txBox="1"/>
          <p:nvPr/>
        </p:nvSpPr>
        <p:spPr>
          <a:xfrm>
            <a:off x="7397496" y="1874519"/>
            <a:ext cx="1920240" cy="1783080"/>
          </a:xfrm>
          <a:prstGeom prst="rect">
            <a:avLst/>
          </a:prstGeom>
          <a:noFill/>
        </p:spPr>
        <p:txBody>
          <a:bodyPr wrap="square" lIns="36576" tIns="18288" rIns="36576" bIns="18288">
            <a:spAutoFit/>
          </a:bodyPr>
          <a:lstStyle/>
          <a:p>
            <a:r>
              <a:rPr sz="1450" b="1">
                <a:solidFill>
                  <a:srgbClr val="0B1F4D"/>
                </a:solidFill>
                <a:latin typeface="Arial"/>
              </a:rPr>
              <a:t>4. Blend</a:t>
            </a:r>
          </a:p>
          <a:p>
            <a:r>
              <a:rPr sz="1100">
                <a:solidFill>
                  <a:srgbClr val="0B1F4D"/>
                </a:solidFill>
                <a:latin typeface="Arial"/>
              </a:rPr>
              <a:t>веса подбираются только по OOF</a:t>
            </a:r>
          </a:p>
        </p:txBody>
      </p:sp>
      <p:sp>
        <p:nvSpPr>
          <p:cNvPr id="122" name="TextBox 121"/>
          <p:cNvSpPr txBox="1"/>
          <p:nvPr/>
        </p:nvSpPr>
        <p:spPr>
          <a:xfrm>
            <a:off x="9665208" y="1874519"/>
            <a:ext cx="1920240" cy="1783080"/>
          </a:xfrm>
          <a:prstGeom prst="rect">
            <a:avLst/>
          </a:prstGeom>
          <a:noFill/>
        </p:spPr>
        <p:txBody>
          <a:bodyPr wrap="square" lIns="36576" tIns="18288" rIns="36576" bIns="18288">
            <a:spAutoFit/>
          </a:bodyPr>
          <a:lstStyle/>
          <a:p>
            <a:r>
              <a:rPr sz="1450" b="1">
                <a:solidFill>
                  <a:srgbClr val="0B1F4D"/>
                </a:solidFill>
                <a:latin typeface="Arial"/>
              </a:rPr>
              <a:t>5. Submit</a:t>
            </a:r>
          </a:p>
          <a:p>
            <a:r>
              <a:rPr sz="1100">
                <a:solidFill>
                  <a:srgbClr val="0B1F4D"/>
                </a:solidFill>
                <a:latin typeface="Arial"/>
              </a:rPr>
              <a:t>private test как финальная проверка</a:t>
            </a:r>
          </a:p>
        </p:txBody>
      </p:sp>
      <p:sp>
        <p:nvSpPr>
          <p:cNvPr id="123" name="TextBox 122"/>
          <p:cNvSpPr txBox="1"/>
          <p:nvPr/>
        </p:nvSpPr>
        <p:spPr>
          <a:xfrm>
            <a:off x="777240" y="4160520"/>
            <a:ext cx="10149840" cy="960120"/>
          </a:xfrm>
          <a:prstGeom prst="rect">
            <a:avLst/>
          </a:prstGeom>
          <a:noFill/>
        </p:spPr>
        <p:txBody>
          <a:bodyPr wrap="square" lIns="36576" tIns="18288" rIns="36576" bIns="18288">
            <a:noAutofit/>
          </a:bodyPr>
          <a:lstStyle/>
          <a:p>
            <a:r>
              <a:rPr sz="1600">
                <a:solidFill>
                  <a:srgbClr val="02205B"/>
                </a:solidFill>
                <a:latin typeface="Arial"/>
              </a:rPr>
              <a:t>OOF использовали как ориентир для сравнения моделей и блендов. Старые локальные 0.71+ были завышены из-за утечки, поэтому финально смотрели на private/public leaderboard.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8"/>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24" name="Google Shape;124;p8"/>
          <p:cNvSpPr txBox="1"/>
          <p:nvPr/>
        </p:nvSpPr>
        <p:spPr>
          <a:xfrm>
            <a:off x="500071" y="1230871"/>
            <a:ext cx="6465750"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Одиночные модели: leaderboard</a:t>
            </a:r>
            <a:endParaRPr sz="3000" b="1">
              <a:solidFill>
                <a:srgbClr val="0B1F4D"/>
              </a:solidFill>
              <a:latin typeface="Arial"/>
              <a:ea typeface="Arial"/>
              <a:cs typeface="Arial"/>
              <a:sym typeface="Arial"/>
            </a:endParaRPr>
          </a:p>
        </p:txBody>
      </p:sp>
      <p:sp>
        <p:nvSpPr>
          <p:cNvPr id="125" name="Google Shape;125;p8"/>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26" name="Google Shape;126;p8"/>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27" name="Google Shape;127;p8" descr="$PPTXTitle"/>
          <p:cNvSpPr txBox="1">
            <a:spLocks noGrp="1"/>
          </p:cNvSpPr>
          <p:nvPr>
            <p:ph type="title"/>
          </p:nvPr>
        </p:nvSpPr>
        <p:spPr>
          <a:xfrm>
            <a:off x="10591800" y="532084"/>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8/15</a:t>
            </a:r>
            <a:endParaRPr sz="2400">
              <a:latin typeface="Calibri"/>
              <a:ea typeface="Calibri"/>
              <a:cs typeface="Calibri"/>
              <a:sym typeface="Calibri"/>
            </a:endParaRPr>
          </a:p>
        </p:txBody>
      </p:sp>
      <p:graphicFrame>
        <p:nvGraphicFramePr>
          <p:cNvPr id="128" name="Table 127"/>
          <p:cNvGraphicFramePr>
            <a:graphicFrameLocks noGrp="1"/>
          </p:cNvGraphicFramePr>
          <p:nvPr/>
        </p:nvGraphicFramePr>
        <p:xfrm>
          <a:off x="685800" y="1900000"/>
          <a:ext cx="10881360" cy="3850000"/>
        </p:xfrm>
        <a:graphic>
          <a:graphicData uri="http://schemas.openxmlformats.org/drawingml/2006/table">
            <a:tbl>
              <a:tblPr firstRow="1" bandRow="1">
                <a:tableStyleId>{5C22544A-7EE6-4342-B048-85BDC9FD1C3A}</a:tableStyleId>
              </a:tblPr>
              <a:tblGrid>
                <a:gridCol w="5984748"/>
                <a:gridCol w="2448306"/>
                <a:gridCol w="2448306"/>
              </a:tblGrid>
              <a:tr h="305972">
                <a:tc>
                  <a:txBody>
                    <a:bodyPr anchor="ctr" wrap="square"/>
                    <a:lstStyle/>
                    <a:p>
                      <a:pPr algn="ctr"/>
                      <a:r>
                        <a:rPr sz="1050" b="1">
                          <a:solidFill>
                            <a:srgbClr val="02205B"/>
                          </a:solidFill>
                          <a:latin typeface="Arial"/>
                        </a:rPr>
                        <a:t>Модель / вариант</a:t>
                      </a:r>
                    </a:p>
                  </a:txBody>
                  <a:tcPr marL="63500" marR="63500" marT="25400" marB="25400">
                    <a:solidFill>
                      <a:srgbClr val="E5EBF8"/>
                    </a:solidFill>
                  </a:tcPr>
                </a:tc>
                <a:tc>
                  <a:txBody>
                    <a:bodyPr anchor="ctr" wrap="square"/>
                    <a:lstStyle/>
                    <a:p>
                      <a:pPr algn="ctr"/>
                      <a:r>
                        <a:rPr sz="1050" b="1">
                          <a:solidFill>
                            <a:srgbClr val="02205B"/>
                          </a:solidFill>
                          <a:latin typeface="Arial"/>
                        </a:rPr>
                        <a:t>Private ROC-AUC</a:t>
                      </a:r>
                    </a:p>
                  </a:txBody>
                  <a:tcPr marL="63500" marR="63500" marT="25400" marB="25400">
                    <a:solidFill>
                      <a:srgbClr val="E5EBF8"/>
                    </a:solidFill>
                  </a:tcPr>
                </a:tc>
                <a:tc>
                  <a:txBody>
                    <a:bodyPr anchor="ctr" wrap="square"/>
                    <a:lstStyle/>
                    <a:p>
                      <a:pPr algn="ctr"/>
                      <a:r>
                        <a:rPr sz="1050" b="1">
                          <a:solidFill>
                            <a:srgbClr val="02205B"/>
                          </a:solidFill>
                          <a:latin typeface="Arial"/>
                        </a:rPr>
                        <a:t>Public ROC-AUC</a:t>
                      </a:r>
                    </a:p>
                  </a:txBody>
                  <a:tcPr marL="63500" marR="63500" marT="25400" marB="25400">
                    <a:solidFill>
                      <a:srgbClr val="E5EBF8"/>
                    </a:solidFill>
                  </a:tcPr>
                </a:tc>
              </a:tr>
              <a:tr h="305972">
                <a:tc>
                  <a:txBody>
                    <a:bodyPr anchor="ctr" wrap="square"/>
                    <a:lstStyle/>
                    <a:p>
                      <a:pPr algn="l"/>
                      <a:r>
                        <a:rPr sz="1019" b="1">
                          <a:solidFill>
                            <a:srgbClr val="02205B"/>
                          </a:solidFill>
                          <a:latin typeface="Arial"/>
                        </a:rPr>
                        <a:t>LightGBM top500 engineered</a:t>
                      </a:r>
                    </a:p>
                  </a:txBody>
                  <a:tcPr marL="63500" marR="63500" marT="25400" marB="25400">
                    <a:solidFill>
                      <a:srgbClr val="FFFFFF"/>
                    </a:solidFill>
                  </a:tcPr>
                </a:tc>
                <a:tc>
                  <a:txBody>
                    <a:bodyPr anchor="ctr" wrap="square"/>
                    <a:lstStyle/>
                    <a:p>
                      <a:pPr algn="ctr"/>
                      <a:r>
                        <a:rPr sz="1019" b="0">
                          <a:solidFill>
                            <a:srgbClr val="02205B"/>
                          </a:solidFill>
                          <a:latin typeface="Arial"/>
                        </a:rPr>
                        <a:t>0.69074</a:t>
                      </a:r>
                    </a:p>
                  </a:txBody>
                  <a:tcPr marL="63500" marR="63500" marT="25400" marB="25400">
                    <a:solidFill>
                      <a:srgbClr val="FFFFFF"/>
                    </a:solidFill>
                  </a:tcPr>
                </a:tc>
                <a:tc>
                  <a:txBody>
                    <a:bodyPr anchor="ctr" wrap="square"/>
                    <a:lstStyle/>
                    <a:p>
                      <a:pPr algn="ctr"/>
                      <a:r>
                        <a:rPr sz="1019" b="0">
                          <a:solidFill>
                            <a:srgbClr val="02205B"/>
                          </a:solidFill>
                          <a:latin typeface="Arial"/>
                        </a:rPr>
                        <a:t>0.65790</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LightGBM DART</a:t>
                      </a:r>
                    </a:p>
                  </a:txBody>
                  <a:tcPr marL="63500" marR="63500" marT="25400" marB="25400">
                    <a:solidFill>
                      <a:srgbClr val="FFFFFF"/>
                    </a:solidFill>
                  </a:tcPr>
                </a:tc>
                <a:tc>
                  <a:txBody>
                    <a:bodyPr anchor="ctr" wrap="square"/>
                    <a:lstStyle/>
                    <a:p>
                      <a:pPr algn="ctr"/>
                      <a:r>
                        <a:rPr sz="1019" b="0">
                          <a:solidFill>
                            <a:srgbClr val="02205B"/>
                          </a:solidFill>
                          <a:latin typeface="Arial"/>
                        </a:rPr>
                        <a:t>0.68889</a:t>
                      </a:r>
                    </a:p>
                  </a:txBody>
                  <a:tcPr marL="63500" marR="63500" marT="25400" marB="25400">
                    <a:solidFill>
                      <a:srgbClr val="FFFFFF"/>
                    </a:solidFill>
                  </a:tcPr>
                </a:tc>
                <a:tc>
                  <a:txBody>
                    <a:bodyPr anchor="ctr" wrap="square"/>
                    <a:lstStyle/>
                    <a:p>
                      <a:pPr algn="ctr"/>
                      <a:r>
                        <a:rPr sz="1019" b="0">
                          <a:solidFill>
                            <a:srgbClr val="02205B"/>
                          </a:solidFill>
                          <a:latin typeface="Arial"/>
                        </a:rPr>
                        <a:t>0.65463</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FLAML AutoML</a:t>
                      </a:r>
                    </a:p>
                  </a:txBody>
                  <a:tcPr marL="63500" marR="63500" marT="25400" marB="25400">
                    <a:solidFill>
                      <a:srgbClr val="FFFFFF"/>
                    </a:solidFill>
                  </a:tcPr>
                </a:tc>
                <a:tc>
                  <a:txBody>
                    <a:bodyPr anchor="ctr" wrap="square"/>
                    <a:lstStyle/>
                    <a:p>
                      <a:pPr algn="ctr"/>
                      <a:r>
                        <a:rPr sz="1019" b="0">
                          <a:solidFill>
                            <a:srgbClr val="02205B"/>
                          </a:solidFill>
                          <a:latin typeface="Arial"/>
                        </a:rPr>
                        <a:t>0.68439</a:t>
                      </a:r>
                    </a:p>
                  </a:txBody>
                  <a:tcPr marL="63500" marR="63500" marT="25400" marB="25400">
                    <a:solidFill>
                      <a:srgbClr val="FFFFFF"/>
                    </a:solidFill>
                  </a:tcPr>
                </a:tc>
                <a:tc>
                  <a:txBody>
                    <a:bodyPr anchor="ctr" wrap="square"/>
                    <a:lstStyle/>
                    <a:p>
                      <a:pPr algn="ctr"/>
                      <a:r>
                        <a:rPr sz="1019" b="0">
                          <a:solidFill>
                            <a:srgbClr val="02205B"/>
                          </a:solidFill>
                          <a:latin typeface="Arial"/>
                        </a:rPr>
                        <a:t>0.66971</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XGBoost PCA/SVD stack</a:t>
                      </a:r>
                    </a:p>
                  </a:txBody>
                  <a:tcPr marL="63500" marR="63500" marT="25400" marB="25400">
                    <a:solidFill>
                      <a:srgbClr val="FFFFFF"/>
                    </a:solidFill>
                  </a:tcPr>
                </a:tc>
                <a:tc>
                  <a:txBody>
                    <a:bodyPr anchor="ctr" wrap="square"/>
                    <a:lstStyle/>
                    <a:p>
                      <a:pPr algn="ctr"/>
                      <a:r>
                        <a:rPr sz="1019" b="0">
                          <a:solidFill>
                            <a:srgbClr val="02205B"/>
                          </a:solidFill>
                          <a:latin typeface="Arial"/>
                        </a:rPr>
                        <a:t>0.68315</a:t>
                      </a:r>
                    </a:p>
                  </a:txBody>
                  <a:tcPr marL="63500" marR="63500" marT="25400" marB="25400">
                    <a:solidFill>
                      <a:srgbClr val="FFFFFF"/>
                    </a:solidFill>
                  </a:tcPr>
                </a:tc>
                <a:tc>
                  <a:txBody>
                    <a:bodyPr anchor="ctr" wrap="square"/>
                    <a:lstStyle/>
                    <a:p>
                      <a:pPr algn="ctr"/>
                      <a:r>
                        <a:rPr sz="1019" b="0">
                          <a:solidFill>
                            <a:srgbClr val="02205B"/>
                          </a:solidFill>
                          <a:latin typeface="Arial"/>
                        </a:rPr>
                        <a:t>0.65670</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CatBoost linear stack compact</a:t>
                      </a:r>
                    </a:p>
                  </a:txBody>
                  <a:tcPr marL="63500" marR="63500" marT="25400" marB="25400">
                    <a:solidFill>
                      <a:srgbClr val="FFFFFF"/>
                    </a:solidFill>
                  </a:tcPr>
                </a:tc>
                <a:tc>
                  <a:txBody>
                    <a:bodyPr anchor="ctr" wrap="square"/>
                    <a:lstStyle/>
                    <a:p>
                      <a:pPr algn="ctr"/>
                      <a:r>
                        <a:rPr sz="1019" b="0">
                          <a:solidFill>
                            <a:srgbClr val="02205B"/>
                          </a:solidFill>
                          <a:latin typeface="Arial"/>
                        </a:rPr>
                        <a:t>0.68306</a:t>
                      </a:r>
                    </a:p>
                  </a:txBody>
                  <a:tcPr marL="63500" marR="63500" marT="25400" marB="25400">
                    <a:solidFill>
                      <a:srgbClr val="FFFFFF"/>
                    </a:solidFill>
                  </a:tcPr>
                </a:tc>
                <a:tc>
                  <a:txBody>
                    <a:bodyPr anchor="ctr" wrap="square"/>
                    <a:lstStyle/>
                    <a:p>
                      <a:pPr algn="ctr"/>
                      <a:r>
                        <a:rPr sz="1019" b="0">
                          <a:solidFill>
                            <a:srgbClr val="02205B"/>
                          </a:solidFill>
                          <a:latin typeface="Arial"/>
                        </a:rPr>
                        <a:t>0.65923</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ExtraTrees PCA/SVD stack</a:t>
                      </a:r>
                    </a:p>
                  </a:txBody>
                  <a:tcPr marL="63500" marR="63500" marT="25400" marB="25400">
                    <a:solidFill>
                      <a:srgbClr val="FFFFFF"/>
                    </a:solidFill>
                  </a:tcPr>
                </a:tc>
                <a:tc>
                  <a:txBody>
                    <a:bodyPr anchor="ctr" wrap="square"/>
                    <a:lstStyle/>
                    <a:p>
                      <a:pPr algn="ctr"/>
                      <a:r>
                        <a:rPr sz="1019" b="0">
                          <a:solidFill>
                            <a:srgbClr val="02205B"/>
                          </a:solidFill>
                          <a:latin typeface="Arial"/>
                        </a:rPr>
                        <a:t>0.68290</a:t>
                      </a:r>
                    </a:p>
                  </a:txBody>
                  <a:tcPr marL="63500" marR="63500" marT="25400" marB="25400">
                    <a:solidFill>
                      <a:srgbClr val="FFFFFF"/>
                    </a:solidFill>
                  </a:tcPr>
                </a:tc>
                <a:tc>
                  <a:txBody>
                    <a:bodyPr anchor="ctr" wrap="square"/>
                    <a:lstStyle/>
                    <a:p>
                      <a:pPr algn="ctr"/>
                      <a:r>
                        <a:rPr sz="1019" b="0">
                          <a:solidFill>
                            <a:srgbClr val="02205B"/>
                          </a:solidFill>
                          <a:latin typeface="Arial"/>
                        </a:rPr>
                        <a:t>0.65442</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LightGBM no-drift top700</a:t>
                      </a:r>
                    </a:p>
                  </a:txBody>
                  <a:tcPr marL="63500" marR="63500" marT="25400" marB="25400">
                    <a:solidFill>
                      <a:srgbClr val="FFFFFF"/>
                    </a:solidFill>
                  </a:tcPr>
                </a:tc>
                <a:tc>
                  <a:txBody>
                    <a:bodyPr anchor="ctr" wrap="square"/>
                    <a:lstStyle/>
                    <a:p>
                      <a:pPr algn="ctr"/>
                      <a:r>
                        <a:rPr sz="1019" b="0">
                          <a:solidFill>
                            <a:srgbClr val="02205B"/>
                          </a:solidFill>
                          <a:latin typeface="Arial"/>
                        </a:rPr>
                        <a:t>0.68146</a:t>
                      </a:r>
                    </a:p>
                  </a:txBody>
                  <a:tcPr marL="63500" marR="63500" marT="25400" marB="25400">
                    <a:solidFill>
                      <a:srgbClr val="FFFFFF"/>
                    </a:solidFill>
                  </a:tcPr>
                </a:tc>
                <a:tc>
                  <a:txBody>
                    <a:bodyPr anchor="ctr" wrap="square"/>
                    <a:lstStyle/>
                    <a:p>
                      <a:pPr algn="ctr"/>
                      <a:r>
                        <a:rPr sz="1019" b="0">
                          <a:solidFill>
                            <a:srgbClr val="02205B"/>
                          </a:solidFill>
                          <a:latin typeface="Arial"/>
                        </a:rPr>
                        <a:t>0.64800</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LightGBM regularized peak</a:t>
                      </a:r>
                    </a:p>
                  </a:txBody>
                  <a:tcPr marL="63500" marR="63500" marT="25400" marB="25400">
                    <a:solidFill>
                      <a:srgbClr val="FFFFFF"/>
                    </a:solidFill>
                  </a:tcPr>
                </a:tc>
                <a:tc>
                  <a:txBody>
                    <a:bodyPr anchor="ctr" wrap="square"/>
                    <a:lstStyle/>
                    <a:p>
                      <a:pPr algn="ctr"/>
                      <a:r>
                        <a:rPr sz="1019" b="0">
                          <a:solidFill>
                            <a:srgbClr val="02205B"/>
                          </a:solidFill>
                          <a:latin typeface="Arial"/>
                        </a:rPr>
                        <a:t>0.68010</a:t>
                      </a:r>
                    </a:p>
                  </a:txBody>
                  <a:tcPr marL="63500" marR="63500" marT="25400" marB="25400">
                    <a:solidFill>
                      <a:srgbClr val="FFFFFF"/>
                    </a:solidFill>
                  </a:tcPr>
                </a:tc>
                <a:tc>
                  <a:txBody>
                    <a:bodyPr anchor="ctr" wrap="square"/>
                    <a:lstStyle/>
                    <a:p>
                      <a:pPr algn="ctr"/>
                      <a:r>
                        <a:rPr sz="1019" b="0">
                          <a:solidFill>
                            <a:srgbClr val="02205B"/>
                          </a:solidFill>
                          <a:latin typeface="Arial"/>
                        </a:rPr>
                        <a:t>0.64481</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HistGradientBoosting</a:t>
                      </a:r>
                    </a:p>
                  </a:txBody>
                  <a:tcPr marL="63500" marR="63500" marT="25400" marB="25400">
                    <a:solidFill>
                      <a:srgbClr val="FFFFFF"/>
                    </a:solidFill>
                  </a:tcPr>
                </a:tc>
                <a:tc>
                  <a:txBody>
                    <a:bodyPr anchor="ctr" wrap="square"/>
                    <a:lstStyle/>
                    <a:p>
                      <a:pPr algn="ctr"/>
                      <a:r>
                        <a:rPr sz="1019" b="0">
                          <a:solidFill>
                            <a:srgbClr val="02205B"/>
                          </a:solidFill>
                          <a:latin typeface="Arial"/>
                        </a:rPr>
                        <a:t>0.67825</a:t>
                      </a:r>
                    </a:p>
                  </a:txBody>
                  <a:tcPr marL="63500" marR="63500" marT="25400" marB="25400">
                    <a:solidFill>
                      <a:srgbClr val="FFFFFF"/>
                    </a:solidFill>
                  </a:tcPr>
                </a:tc>
                <a:tc>
                  <a:txBody>
                    <a:bodyPr anchor="ctr" wrap="square"/>
                    <a:lstStyle/>
                    <a:p>
                      <a:pPr algn="ctr"/>
                      <a:r>
                        <a:rPr sz="1019" b="0">
                          <a:solidFill>
                            <a:srgbClr val="02205B"/>
                          </a:solidFill>
                          <a:latin typeface="Arial"/>
                        </a:rPr>
                        <a:t>0.65383</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XGBoost depth4</a:t>
                      </a:r>
                    </a:p>
                  </a:txBody>
                  <a:tcPr marL="63500" marR="63500" marT="25400" marB="25400">
                    <a:solidFill>
                      <a:srgbClr val="FFFFFF"/>
                    </a:solidFill>
                  </a:tcPr>
                </a:tc>
                <a:tc>
                  <a:txBody>
                    <a:bodyPr anchor="ctr" wrap="square"/>
                    <a:lstStyle/>
                    <a:p>
                      <a:pPr algn="ctr"/>
                      <a:r>
                        <a:rPr sz="1019" b="0">
                          <a:solidFill>
                            <a:srgbClr val="02205B"/>
                          </a:solidFill>
                          <a:latin typeface="Arial"/>
                        </a:rPr>
                        <a:t>0.67824</a:t>
                      </a:r>
                    </a:p>
                  </a:txBody>
                  <a:tcPr marL="63500" marR="63500" marT="25400" marB="25400">
                    <a:solidFill>
                      <a:srgbClr val="FFFFFF"/>
                    </a:solidFill>
                  </a:tcPr>
                </a:tc>
                <a:tc>
                  <a:txBody>
                    <a:bodyPr anchor="ctr" wrap="square"/>
                    <a:lstStyle/>
                    <a:p>
                      <a:pPr algn="ctr"/>
                      <a:r>
                        <a:rPr sz="1019" b="0">
                          <a:solidFill>
                            <a:srgbClr val="02205B"/>
                          </a:solidFill>
                          <a:latin typeface="Arial"/>
                        </a:rPr>
                        <a:t>0.65558</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RandomForest balanced</a:t>
                      </a:r>
                    </a:p>
                  </a:txBody>
                  <a:tcPr marL="63500" marR="63500" marT="25400" marB="25400">
                    <a:solidFill>
                      <a:srgbClr val="FFFFFF"/>
                    </a:solidFill>
                  </a:tcPr>
                </a:tc>
                <a:tc>
                  <a:txBody>
                    <a:bodyPr anchor="ctr" wrap="square"/>
                    <a:lstStyle/>
                    <a:p>
                      <a:pPr algn="ctr"/>
                      <a:r>
                        <a:rPr sz="1019" b="0">
                          <a:solidFill>
                            <a:srgbClr val="02205B"/>
                          </a:solidFill>
                          <a:latin typeface="Arial"/>
                        </a:rPr>
                        <a:t>0.67129</a:t>
                      </a:r>
                    </a:p>
                  </a:txBody>
                  <a:tcPr marL="63500" marR="63500" marT="25400" marB="25400">
                    <a:solidFill>
                      <a:srgbClr val="FFFFFF"/>
                    </a:solidFill>
                  </a:tcPr>
                </a:tc>
                <a:tc>
                  <a:txBody>
                    <a:bodyPr anchor="ctr" wrap="square"/>
                    <a:lstStyle/>
                    <a:p>
                      <a:pPr algn="ctr"/>
                      <a:r>
                        <a:rPr sz="1019" b="0">
                          <a:solidFill>
                            <a:srgbClr val="02205B"/>
                          </a:solidFill>
                          <a:latin typeface="Arial"/>
                        </a:rPr>
                        <a:t>0.65687</a:t>
                      </a:r>
                    </a:p>
                  </a:txBody>
                  <a:tcPr marL="63500" marR="63500" marT="25400" marB="25400">
                    <a:solidFill>
                      <a:srgbClr val="FFFFFF"/>
                    </a:solidFill>
                  </a:tcPr>
                </a:tc>
              </a:tr>
              <a:tr h="305975">
                <a:tc>
                  <a:txBody>
                    <a:bodyPr anchor="ctr" wrap="square"/>
                    <a:lstStyle/>
                    <a:p>
                      <a:pPr algn="l"/>
                      <a:r>
                        <a:rPr sz="1019" b="1">
                          <a:solidFill>
                            <a:srgbClr val="02205B"/>
                          </a:solidFill>
                          <a:latin typeface="Arial"/>
                        </a:rPr>
                        <a:t>LogReg linear stack compact</a:t>
                      </a:r>
                    </a:p>
                  </a:txBody>
                  <a:tcPr marL="63500" marR="63500" marT="25400" marB="25400">
                    <a:solidFill>
                      <a:srgbClr val="FFFFFF"/>
                    </a:solidFill>
                  </a:tcPr>
                </a:tc>
                <a:tc>
                  <a:txBody>
                    <a:bodyPr anchor="ctr" wrap="square"/>
                    <a:lstStyle/>
                    <a:p>
                      <a:pPr algn="ctr"/>
                      <a:r>
                        <a:rPr sz="1019" b="0">
                          <a:solidFill>
                            <a:srgbClr val="02205B"/>
                          </a:solidFill>
                          <a:latin typeface="Arial"/>
                        </a:rPr>
                        <a:t>0.66755</a:t>
                      </a:r>
                    </a:p>
                  </a:txBody>
                  <a:tcPr marL="63500" marR="63500" marT="25400" marB="25400">
                    <a:solidFill>
                      <a:srgbClr val="FFFFFF"/>
                    </a:solidFill>
                  </a:tcPr>
                </a:tc>
                <a:tc>
                  <a:txBody>
                    <a:bodyPr anchor="ctr" wrap="square"/>
                    <a:lstStyle/>
                    <a:p>
                      <a:pPr algn="ctr"/>
                      <a:r>
                        <a:rPr sz="1019" b="0">
                          <a:solidFill>
                            <a:srgbClr val="02205B"/>
                          </a:solidFill>
                          <a:latin typeface="Arial"/>
                        </a:rPr>
                        <a:t>0.64533</a:t>
                      </a:r>
                    </a:p>
                  </a:txBody>
                  <a:tcPr marL="63500" marR="63500" marT="25400" marB="25400">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9"/>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35" name="Google Shape;135;p9"/>
          <p:cNvSpPr txBox="1"/>
          <p:nvPr/>
        </p:nvSpPr>
        <p:spPr>
          <a:xfrm>
            <a:off x="500071" y="1230871"/>
            <a:ext cx="6465750"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Одиночные модели: дополнительные пробы</a:t>
            </a:r>
            <a:endParaRPr sz="3000" b="1">
              <a:solidFill>
                <a:srgbClr val="0B1F4D"/>
              </a:solidFill>
              <a:latin typeface="Arial"/>
              <a:ea typeface="Arial"/>
              <a:cs typeface="Arial"/>
              <a:sym typeface="Arial"/>
            </a:endParaRPr>
          </a:p>
        </p:txBody>
      </p:sp>
      <p:sp>
        <p:nvSpPr>
          <p:cNvPr id="136" name="Google Shape;136;p9"/>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37" name="Google Shape;137;p9"/>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38" name="Google Shape;138;p9" descr="$PPTXTitle"/>
          <p:cNvSpPr txBox="1">
            <a:spLocks noGrp="1"/>
          </p:cNvSpPr>
          <p:nvPr>
            <p:ph type="title"/>
          </p:nvPr>
        </p:nvSpPr>
        <p:spPr>
          <a:xfrm>
            <a:off x="10591800" y="561960"/>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9/15</a:t>
            </a:r>
            <a:endParaRPr sz="2400">
              <a:latin typeface="Calibri"/>
              <a:ea typeface="Calibri"/>
              <a:cs typeface="Calibri"/>
              <a:sym typeface="Calibri"/>
            </a:endParaRPr>
          </a:p>
        </p:txBody>
      </p:sp>
      <p:graphicFrame>
        <p:nvGraphicFramePr>
          <p:cNvPr id="139" name="Table 138"/>
          <p:cNvGraphicFramePr>
            <a:graphicFrameLocks noGrp="1"/>
          </p:cNvGraphicFramePr>
          <p:nvPr/>
        </p:nvGraphicFramePr>
        <p:xfrm>
          <a:off x="685800" y="1900000"/>
          <a:ext cx="10881360" cy="3650000"/>
        </p:xfrm>
        <a:graphic>
          <a:graphicData uri="http://schemas.openxmlformats.org/drawingml/2006/table">
            <a:tbl>
              <a:tblPr firstRow="1" bandRow="1">
                <a:tableStyleId>{5C22544A-7EE6-4342-B048-85BDC9FD1C3A}</a:tableStyleId>
              </a:tblPr>
              <a:tblGrid>
                <a:gridCol w="5984748"/>
                <a:gridCol w="2448306"/>
                <a:gridCol w="2448306"/>
              </a:tblGrid>
              <a:tr h="336665">
                <a:tc>
                  <a:txBody>
                    <a:bodyPr anchor="ctr" wrap="square"/>
                    <a:lstStyle/>
                    <a:p>
                      <a:pPr algn="ctr"/>
                      <a:r>
                        <a:rPr sz="1050" b="1">
                          <a:solidFill>
                            <a:srgbClr val="02205B"/>
                          </a:solidFill>
                          <a:latin typeface="Arial"/>
                        </a:rPr>
                        <a:t>Модель / вариант</a:t>
                      </a:r>
                    </a:p>
                  </a:txBody>
                  <a:tcPr marL="63500" marR="63500" marT="25400" marB="25400">
                    <a:solidFill>
                      <a:srgbClr val="E5EBF8"/>
                    </a:solidFill>
                  </a:tcPr>
                </a:tc>
                <a:tc>
                  <a:txBody>
                    <a:bodyPr anchor="ctr" wrap="square"/>
                    <a:lstStyle/>
                    <a:p>
                      <a:pPr algn="ctr"/>
                      <a:r>
                        <a:rPr sz="1050" b="1">
                          <a:solidFill>
                            <a:srgbClr val="02205B"/>
                          </a:solidFill>
                          <a:latin typeface="Arial"/>
                        </a:rPr>
                        <a:t>Private ROC-AUC</a:t>
                      </a:r>
                    </a:p>
                  </a:txBody>
                  <a:tcPr marL="63500" marR="63500" marT="25400" marB="25400">
                    <a:solidFill>
                      <a:srgbClr val="E5EBF8"/>
                    </a:solidFill>
                  </a:tcPr>
                </a:tc>
                <a:tc>
                  <a:txBody>
                    <a:bodyPr anchor="ctr" wrap="square"/>
                    <a:lstStyle/>
                    <a:p>
                      <a:pPr algn="ctr"/>
                      <a:r>
                        <a:rPr sz="1050" b="1">
                          <a:solidFill>
                            <a:srgbClr val="02205B"/>
                          </a:solidFill>
                          <a:latin typeface="Arial"/>
                        </a:rPr>
                        <a:t>Public ROC-AUC</a:t>
                      </a:r>
                    </a:p>
                  </a:txBody>
                  <a:tcPr marL="63500" marR="63500" marT="25400" marB="25400">
                    <a:solidFill>
                      <a:srgbClr val="E5EBF8"/>
                    </a:solidFill>
                  </a:tcPr>
                </a:tc>
              </a:tr>
              <a:tr h="336665">
                <a:tc>
                  <a:txBody>
                    <a:bodyPr anchor="ctr" wrap="square"/>
                    <a:lstStyle/>
                    <a:p>
                      <a:pPr algn="l"/>
                      <a:r>
                        <a:rPr sz="1019" b="1">
                          <a:solidFill>
                            <a:srgbClr val="02205B"/>
                          </a:solidFill>
                          <a:latin typeface="Arial"/>
                        </a:rPr>
                        <a:t>LightGBM GOSS</a:t>
                      </a:r>
                    </a:p>
                  </a:txBody>
                  <a:tcPr marL="63500" marR="63500" marT="25400" marB="25400">
                    <a:solidFill>
                      <a:srgbClr val="FFFFFF"/>
                    </a:solidFill>
                  </a:tcPr>
                </a:tc>
                <a:tc>
                  <a:txBody>
                    <a:bodyPr anchor="ctr" wrap="square"/>
                    <a:lstStyle/>
                    <a:p>
                      <a:pPr algn="ctr"/>
                      <a:r>
                        <a:rPr sz="1019" b="0">
                          <a:solidFill>
                            <a:srgbClr val="02205B"/>
                          </a:solidFill>
                          <a:latin typeface="Arial"/>
                        </a:rPr>
                        <a:t>0.68259</a:t>
                      </a:r>
                    </a:p>
                  </a:txBody>
                  <a:tcPr marL="63500" marR="63500" marT="25400" marB="25400">
                    <a:solidFill>
                      <a:srgbClr val="FFFFFF"/>
                    </a:solidFill>
                  </a:tcPr>
                </a:tc>
                <a:tc>
                  <a:txBody>
                    <a:bodyPr anchor="ctr" wrap="square"/>
                    <a:lstStyle/>
                    <a:p>
                      <a:pPr algn="ctr"/>
                      <a:r>
                        <a:rPr sz="1019" b="0">
                          <a:solidFill>
                            <a:srgbClr val="02205B"/>
                          </a:solidFill>
                          <a:latin typeface="Arial"/>
                        </a:rPr>
                        <a:t>0.66569</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LightGBM noise-downweight</a:t>
                      </a:r>
                    </a:p>
                  </a:txBody>
                  <a:tcPr marL="63500" marR="63500" marT="25400" marB="25400">
                    <a:solidFill>
                      <a:srgbClr val="FFFFFF"/>
                    </a:solidFill>
                  </a:tcPr>
                </a:tc>
                <a:tc>
                  <a:txBody>
                    <a:bodyPr anchor="ctr" wrap="square"/>
                    <a:lstStyle/>
                    <a:p>
                      <a:pPr algn="ctr"/>
                      <a:r>
                        <a:rPr sz="1019" b="0">
                          <a:solidFill>
                            <a:srgbClr val="02205B"/>
                          </a:solidFill>
                          <a:latin typeface="Arial"/>
                        </a:rPr>
                        <a:t>0.67977</a:t>
                      </a:r>
                    </a:p>
                  </a:txBody>
                  <a:tcPr marL="63500" marR="63500" marT="25400" marB="25400">
                    <a:solidFill>
                      <a:srgbClr val="FFFFFF"/>
                    </a:solidFill>
                  </a:tcPr>
                </a:tc>
                <a:tc>
                  <a:txBody>
                    <a:bodyPr anchor="ctr" wrap="square"/>
                    <a:lstStyle/>
                    <a:p>
                      <a:pPr algn="ctr"/>
                      <a:r>
                        <a:rPr sz="1019" b="0">
                          <a:solidFill>
                            <a:srgbClr val="02205B"/>
                          </a:solidFill>
                          <a:latin typeface="Arial"/>
                        </a:rPr>
                        <a:t>0.64575</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LightGBM small leaves</a:t>
                      </a:r>
                    </a:p>
                  </a:txBody>
                  <a:tcPr marL="63500" marR="63500" marT="25400" marB="25400">
                    <a:solidFill>
                      <a:srgbClr val="FFFFFF"/>
                    </a:solidFill>
                  </a:tcPr>
                </a:tc>
                <a:tc>
                  <a:txBody>
                    <a:bodyPr anchor="ctr" wrap="square"/>
                    <a:lstStyle/>
                    <a:p>
                      <a:pPr algn="ctr"/>
                      <a:r>
                        <a:rPr sz="1019" b="0">
                          <a:solidFill>
                            <a:srgbClr val="02205B"/>
                          </a:solidFill>
                          <a:latin typeface="Arial"/>
                        </a:rPr>
                        <a:t>0.67465</a:t>
                      </a:r>
                    </a:p>
                  </a:txBody>
                  <a:tcPr marL="63500" marR="63500" marT="25400" marB="25400">
                    <a:solidFill>
                      <a:srgbClr val="FFFFFF"/>
                    </a:solidFill>
                  </a:tcPr>
                </a:tc>
                <a:tc>
                  <a:txBody>
                    <a:bodyPr anchor="ctr" wrap="square"/>
                    <a:lstStyle/>
                    <a:p>
                      <a:pPr algn="ctr"/>
                      <a:r>
                        <a:rPr sz="1019" b="0">
                          <a:solidFill>
                            <a:srgbClr val="02205B"/>
                          </a:solidFill>
                          <a:latin typeface="Arial"/>
                        </a:rPr>
                        <a:t>0.65394</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CatBoost depth6</a:t>
                      </a:r>
                    </a:p>
                  </a:txBody>
                  <a:tcPr marL="63500" marR="63500" marT="25400" marB="25400">
                    <a:solidFill>
                      <a:srgbClr val="FFFFFF"/>
                    </a:solidFill>
                  </a:tcPr>
                </a:tc>
                <a:tc>
                  <a:txBody>
                    <a:bodyPr anchor="ctr" wrap="square"/>
                    <a:lstStyle/>
                    <a:p>
                      <a:pPr algn="ctr"/>
                      <a:r>
                        <a:rPr sz="1019" b="0">
                          <a:solidFill>
                            <a:srgbClr val="02205B"/>
                          </a:solidFill>
                          <a:latin typeface="Arial"/>
                        </a:rPr>
                        <a:t>0.66424</a:t>
                      </a:r>
                    </a:p>
                  </a:txBody>
                  <a:tcPr marL="63500" marR="63500" marT="25400" marB="25400">
                    <a:solidFill>
                      <a:srgbClr val="FFFFFF"/>
                    </a:solidFill>
                  </a:tcPr>
                </a:tc>
                <a:tc>
                  <a:txBody>
                    <a:bodyPr anchor="ctr" wrap="square"/>
                    <a:lstStyle/>
                    <a:p>
                      <a:pPr algn="ctr"/>
                      <a:r>
                        <a:rPr sz="1019" b="0">
                          <a:solidFill>
                            <a:srgbClr val="02205B"/>
                          </a:solidFill>
                          <a:latin typeface="Arial"/>
                        </a:rPr>
                        <a:t>0.64420</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HistGradientBoosting v3</a:t>
                      </a:r>
                    </a:p>
                  </a:txBody>
                  <a:tcPr marL="63500" marR="63500" marT="25400" marB="25400">
                    <a:solidFill>
                      <a:srgbClr val="FFFFFF"/>
                    </a:solidFill>
                  </a:tcPr>
                </a:tc>
                <a:tc>
                  <a:txBody>
                    <a:bodyPr anchor="ctr" wrap="square"/>
                    <a:lstStyle/>
                    <a:p>
                      <a:pPr algn="ctr"/>
                      <a:r>
                        <a:rPr sz="1019" b="0">
                          <a:solidFill>
                            <a:srgbClr val="02205B"/>
                          </a:solidFill>
                          <a:latin typeface="Arial"/>
                        </a:rPr>
                        <a:t>0.66381</a:t>
                      </a:r>
                    </a:p>
                  </a:txBody>
                  <a:tcPr marL="63500" marR="63500" marT="25400" marB="25400">
                    <a:solidFill>
                      <a:srgbClr val="FFFFFF"/>
                    </a:solidFill>
                  </a:tcPr>
                </a:tc>
                <a:tc>
                  <a:txBody>
                    <a:bodyPr anchor="ctr" wrap="square"/>
                    <a:lstStyle/>
                    <a:p>
                      <a:pPr algn="ctr"/>
                      <a:r>
                        <a:rPr sz="1019" b="0">
                          <a:solidFill>
                            <a:srgbClr val="02205B"/>
                          </a:solidFill>
                          <a:latin typeface="Arial"/>
                        </a:rPr>
                        <a:t>0.64955</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LogReg SAGA L1 sparse</a:t>
                      </a:r>
                    </a:p>
                  </a:txBody>
                  <a:tcPr marL="63500" marR="63500" marT="25400" marB="25400">
                    <a:solidFill>
                      <a:srgbClr val="FFFFFF"/>
                    </a:solidFill>
                  </a:tcPr>
                </a:tc>
                <a:tc>
                  <a:txBody>
                    <a:bodyPr anchor="ctr" wrap="square"/>
                    <a:lstStyle/>
                    <a:p>
                      <a:pPr algn="ctr"/>
                      <a:r>
                        <a:rPr sz="1019" b="0">
                          <a:solidFill>
                            <a:srgbClr val="02205B"/>
                          </a:solidFill>
                          <a:latin typeface="Arial"/>
                        </a:rPr>
                        <a:t>0.66191</a:t>
                      </a:r>
                    </a:p>
                  </a:txBody>
                  <a:tcPr marL="63500" marR="63500" marT="25400" marB="25400">
                    <a:solidFill>
                      <a:srgbClr val="FFFFFF"/>
                    </a:solidFill>
                  </a:tcPr>
                </a:tc>
                <a:tc>
                  <a:txBody>
                    <a:bodyPr anchor="ctr" wrap="square"/>
                    <a:lstStyle/>
                    <a:p>
                      <a:pPr algn="ctr"/>
                      <a:r>
                        <a:rPr sz="1019" b="0">
                          <a:solidFill>
                            <a:srgbClr val="02205B"/>
                          </a:solidFill>
                          <a:latin typeface="Arial"/>
                        </a:rPr>
                        <a:t>0.63354</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CatBoost depth4 ordered</a:t>
                      </a:r>
                    </a:p>
                  </a:txBody>
                  <a:tcPr marL="63500" marR="63500" marT="25400" marB="25400">
                    <a:solidFill>
                      <a:srgbClr val="FFFFFF"/>
                    </a:solidFill>
                  </a:tcPr>
                </a:tc>
                <a:tc>
                  <a:txBody>
                    <a:bodyPr anchor="ctr" wrap="square"/>
                    <a:lstStyle/>
                    <a:p>
                      <a:pPr algn="ctr"/>
                      <a:r>
                        <a:rPr sz="1019" b="0">
                          <a:solidFill>
                            <a:srgbClr val="02205B"/>
                          </a:solidFill>
                          <a:latin typeface="Arial"/>
                        </a:rPr>
                        <a:t>0.65721</a:t>
                      </a:r>
                    </a:p>
                  </a:txBody>
                  <a:tcPr marL="63500" marR="63500" marT="25400" marB="25400">
                    <a:solidFill>
                      <a:srgbClr val="FFFFFF"/>
                    </a:solidFill>
                  </a:tcPr>
                </a:tc>
                <a:tc>
                  <a:txBody>
                    <a:bodyPr anchor="ctr" wrap="square"/>
                    <a:lstStyle/>
                    <a:p>
                      <a:pPr algn="ctr"/>
                      <a:r>
                        <a:rPr sz="1019" b="0">
                          <a:solidFill>
                            <a:srgbClr val="02205B"/>
                          </a:solidFill>
                          <a:latin typeface="Arial"/>
                        </a:rPr>
                        <a:t>0.64147</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ExtraTrees v3</a:t>
                      </a:r>
                    </a:p>
                  </a:txBody>
                  <a:tcPr marL="63500" marR="63500" marT="25400" marB="25400">
                    <a:solidFill>
                      <a:srgbClr val="FFFFFF"/>
                    </a:solidFill>
                  </a:tcPr>
                </a:tc>
                <a:tc>
                  <a:txBody>
                    <a:bodyPr anchor="ctr" wrap="square"/>
                    <a:lstStyle/>
                    <a:p>
                      <a:pPr algn="ctr"/>
                      <a:r>
                        <a:rPr sz="1019" b="0">
                          <a:solidFill>
                            <a:srgbClr val="02205B"/>
                          </a:solidFill>
                          <a:latin typeface="Arial"/>
                        </a:rPr>
                        <a:t>0.64891</a:t>
                      </a:r>
                    </a:p>
                  </a:txBody>
                  <a:tcPr marL="63500" marR="63500" marT="25400" marB="25400">
                    <a:solidFill>
                      <a:srgbClr val="FFFFFF"/>
                    </a:solidFill>
                  </a:tcPr>
                </a:tc>
                <a:tc>
                  <a:txBody>
                    <a:bodyPr anchor="ctr" wrap="square"/>
                    <a:lstStyle/>
                    <a:p>
                      <a:pPr algn="ctr"/>
                      <a:r>
                        <a:rPr sz="1019" b="0">
                          <a:solidFill>
                            <a:srgbClr val="02205B"/>
                          </a:solidFill>
                          <a:latin typeface="Arial"/>
                        </a:rPr>
                        <a:t>0.64376</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MLP quantile</a:t>
                      </a:r>
                    </a:p>
                  </a:txBody>
                  <a:tcPr marL="63500" marR="63500" marT="25400" marB="25400">
                    <a:solidFill>
                      <a:srgbClr val="FFFFFF"/>
                    </a:solidFill>
                  </a:tcPr>
                </a:tc>
                <a:tc>
                  <a:txBody>
                    <a:bodyPr anchor="ctr" wrap="square"/>
                    <a:lstStyle/>
                    <a:p>
                      <a:pPr algn="ctr"/>
                      <a:r>
                        <a:rPr sz="1019" b="0">
                          <a:solidFill>
                            <a:srgbClr val="02205B"/>
                          </a:solidFill>
                          <a:latin typeface="Arial"/>
                        </a:rPr>
                        <a:t>0.62135</a:t>
                      </a:r>
                    </a:p>
                  </a:txBody>
                  <a:tcPr marL="63500" marR="63500" marT="25400" marB="25400">
                    <a:solidFill>
                      <a:srgbClr val="FFFFFF"/>
                    </a:solidFill>
                  </a:tcPr>
                </a:tc>
                <a:tc>
                  <a:txBody>
                    <a:bodyPr anchor="ctr" wrap="square"/>
                    <a:lstStyle/>
                    <a:p>
                      <a:pPr algn="ctr"/>
                      <a:r>
                        <a:rPr sz="1019" b="0">
                          <a:solidFill>
                            <a:srgbClr val="02205B"/>
                          </a:solidFill>
                          <a:latin typeface="Arial"/>
                        </a:rPr>
                        <a:t>0.61180</a:t>
                      </a:r>
                    </a:p>
                  </a:txBody>
                  <a:tcPr marL="63500" marR="63500" marT="25400" marB="25400">
                    <a:solidFill>
                      <a:srgbClr val="FFFFFF"/>
                    </a:solidFill>
                  </a:tcPr>
                </a:tc>
              </a:tr>
              <a:tr h="336670">
                <a:tc>
                  <a:txBody>
                    <a:bodyPr anchor="ctr" wrap="square"/>
                    <a:lstStyle/>
                    <a:p>
                      <a:pPr algn="l"/>
                      <a:r>
                        <a:rPr sz="1019" b="1">
                          <a:solidFill>
                            <a:srgbClr val="02205B"/>
                          </a:solidFill>
                          <a:latin typeface="Arial"/>
                        </a:rPr>
                        <a:t>SGD modified huber</a:t>
                      </a:r>
                    </a:p>
                  </a:txBody>
                  <a:tcPr marL="63500" marR="63500" marT="25400" marB="25400">
                    <a:solidFill>
                      <a:srgbClr val="FFFFFF"/>
                    </a:solidFill>
                  </a:tcPr>
                </a:tc>
                <a:tc>
                  <a:txBody>
                    <a:bodyPr anchor="ctr" wrap="square"/>
                    <a:lstStyle/>
                    <a:p>
                      <a:pPr algn="ctr"/>
                      <a:r>
                        <a:rPr sz="1019" b="0">
                          <a:solidFill>
                            <a:srgbClr val="02205B"/>
                          </a:solidFill>
                          <a:latin typeface="Arial"/>
                        </a:rPr>
                        <a:t>0.61849</a:t>
                      </a:r>
                    </a:p>
                  </a:txBody>
                  <a:tcPr marL="63500" marR="63500" marT="25400" marB="25400">
                    <a:solidFill>
                      <a:srgbClr val="FFFFFF"/>
                    </a:solidFill>
                  </a:tcPr>
                </a:tc>
                <a:tc>
                  <a:txBody>
                    <a:bodyPr anchor="ctr" wrap="square"/>
                    <a:lstStyle/>
                    <a:p>
                      <a:pPr algn="ctr"/>
                      <a:r>
                        <a:rPr sz="1019" b="0">
                          <a:solidFill>
                            <a:srgbClr val="02205B"/>
                          </a:solidFill>
                          <a:latin typeface="Arial"/>
                        </a:rPr>
                        <a:t>0.58620</a:t>
                      </a:r>
                    </a:p>
                  </a:txBody>
                  <a:tcPr marL="63500" marR="63500" marT="25400" marB="25400">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0"/>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45" name="Google Shape;145;p10"/>
          <p:cNvSpPr txBox="1"/>
          <p:nvPr/>
        </p:nvSpPr>
        <p:spPr>
          <a:xfrm>
            <a:off x="837372" y="1215225"/>
            <a:ext cx="9144828"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Бленды: зачем и как</a:t>
            </a:r>
            <a:endParaRPr sz="3000" b="1">
              <a:solidFill>
                <a:srgbClr val="0B1F4D"/>
              </a:solidFill>
              <a:latin typeface="Arial"/>
              <a:ea typeface="Arial"/>
              <a:cs typeface="Arial"/>
              <a:sym typeface="Arial"/>
            </a:endParaRPr>
          </a:p>
        </p:txBody>
      </p:sp>
      <p:sp>
        <p:nvSpPr>
          <p:cNvPr id="146" name="Google Shape;146;p10"/>
          <p:cNvSpPr txBox="1"/>
          <p:nvPr/>
        </p:nvSpPr>
        <p:spPr>
          <a:xfrm>
            <a:off x="6247203" y="529421"/>
            <a:ext cx="2591997"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48" name="Google Shape;148;p10"/>
          <p:cNvSpPr txBox="1"/>
          <p:nvPr/>
        </p:nvSpPr>
        <p:spPr>
          <a:xfrm>
            <a:off x="3492100" y="458537"/>
            <a:ext cx="2399665" cy="705321"/>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49" name="Google Shape;149;p10" descr="$PPTXTitle"/>
          <p:cNvSpPr txBox="1">
            <a:spLocks noGrp="1"/>
          </p:cNvSpPr>
          <p:nvPr>
            <p:ph type="title"/>
          </p:nvPr>
        </p:nvSpPr>
        <p:spPr>
          <a:xfrm>
            <a:off x="10609272" y="529421"/>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10/15</a:t>
            </a:r>
            <a:endParaRPr sz="2400">
              <a:latin typeface="Calibri"/>
              <a:ea typeface="Calibri"/>
              <a:cs typeface="Calibri"/>
              <a:sym typeface="Calibri"/>
            </a:endParaRPr>
          </a:p>
        </p:txBody>
      </p:sp>
      <p:sp>
        <p:nvSpPr>
          <p:cNvPr id="150" name="TextBox 149"/>
          <p:cNvSpPr txBox="1"/>
          <p:nvPr/>
        </p:nvSpPr>
        <p:spPr>
          <a:xfrm>
            <a:off x="731520" y="1828800"/>
            <a:ext cx="5120640" cy="3291840"/>
          </a:xfrm>
          <a:prstGeom prst="rect">
            <a:avLst/>
          </a:prstGeom>
          <a:noFill/>
        </p:spPr>
        <p:txBody>
          <a:bodyPr wrap="square" lIns="36576" tIns="18288" rIns="36576" bIns="18288">
            <a:noAutofit/>
          </a:bodyPr>
          <a:lstStyle/>
          <a:p>
            <a:r>
              <a:rPr b="1" sz="1400">
                <a:solidFill>
                  <a:srgbClr val="061A4D"/>
                </a:solidFill>
                <a:latin typeface="Arial"/>
              </a:rPr>
              <a:t>Идея</a:t>
            </a:r>
          </a:p>
          <a:p/>
          <a:p>
            <a:r>
              <a:rPr sz="1200">
                <a:solidFill>
                  <a:srgbClr val="061A4D"/>
                </a:solidFill>
                <a:latin typeface="Arial"/>
              </a:rPr>
              <a:t>Одиночные модели ошибаются по-разному: LightGBM-варианты, XGBoost, CatBoost, FLAML и ExtraTrees ловят разные части сигнала. Поэтому мы смешивали probability- и rank-предсказания.</a:t>
            </a:r>
          </a:p>
        </p:txBody>
      </p:sp>
      <p:sp>
        <p:nvSpPr>
          <p:cNvPr id="151" name="TextBox 150"/>
          <p:cNvSpPr txBox="1"/>
          <p:nvPr/>
        </p:nvSpPr>
        <p:spPr>
          <a:xfrm>
            <a:off x="6172200" y="1828800"/>
            <a:ext cx="5029200" cy="3291840"/>
          </a:xfrm>
          <a:prstGeom prst="rect">
            <a:avLst/>
          </a:prstGeom>
          <a:noFill/>
        </p:spPr>
        <p:txBody>
          <a:bodyPr wrap="square" lIns="36576" tIns="18288" rIns="36576" bIns="18288">
            <a:noAutofit/>
          </a:bodyPr>
          <a:lstStyle/>
          <a:p>
            <a:r>
              <a:rPr b="1" sz="1400">
                <a:solidFill>
                  <a:srgbClr val="061A4D"/>
                </a:solidFill>
                <a:latin typeface="Arial"/>
              </a:rPr>
              <a:t>Как комбинировали</a:t>
            </a:r>
          </a:p>
          <a:p/>
          <a:p>
            <a:r>
              <a:rPr sz="1200">
                <a:solidFill>
                  <a:srgbClr val="061A4D"/>
                </a:solidFill>
                <a:latin typeface="Arial"/>
              </a:rPr>
              <a:t>• probability blend: среднее / взвешенное среднее прогнозов</a:t>
            </a:r>
          </a:p>
          <a:p>
            <a:r>
              <a:rPr sz="1200">
                <a:solidFill>
                  <a:srgbClr val="061A4D"/>
                </a:solidFill>
                <a:latin typeface="Arial"/>
              </a:rPr>
              <a:t>• rank blend: усреднение порядков объектов</a:t>
            </a:r>
          </a:p>
          <a:p>
            <a:r>
              <a:rPr sz="1200">
                <a:solidFill>
                  <a:srgbClr val="061A4D"/>
                </a:solidFill>
                <a:latin typeface="Arial"/>
              </a:rPr>
              <a:t>• random search весов по OOF</a:t>
            </a:r>
          </a:p>
          <a:p>
            <a:r>
              <a:rPr sz="1200">
                <a:solidFill>
                  <a:srgbClr val="061A4D"/>
                </a:solidFill>
                <a:latin typeface="Arial"/>
              </a:rPr>
              <a:t>• logistic stacker на OOF-прогнозах</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59" name="Google Shape;159;p11"/>
          <p:cNvSpPr txBox="1"/>
          <p:nvPr/>
        </p:nvSpPr>
        <p:spPr>
          <a:xfrm>
            <a:off x="837372" y="1215225"/>
            <a:ext cx="9144828"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Бленды и комбинации: leaderboard</a:t>
            </a:r>
            <a:endParaRPr sz="3000" b="1">
              <a:solidFill>
                <a:srgbClr val="0B1F4D"/>
              </a:solidFill>
              <a:latin typeface="Arial"/>
              <a:ea typeface="Arial"/>
              <a:cs typeface="Arial"/>
              <a:sym typeface="Arial"/>
            </a:endParaRPr>
          </a:p>
        </p:txBody>
      </p:sp>
      <p:sp>
        <p:nvSpPr>
          <p:cNvPr id="160" name="Google Shape;160;p11"/>
          <p:cNvSpPr txBox="1"/>
          <p:nvPr/>
        </p:nvSpPr>
        <p:spPr>
          <a:xfrm>
            <a:off x="6247203" y="529421"/>
            <a:ext cx="2591997"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62" name="Google Shape;162;p11"/>
          <p:cNvSpPr txBox="1"/>
          <p:nvPr/>
        </p:nvSpPr>
        <p:spPr>
          <a:xfrm>
            <a:off x="3492100" y="458537"/>
            <a:ext cx="2399665" cy="705321"/>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63" name="Google Shape;163;p11" descr="$PPTXTitle"/>
          <p:cNvSpPr txBox="1">
            <a:spLocks noGrp="1"/>
          </p:cNvSpPr>
          <p:nvPr>
            <p:ph type="title"/>
          </p:nvPr>
        </p:nvSpPr>
        <p:spPr>
          <a:xfrm>
            <a:off x="10591800" y="531918"/>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11/15</a:t>
            </a:r>
            <a:endParaRPr sz="2400">
              <a:latin typeface="Calibri"/>
              <a:ea typeface="Calibri"/>
              <a:cs typeface="Calibri"/>
              <a:sym typeface="Calibri"/>
            </a:endParaRPr>
          </a:p>
        </p:txBody>
      </p:sp>
      <p:sp>
        <p:nvSpPr>
          <p:cNvPr id="165" name="TextBox 164"/>
          <p:cNvSpPr txBox="1"/>
          <p:nvPr/>
        </p:nvSpPr>
        <p:spPr>
          <a:xfrm>
            <a:off x="777240" y="5600000"/>
            <a:ext cx="10195560" cy="502920"/>
          </a:xfrm>
          <a:prstGeom prst="rect">
            <a:avLst/>
          </a:prstGeom>
          <a:noFill/>
        </p:spPr>
        <p:txBody>
          <a:bodyPr wrap="square" lIns="36576" tIns="18288" rIns="36576" bIns="18288">
            <a:noAutofit/>
          </a:bodyPr>
          <a:lstStyle/>
          <a:p>
            <a:r>
              <a:rPr sz="1200">
                <a:solidFill>
                  <a:srgbClr val="061A4D"/>
                </a:solidFill>
                <a:latin typeface="Arial"/>
              </a:rPr>
              <a:t>На слайде указаны не имена файлов, а состав ансамблей: какие семейства моделей смешивались и каким способом. Лучшие финальные комбинации вышли в район 0.704 private.</a:t>
            </a:r>
          </a:p>
        </p:txBody>
      </p:sp>
      <p:graphicFrame>
        <p:nvGraphicFramePr>
          <p:cNvPr id="166" name="Table 165"/>
          <p:cNvGraphicFramePr>
            <a:graphicFrameLocks noGrp="1"/>
          </p:cNvGraphicFramePr>
          <p:nvPr/>
        </p:nvGraphicFramePr>
        <p:xfrm>
          <a:off x="685800" y="1900000"/>
          <a:ext cx="10881358" cy="3200000"/>
        </p:xfrm>
        <a:graphic>
          <a:graphicData uri="http://schemas.openxmlformats.org/drawingml/2006/table">
            <a:tbl>
              <a:tblPr firstRow="1" bandRow="1">
                <a:tableStyleId>{5C22544A-7EE6-4342-B048-85BDC9FD1C3A}</a:tableStyleId>
              </a:tblPr>
              <a:tblGrid>
                <a:gridCol w="4678984"/>
                <a:gridCol w="1741017"/>
                <a:gridCol w="1741017"/>
                <a:gridCol w="2720340"/>
              </a:tblGrid>
              <a:tr h="406400">
                <a:tc>
                  <a:txBody>
                    <a:bodyPr anchor="ctr" wrap="square" lIns="38100" rIns="38100" tIns="12700" bIns="12700"/>
                    <a:lstStyle/>
                    <a:p>
                      <a:pPr algn="ctr"/>
                      <a:r>
                        <a:rPr sz="1150" b="1">
                          <a:solidFill>
                            <a:srgbClr val="061A4D"/>
                          </a:solidFill>
                          <a:latin typeface="Arial"/>
                        </a:rPr>
                        <a:t>Комбинация моделей</a:t>
                      </a:r>
                    </a:p>
                  </a:txBody>
                  <a:tcPr marL="63500" marR="63500" marT="25400" marB="25400">
                    <a:solidFill>
                      <a:srgbClr val="E5EBF8"/>
                    </a:solidFill>
                  </a:tcPr>
                </a:tc>
                <a:tc>
                  <a:txBody>
                    <a:bodyPr anchor="ctr" wrap="square" lIns="38100" rIns="38100" tIns="12700" bIns="12700"/>
                    <a:lstStyle/>
                    <a:p>
                      <a:pPr algn="ctr"/>
                      <a:r>
                        <a:rPr sz="1150" b="1">
                          <a:solidFill>
                            <a:srgbClr val="061A4D"/>
                          </a:solidFill>
                          <a:latin typeface="Arial"/>
                        </a:rPr>
                        <a:t>Private</a:t>
                      </a:r>
                    </a:p>
                  </a:txBody>
                  <a:tcPr marL="63500" marR="63500" marT="25400" marB="25400">
                    <a:solidFill>
                      <a:srgbClr val="E5EBF8"/>
                    </a:solidFill>
                  </a:tcPr>
                </a:tc>
                <a:tc>
                  <a:txBody>
                    <a:bodyPr anchor="ctr" wrap="square" lIns="38100" rIns="38100" tIns="12700" bIns="12700"/>
                    <a:lstStyle/>
                    <a:p>
                      <a:pPr algn="ctr"/>
                      <a:r>
                        <a:rPr sz="1150" b="1">
                          <a:solidFill>
                            <a:srgbClr val="061A4D"/>
                          </a:solidFill>
                          <a:latin typeface="Arial"/>
                        </a:rPr>
                        <a:t>Public</a:t>
                      </a:r>
                    </a:p>
                  </a:txBody>
                  <a:tcPr marL="63500" marR="63500" marT="25400" marB="25400">
                    <a:solidFill>
                      <a:srgbClr val="E5EBF8"/>
                    </a:solidFill>
                  </a:tcPr>
                </a:tc>
                <a:tc>
                  <a:txBody>
                    <a:bodyPr anchor="ctr" wrap="square" lIns="38100" rIns="38100" tIns="12700" bIns="12700"/>
                    <a:lstStyle/>
                    <a:p>
                      <a:pPr algn="ctr"/>
                      <a:r>
                        <a:rPr sz="1150" b="1">
                          <a:solidFill>
                            <a:srgbClr val="061A4D"/>
                          </a:solidFill>
                          <a:latin typeface="Arial"/>
                        </a:rPr>
                        <a:t>Способ смешивания</a:t>
                      </a:r>
                    </a:p>
                  </a:txBody>
                  <a:tcPr marL="63500" marR="63500" marT="25400" marB="25400">
                    <a:solidFill>
                      <a:srgbClr val="E5EBF8"/>
                    </a:solidFill>
                  </a:tcPr>
                </a:tc>
              </a:tr>
              <a:tr h="406400">
                <a:tc>
                  <a:txBody>
                    <a:bodyPr anchor="ctr" wrap="square" lIns="38100" rIns="38100" tIns="12700" bIns="12700"/>
                    <a:lstStyle/>
                    <a:p>
                      <a:pPr algn="l"/>
                      <a:r>
                        <a:rPr sz="1050" b="1">
                          <a:solidFill>
                            <a:srgbClr val="061A4D"/>
                          </a:solidFill>
                          <a:latin typeface="Arial"/>
                        </a:rPr>
                        <a:t>LightGBM variants + XGBoost + CatBoost + ExtraTrees</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0.70393</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0.67990</a:t>
                      </a:r>
                    </a:p>
                  </a:txBody>
                  <a:tcPr marL="63500" marR="63500" marT="25400" marB="25400">
                    <a:solidFill>
                      <a:srgbClr val="FFFFFF"/>
                    </a:solidFill>
                  </a:tcPr>
                </a:tc>
                <a:tc>
                  <a:txBody>
                    <a:bodyPr anchor="ctr" wrap="square" lIns="38100" rIns="38100" tIns="12700" bIns="12700"/>
                    <a:lstStyle/>
                    <a:p>
                      <a:pPr algn="l"/>
                      <a:r>
                        <a:rPr sz="1050" b="0">
                          <a:solidFill>
                            <a:srgbClr val="061A4D"/>
                          </a:solidFill>
                          <a:latin typeface="Arial"/>
                        </a:rPr>
                        <a:t>probability blend, веса по validation</a:t>
                      </a:r>
                    </a:p>
                  </a:txBody>
                  <a:tcPr marL="63500" marR="63500" marT="25400" marB="25400">
                    <a:solidFill>
                      <a:srgbClr val="FFFFFF"/>
                    </a:solidFill>
                  </a:tcPr>
                </a:tc>
              </a:tr>
              <a:tr h="406400">
                <a:tc>
                  <a:txBody>
                    <a:bodyPr anchor="ctr" wrap="square" lIns="38100" rIns="38100" tIns="12700" bIns="12700"/>
                    <a:lstStyle/>
                    <a:p>
                      <a:pPr algn="l"/>
                      <a:r>
                        <a:rPr sz="1050" b="1">
                          <a:solidFill>
                            <a:srgbClr val="061A4D"/>
                          </a:solidFill>
                          <a:latin typeface="Arial"/>
                        </a:rPr>
                        <a:t>LightGBM variants + XGBoost + CatBoost + FLAML</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0.70354</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0.68174</a:t>
                      </a:r>
                    </a:p>
                  </a:txBody>
                  <a:tcPr marL="63500" marR="63500" marT="25400" marB="25400">
                    <a:solidFill>
                      <a:srgbClr val="FFFFFF"/>
                    </a:solidFill>
                  </a:tcPr>
                </a:tc>
                <a:tc>
                  <a:txBody>
                    <a:bodyPr anchor="ctr" wrap="square" lIns="38100" rIns="38100" tIns="12700" bIns="12700"/>
                    <a:lstStyle/>
                    <a:p>
                      <a:pPr algn="l"/>
                      <a:r>
                        <a:rPr sz="1050" b="0">
                          <a:solidFill>
                            <a:srgbClr val="061A4D"/>
                          </a:solidFill>
                          <a:latin typeface="Arial"/>
                        </a:rPr>
                        <a:t>стабильный probability blend</a:t>
                      </a:r>
                    </a:p>
                  </a:txBody>
                  <a:tcPr marL="63500" marR="63500" marT="25400" marB="25400">
                    <a:solidFill>
                      <a:srgbClr val="FFFFFF"/>
                    </a:solidFill>
                  </a:tcPr>
                </a:tc>
              </a:tr>
              <a:tr h="406400">
                <a:tc>
                  <a:txBody>
                    <a:bodyPr anchor="ctr" wrap="square" lIns="38100" rIns="38100" tIns="12700" bIns="12700"/>
                    <a:lstStyle/>
                    <a:p>
                      <a:pPr algn="l"/>
                      <a:r>
                        <a:rPr sz="1050" b="1">
                          <a:solidFill>
                            <a:srgbClr val="061A4D"/>
                          </a:solidFill>
                          <a:latin typeface="Arial"/>
                        </a:rPr>
                        <a:t>LightGBM + XGBoost + CatBoost</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0.70380</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0.67877</a:t>
                      </a:r>
                    </a:p>
                  </a:txBody>
                  <a:tcPr marL="63500" marR="63500" marT="25400" marB="25400">
                    <a:solidFill>
                      <a:srgbClr val="FFFFFF"/>
                    </a:solidFill>
                  </a:tcPr>
                </a:tc>
                <a:tc>
                  <a:txBody>
                    <a:bodyPr anchor="ctr" wrap="square" lIns="38100" rIns="38100" tIns="12700" bIns="12700"/>
                    <a:lstStyle/>
                    <a:p>
                      <a:pPr algn="l"/>
                      <a:r>
                        <a:rPr sz="1050" b="0">
                          <a:solidFill>
                            <a:srgbClr val="061A4D"/>
                          </a:solidFill>
                          <a:latin typeface="Arial"/>
                        </a:rPr>
                        <a:t>rank + probability mix</a:t>
                      </a:r>
                    </a:p>
                  </a:txBody>
                  <a:tcPr marL="63500" marR="63500" marT="25400" marB="25400">
                    <a:solidFill>
                      <a:srgbClr val="FFFFFF"/>
                    </a:solidFill>
                  </a:tcPr>
                </a:tc>
              </a:tr>
              <a:tr h="406400">
                <a:tc>
                  <a:txBody>
                    <a:bodyPr anchor="ctr" wrap="square" lIns="38100" rIns="38100" tIns="12700" bIns="12700"/>
                    <a:lstStyle/>
                    <a:p>
                      <a:pPr algn="l"/>
                      <a:r>
                        <a:rPr sz="1050" b="1">
                          <a:solidFill>
                            <a:srgbClr val="061A4D"/>
                          </a:solidFill>
                          <a:latin typeface="Arial"/>
                        </a:rPr>
                        <a:t>LightGBM-heavy ансамбль</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0.70358</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0.68098</a:t>
                      </a:r>
                    </a:p>
                  </a:txBody>
                  <a:tcPr marL="63500" marR="63500" marT="25400" marB="25400">
                    <a:solidFill>
                      <a:srgbClr val="FFFFFF"/>
                    </a:solidFill>
                  </a:tcPr>
                </a:tc>
                <a:tc>
                  <a:txBody>
                    <a:bodyPr anchor="ctr" wrap="square" lIns="38100" rIns="38100" tIns="12700" bIns="12700"/>
                    <a:lstStyle/>
                    <a:p>
                      <a:pPr algn="l"/>
                      <a:r>
                        <a:rPr sz="1050" b="0">
                          <a:solidFill>
                            <a:srgbClr val="061A4D"/>
                          </a:solidFill>
                          <a:latin typeface="Arial"/>
                        </a:rPr>
                        <a:t>взвешивание нескольких LGBM-веток</a:t>
                      </a:r>
                    </a:p>
                  </a:txBody>
                  <a:tcPr marL="63500" marR="63500" marT="25400" marB="25400">
                    <a:solidFill>
                      <a:srgbClr val="FFFFFF"/>
                    </a:solidFill>
                  </a:tcPr>
                </a:tc>
              </a:tr>
              <a:tr h="406400">
                <a:tc>
                  <a:txBody>
                    <a:bodyPr anchor="ctr" wrap="square" lIns="38100" rIns="38100" tIns="12700" bIns="12700"/>
                    <a:lstStyle/>
                    <a:p>
                      <a:pPr algn="l"/>
                      <a:r>
                        <a:rPr sz="1050" b="1">
                          <a:solidFill>
                            <a:srgbClr val="061A4D"/>
                          </a:solidFill>
                          <a:latin typeface="Arial"/>
                        </a:rPr>
                        <a:t>Разнородный blend: boosting + trees + AutoML</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0.70350</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0.68002</a:t>
                      </a:r>
                    </a:p>
                  </a:txBody>
                  <a:tcPr marL="63500" marR="63500" marT="25400" marB="25400">
                    <a:solidFill>
                      <a:srgbClr val="FFFFFF"/>
                    </a:solidFill>
                  </a:tcPr>
                </a:tc>
                <a:tc>
                  <a:txBody>
                    <a:bodyPr anchor="ctr" wrap="square" lIns="38100" rIns="38100" tIns="12700" bIns="12700"/>
                    <a:lstStyle/>
                    <a:p>
                      <a:pPr algn="l"/>
                      <a:r>
                        <a:rPr sz="1050" b="0">
                          <a:solidFill>
                            <a:srgbClr val="061A4D"/>
                          </a:solidFill>
                          <a:latin typeface="Arial"/>
                        </a:rPr>
                        <a:t>консервативные веса для diversity</a:t>
                      </a:r>
                    </a:p>
                  </a:txBody>
                  <a:tcPr marL="63500" marR="63500" marT="25400" marB="25400">
                    <a:solidFill>
                      <a:srgbClr val="FFFFFF"/>
                    </a:solidFill>
                  </a:tcPr>
                </a:tc>
              </a:tr>
              <a:tr h="406400">
                <a:tc>
                  <a:txBody>
                    <a:bodyPr anchor="ctr" wrap="square" lIns="38100" rIns="38100" tIns="12700" bIns="12700"/>
                    <a:lstStyle/>
                    <a:p>
                      <a:pPr algn="l"/>
                      <a:r>
                        <a:rPr sz="1050" b="0">
                          <a:solidFill>
                            <a:srgbClr val="061A4D"/>
                          </a:solidFill>
                          <a:latin typeface="Arial"/>
                        </a:rPr>
                        <a:t>OOF logistic stacker: LGBM / XGB / CatBoost / ExtraTrees</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0.68882</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0.65974</a:t>
                      </a:r>
                    </a:p>
                  </a:txBody>
                  <a:tcPr marL="63500" marR="63500" marT="25400" marB="25400">
                    <a:solidFill>
                      <a:srgbClr val="FFFFFF"/>
                    </a:solidFill>
                  </a:tcPr>
                </a:tc>
                <a:tc>
                  <a:txBody>
                    <a:bodyPr anchor="ctr" wrap="square" lIns="38100" rIns="38100" tIns="12700" bIns="12700"/>
                    <a:lstStyle/>
                    <a:p>
                      <a:pPr algn="l"/>
                      <a:r>
                        <a:rPr sz="1050" b="0">
                          <a:solidFill>
                            <a:srgbClr val="061A4D"/>
                          </a:solidFill>
                          <a:latin typeface="Arial"/>
                        </a:rPr>
                        <a:t>логистическая регрессия по OOF-прогнозам</a:t>
                      </a:r>
                    </a:p>
                  </a:txBody>
                  <a:tcPr marL="63500" marR="63500" marT="25400" marB="25400">
                    <a:solidFill>
                      <a:srgbClr val="FFFFFF"/>
                    </a:solidFill>
                  </a:tcPr>
                </a:tc>
              </a:tr>
              <a:tr h="406400">
                <a:tc>
                  <a:txBody>
                    <a:bodyPr anchor="ctr" wrap="square" lIns="38100" rIns="38100" tIns="12700" bIns="12700"/>
                    <a:lstStyle/>
                    <a:p>
                      <a:pPr algn="l"/>
                      <a:r>
                        <a:rPr sz="1050" b="0">
                          <a:solidFill>
                            <a:srgbClr val="061A4D"/>
                          </a:solidFill>
                          <a:latin typeface="Arial"/>
                        </a:rPr>
                        <a:t>Rank-space stacker: те же базовые модели</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0.68693</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0.65636</a:t>
                      </a:r>
                    </a:p>
                  </a:txBody>
                  <a:tcPr marL="63500" marR="63500" marT="25400" marB="25400">
                    <a:solidFill>
                      <a:srgbClr val="FFFFFF"/>
                    </a:solidFill>
                  </a:tcPr>
                </a:tc>
                <a:tc>
                  <a:txBody>
                    <a:bodyPr anchor="ctr" wrap="square" lIns="38100" rIns="38100" tIns="12700" bIns="12700"/>
                    <a:lstStyle/>
                    <a:p>
                      <a:pPr algn="l"/>
                      <a:r>
                        <a:rPr sz="1050" b="0">
                          <a:solidFill>
                            <a:srgbClr val="061A4D"/>
                          </a:solidFill>
                          <a:latin typeface="Arial"/>
                        </a:rPr>
                        <a:t>стеккинг по рангам прогнозов</a:t>
                      </a:r>
                    </a:p>
                  </a:txBody>
                  <a:tcPr marL="63500" marR="63500" marT="25400" marB="25400">
                    <a:solidFill>
                      <a:srgbClr val="FFFFFF"/>
                    </a:solidFill>
                  </a:tcPr>
                </a:tc>
              </a:tr>
              <a:tr h="406400">
                <a:tc>
                  <a:txBody>
                    <a:bodyPr anchor="ctr" wrap="square" lIns="38100" rIns="38100" tIns="12700" bIns="12700"/>
                    <a:lstStyle/>
                    <a:p>
                      <a:pPr algn="l"/>
                      <a:r>
                        <a:rPr sz="1050" b="0">
                          <a:solidFill>
                            <a:srgbClr val="061A4D"/>
                          </a:solidFill>
                          <a:latin typeface="Arial"/>
                        </a:rPr>
                        <a:t>Random-search blend top моделей</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0.68497</a:t>
                      </a:r>
                    </a:p>
                  </a:txBody>
                  <a:tcPr marL="63500" marR="63500" marT="25400" marB="25400">
                    <a:solidFill>
                      <a:srgbClr val="FFFFFF"/>
                    </a:solidFill>
                  </a:tcPr>
                </a:tc>
                <a:tc>
                  <a:txBody>
                    <a:bodyPr anchor="ctr" wrap="square" lIns="38100" rIns="38100" tIns="12700" bIns="12700"/>
                    <a:lstStyle/>
                    <a:p>
                      <a:pPr algn="ctr"/>
                      <a:r>
                        <a:rPr sz="1050" b="0">
                          <a:solidFill>
                            <a:srgbClr val="061A4D"/>
                          </a:solidFill>
                          <a:latin typeface="Arial"/>
                        </a:rPr>
                        <a:t>0.65481</a:t>
                      </a:r>
                    </a:p>
                  </a:txBody>
                  <a:tcPr marL="63500" marR="63500" marT="25400" marB="25400">
                    <a:solidFill>
                      <a:srgbClr val="FFFFFF"/>
                    </a:solidFill>
                  </a:tcPr>
                </a:tc>
                <a:tc>
                  <a:txBody>
                    <a:bodyPr anchor="ctr" wrap="square" lIns="38100" rIns="38100" tIns="12700" bIns="12700"/>
                    <a:lstStyle/>
                    <a:p>
                      <a:pPr algn="l"/>
                      <a:r>
                        <a:rPr sz="1050" b="0">
                          <a:solidFill>
                            <a:srgbClr val="061A4D"/>
                          </a:solidFill>
                          <a:latin typeface="Arial"/>
                        </a:rPr>
                        <a:t>поиск весов по OOF ROC-AUC</a:t>
                      </a:r>
                    </a:p>
                  </a:txBody>
                  <a:tcPr marL="63500" marR="63500" marT="25400" marB="25400">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2"/>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72" name="Google Shape;172;p12"/>
          <p:cNvSpPr txBox="1"/>
          <p:nvPr/>
        </p:nvSpPr>
        <p:spPr>
          <a:xfrm>
            <a:off x="609600" y="1097126"/>
            <a:ext cx="8710930" cy="48260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Итог на private test</a:t>
            </a:r>
            <a:endParaRPr sz="3000">
              <a:latin typeface="Arial"/>
              <a:ea typeface="Arial"/>
              <a:cs typeface="Arial"/>
              <a:sym typeface="Arial"/>
            </a:endParaRPr>
          </a:p>
        </p:txBody>
      </p:sp>
      <p:sp>
        <p:nvSpPr>
          <p:cNvPr id="173" name="Google Shape;173;p12"/>
          <p:cNvSpPr txBox="1"/>
          <p:nvPr/>
        </p:nvSpPr>
        <p:spPr>
          <a:xfrm>
            <a:off x="6247205" y="529421"/>
            <a:ext cx="26681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75" name="Google Shape;175;p12"/>
          <p:cNvSpPr txBox="1"/>
          <p:nvPr/>
        </p:nvSpPr>
        <p:spPr>
          <a:xfrm>
            <a:off x="3492100" y="458537"/>
            <a:ext cx="2399665" cy="705321"/>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76" name="Google Shape;176;p12" descr="$PPTXTitle"/>
          <p:cNvSpPr txBox="1">
            <a:spLocks noGrp="1"/>
          </p:cNvSpPr>
          <p:nvPr>
            <p:ph type="title"/>
          </p:nvPr>
        </p:nvSpPr>
        <p:spPr>
          <a:xfrm>
            <a:off x="10591800" y="529421"/>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12/15</a:t>
            </a:r>
            <a:endParaRPr sz="2400">
              <a:latin typeface="Calibri"/>
              <a:ea typeface="Calibri"/>
              <a:cs typeface="Calibri"/>
              <a:sym typeface="Calibri"/>
            </a:endParaRPr>
          </a:p>
        </p:txBody>
      </p:sp>
      <p:graphicFrame>
        <p:nvGraphicFramePr>
          <p:cNvPr id="177" name="Table 176"/>
          <p:cNvGraphicFramePr>
            <a:graphicFrameLocks noGrp="1"/>
          </p:cNvGraphicFramePr>
          <p:nvPr/>
        </p:nvGraphicFramePr>
        <p:xfrm>
          <a:off x="868680" y="1920240"/>
          <a:ext cx="9966959" cy="2514600"/>
        </p:xfrm>
        <a:graphic>
          <a:graphicData uri="http://schemas.openxmlformats.org/drawingml/2006/table">
            <a:tbl>
              <a:tblPr firstRow="1" bandRow="1">
                <a:tableStyleId>{5C22544A-7EE6-4342-B048-85BDC9FD1C3A}</a:tableStyleId>
              </a:tblPr>
              <a:tblGrid>
                <a:gridCol w="3787444"/>
                <a:gridCol w="2192731"/>
                <a:gridCol w="3986784"/>
              </a:tblGrid>
              <a:tr h="502920">
                <a:tc>
                  <a:txBody>
                    <a:bodyPr anchor="ctr" wrap="square" lIns="38100" rIns="38100" tIns="12700" bIns="12700"/>
                    <a:lstStyle/>
                    <a:p>
                      <a:pPr algn="ctr"/>
                      <a:r>
                        <a:rPr sz="1300" b="1">
                          <a:solidFill>
                            <a:srgbClr val="061A4D"/>
                          </a:solidFill>
                          <a:latin typeface="Arial"/>
                        </a:rPr>
                        <a:t>Подход</a:t>
                      </a:r>
                    </a:p>
                  </a:txBody>
                  <a:tcPr marL="63500" marR="63500" marT="25400" marB="25400">
                    <a:solidFill>
                      <a:srgbClr val="E5EBF8"/>
                    </a:solidFill>
                  </a:tcPr>
                </a:tc>
                <a:tc>
                  <a:txBody>
                    <a:bodyPr anchor="ctr" wrap="square" lIns="38100" rIns="38100" tIns="12700" bIns="12700"/>
                    <a:lstStyle/>
                    <a:p>
                      <a:pPr algn="ctr"/>
                      <a:r>
                        <a:rPr sz="1300" b="1">
                          <a:solidFill>
                            <a:srgbClr val="061A4D"/>
                          </a:solidFill>
                          <a:latin typeface="Arial"/>
                        </a:rPr>
                        <a:t>Private ROC-AUC</a:t>
                      </a:r>
                    </a:p>
                  </a:txBody>
                  <a:tcPr marL="63500" marR="63500" marT="25400" marB="25400">
                    <a:solidFill>
                      <a:srgbClr val="E5EBF8"/>
                    </a:solidFill>
                  </a:tcPr>
                </a:tc>
                <a:tc>
                  <a:txBody>
                    <a:bodyPr anchor="ctr" wrap="square" lIns="38100" rIns="38100" tIns="12700" bIns="12700"/>
                    <a:lstStyle/>
                    <a:p>
                      <a:pPr algn="ctr"/>
                      <a:r>
                        <a:rPr sz="1300" b="1">
                          <a:solidFill>
                            <a:srgbClr val="061A4D"/>
                          </a:solidFill>
                          <a:latin typeface="Arial"/>
                        </a:rPr>
                        <a:t>Что это значит</a:t>
                      </a:r>
                    </a:p>
                  </a:txBody>
                  <a:tcPr marL="63500" marR="63500" marT="25400" marB="25400">
                    <a:solidFill>
                      <a:srgbClr val="E5EBF8"/>
                    </a:solidFill>
                  </a:tcPr>
                </a:tc>
              </a:tr>
              <a:tr h="502920">
                <a:tc>
                  <a:txBody>
                    <a:bodyPr anchor="ctr" wrap="square" lIns="38100" rIns="38100" tIns="12700" bIns="12700"/>
                    <a:lstStyle/>
                    <a:p>
                      <a:pPr algn="l"/>
                      <a:r>
                        <a:rPr sz="1200" b="1">
                          <a:solidFill>
                            <a:srgbClr val="061A4D"/>
                          </a:solidFill>
                          <a:latin typeface="Arial"/>
                        </a:rPr>
                        <a:t>Лучшая одиночная модель</a:t>
                      </a:r>
                    </a:p>
                  </a:txBody>
                  <a:tcPr marL="63500" marR="63500" marT="25400" marB="25400">
                    <a:solidFill>
                      <a:srgbClr val="FFFFFF"/>
                    </a:solidFill>
                  </a:tcPr>
                </a:tc>
                <a:tc>
                  <a:txBody>
                    <a:bodyPr anchor="ctr" wrap="square" lIns="38100" rIns="38100" tIns="12700" bIns="12700"/>
                    <a:lstStyle/>
                    <a:p>
                      <a:pPr algn="ctr"/>
                      <a:r>
                        <a:rPr sz="1200" b="0">
                          <a:solidFill>
                            <a:srgbClr val="061A4D"/>
                          </a:solidFill>
                          <a:latin typeface="Arial"/>
                        </a:rPr>
                        <a:t>0.69074</a:t>
                      </a:r>
                    </a:p>
                  </a:txBody>
                  <a:tcPr marL="63500" marR="63500" marT="25400" marB="25400">
                    <a:solidFill>
                      <a:srgbClr val="FFFFFF"/>
                    </a:solidFill>
                  </a:tcPr>
                </a:tc>
                <a:tc>
                  <a:txBody>
                    <a:bodyPr anchor="ctr" wrap="square" lIns="38100" rIns="38100" tIns="12700" bIns="12700"/>
                    <a:lstStyle/>
                    <a:p>
                      <a:pPr algn="l"/>
                      <a:r>
                        <a:rPr sz="1200" b="0">
                          <a:solidFill>
                            <a:srgbClr val="061A4D"/>
                          </a:solidFill>
                          <a:latin typeface="Arial"/>
                        </a:rPr>
                        <a:t>LightGBM на top500 engineered-признаках</a:t>
                      </a:r>
                    </a:p>
                  </a:txBody>
                  <a:tcPr marL="63500" marR="63500" marT="25400" marB="25400">
                    <a:solidFill>
                      <a:srgbClr val="FFFFFF"/>
                    </a:solidFill>
                  </a:tcPr>
                </a:tc>
              </a:tr>
              <a:tr h="502920">
                <a:tc>
                  <a:txBody>
                    <a:bodyPr anchor="ctr" wrap="square" lIns="38100" rIns="38100" tIns="12700" bIns="12700"/>
                    <a:lstStyle/>
                    <a:p>
                      <a:pPr algn="l"/>
                      <a:r>
                        <a:rPr sz="1200" b="1">
                          <a:solidFill>
                            <a:srgbClr val="061A4D"/>
                          </a:solidFill>
                          <a:latin typeface="Arial"/>
                        </a:rPr>
                        <a:t>Сильные одиночные модели</a:t>
                      </a:r>
                    </a:p>
                  </a:txBody>
                  <a:tcPr marL="63500" marR="63500" marT="25400" marB="25400">
                    <a:solidFill>
                      <a:srgbClr val="FFFFFF"/>
                    </a:solidFill>
                  </a:tcPr>
                </a:tc>
                <a:tc>
                  <a:txBody>
                    <a:bodyPr anchor="ctr" wrap="square" lIns="38100" rIns="38100" tIns="12700" bIns="12700"/>
                    <a:lstStyle/>
                    <a:p>
                      <a:pPr algn="ctr"/>
                      <a:r>
                        <a:rPr sz="1200" b="0">
                          <a:solidFill>
                            <a:srgbClr val="061A4D"/>
                          </a:solidFill>
                          <a:latin typeface="Arial"/>
                        </a:rPr>
                        <a:t>≈ 0.683–0.689</a:t>
                      </a:r>
                    </a:p>
                  </a:txBody>
                  <a:tcPr marL="63500" marR="63500" marT="25400" marB="25400">
                    <a:solidFill>
                      <a:srgbClr val="FFFFFF"/>
                    </a:solidFill>
                  </a:tcPr>
                </a:tc>
                <a:tc>
                  <a:txBody>
                    <a:bodyPr anchor="ctr" wrap="square" lIns="38100" rIns="38100" tIns="12700" bIns="12700"/>
                    <a:lstStyle/>
                    <a:p>
                      <a:pPr algn="l"/>
                      <a:r>
                        <a:rPr sz="1200" b="0">
                          <a:solidFill>
                            <a:srgbClr val="061A4D"/>
                          </a:solidFill>
                          <a:latin typeface="Arial"/>
                        </a:rPr>
                        <a:t>LightGBM DART, XGBoost, CatBoost, ExtraTrees</a:t>
                      </a:r>
                    </a:p>
                  </a:txBody>
                  <a:tcPr marL="63500" marR="63500" marT="25400" marB="25400">
                    <a:solidFill>
                      <a:srgbClr val="FFFFFF"/>
                    </a:solidFill>
                  </a:tcPr>
                </a:tc>
              </a:tr>
              <a:tr h="502920">
                <a:tc>
                  <a:txBody>
                    <a:bodyPr anchor="ctr" wrap="square" lIns="38100" rIns="38100" tIns="12700" bIns="12700"/>
                    <a:lstStyle/>
                    <a:p>
                      <a:pPr algn="l"/>
                      <a:r>
                        <a:rPr sz="1200" b="1">
                          <a:solidFill>
                            <a:srgbClr val="061A4D"/>
                          </a:solidFill>
                          <a:latin typeface="Arial"/>
                        </a:rPr>
                        <a:t>Лучшие финальные комбинации</a:t>
                      </a:r>
                    </a:p>
                  </a:txBody>
                  <a:tcPr marL="63500" marR="63500" marT="25400" marB="25400">
                    <a:solidFill>
                      <a:srgbClr val="FFFFFF"/>
                    </a:solidFill>
                  </a:tcPr>
                </a:tc>
                <a:tc>
                  <a:txBody>
                    <a:bodyPr anchor="ctr" wrap="square" lIns="38100" rIns="38100" tIns="12700" bIns="12700"/>
                    <a:lstStyle/>
                    <a:p>
                      <a:pPr algn="ctr"/>
                      <a:r>
                        <a:rPr sz="1200" b="0">
                          <a:solidFill>
                            <a:srgbClr val="061A4D"/>
                          </a:solidFill>
                          <a:latin typeface="Arial"/>
                        </a:rPr>
                        <a:t>0.70340–0.70393</a:t>
                      </a:r>
                    </a:p>
                  </a:txBody>
                  <a:tcPr marL="63500" marR="63500" marT="25400" marB="25400">
                    <a:solidFill>
                      <a:srgbClr val="FFFFFF"/>
                    </a:solidFill>
                  </a:tcPr>
                </a:tc>
                <a:tc>
                  <a:txBody>
                    <a:bodyPr anchor="ctr" wrap="square" lIns="38100" rIns="38100" tIns="12700" bIns="12700"/>
                    <a:lstStyle/>
                    <a:p>
                      <a:pPr algn="l"/>
                      <a:r>
                        <a:rPr sz="1200" b="0">
                          <a:solidFill>
                            <a:srgbClr val="061A4D"/>
                          </a:solidFill>
                          <a:latin typeface="Arial"/>
                        </a:rPr>
                        <a:t>probability/rank blends разнородных моделей</a:t>
                      </a:r>
                    </a:p>
                  </a:txBody>
                  <a:tcPr marL="63500" marR="63500" marT="25400" marB="25400">
                    <a:solidFill>
                      <a:srgbClr val="FFFFFF"/>
                    </a:solidFill>
                  </a:tcPr>
                </a:tc>
              </a:tr>
              <a:tr h="502920">
                <a:tc>
                  <a:txBody>
                    <a:bodyPr anchor="ctr" wrap="square" lIns="38100" rIns="38100" tIns="12700" bIns="12700"/>
                    <a:lstStyle/>
                    <a:p>
                      <a:pPr algn="l"/>
                      <a:r>
                        <a:rPr sz="1200" b="1">
                          <a:solidFill>
                            <a:srgbClr val="061A4D"/>
                          </a:solidFill>
                          <a:latin typeface="Arial"/>
                        </a:rPr>
                        <a:t>Прирост к лучшей solo-модели</a:t>
                      </a:r>
                    </a:p>
                  </a:txBody>
                  <a:tcPr marL="63500" marR="63500" marT="25400" marB="25400">
                    <a:solidFill>
                      <a:srgbClr val="FFFFFF"/>
                    </a:solidFill>
                  </a:tcPr>
                </a:tc>
                <a:tc>
                  <a:txBody>
                    <a:bodyPr anchor="ctr" wrap="square" lIns="38100" rIns="38100" tIns="12700" bIns="12700"/>
                    <a:lstStyle/>
                    <a:p>
                      <a:pPr algn="ctr"/>
                      <a:r>
                        <a:rPr sz="1200" b="0">
                          <a:solidFill>
                            <a:srgbClr val="061A4D"/>
                          </a:solidFill>
                          <a:latin typeface="Arial"/>
                        </a:rPr>
                        <a:t>≈ +0.0132</a:t>
                      </a:r>
                    </a:p>
                  </a:txBody>
                  <a:tcPr marL="63500" marR="63500" marT="25400" marB="25400">
                    <a:solidFill>
                      <a:srgbClr val="FFFFFF"/>
                    </a:solidFill>
                  </a:tcPr>
                </a:tc>
                <a:tc>
                  <a:txBody>
                    <a:bodyPr anchor="ctr" wrap="square" lIns="38100" rIns="38100" tIns="12700" bIns="12700"/>
                    <a:lstStyle/>
                    <a:p>
                      <a:pPr algn="l"/>
                      <a:r>
                        <a:rPr sz="1200" b="0">
                          <a:solidFill>
                            <a:srgbClr val="061A4D"/>
                          </a:solidFill>
                          <a:latin typeface="Arial"/>
                        </a:rPr>
                        <a:t>ансамбль добавил качество за счёт разных ошибок</a:t>
                      </a:r>
                    </a:p>
                  </a:txBody>
                  <a:tcPr marL="63500" marR="63500" marT="25400" marB="25400">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3"/>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82" name="Google Shape;182;p13"/>
          <p:cNvSpPr txBox="1"/>
          <p:nvPr/>
        </p:nvSpPr>
        <p:spPr>
          <a:xfrm>
            <a:off x="567325" y="1212283"/>
            <a:ext cx="8710930" cy="48260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lang="ru-RU" sz="3000" dirty="0">
                <a:latin typeface="Arial"/>
                <a:ea typeface="Arial"/>
                <a:cs typeface="Arial"/>
                <a:sym typeface="Arial"/>
              </a:rPr>
              <a:t>Итоги</a:t>
            </a:r>
            <a:endParaRPr sz="3000" dirty="0">
              <a:latin typeface="Arial"/>
              <a:ea typeface="Arial"/>
              <a:cs typeface="Arial"/>
              <a:sym typeface="Arial"/>
            </a:endParaRPr>
          </a:p>
        </p:txBody>
      </p:sp>
      <p:sp>
        <p:nvSpPr>
          <p:cNvPr id="183" name="Google Shape;183;p13"/>
          <p:cNvSpPr txBox="1"/>
          <p:nvPr/>
        </p:nvSpPr>
        <p:spPr>
          <a:xfrm>
            <a:off x="6247205" y="529421"/>
            <a:ext cx="26681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85" name="Google Shape;185;p13"/>
          <p:cNvSpPr txBox="1"/>
          <p:nvPr/>
        </p:nvSpPr>
        <p:spPr>
          <a:xfrm>
            <a:off x="3492100" y="458537"/>
            <a:ext cx="2399665" cy="705321"/>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86" name="Google Shape;186;p13" descr="$PPTXTitle"/>
          <p:cNvSpPr txBox="1">
            <a:spLocks noGrp="1"/>
          </p:cNvSpPr>
          <p:nvPr>
            <p:ph type="title"/>
          </p:nvPr>
        </p:nvSpPr>
        <p:spPr>
          <a:xfrm>
            <a:off x="10591800" y="506024"/>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13/15</a:t>
            </a:r>
            <a:endParaRPr sz="2400">
              <a:latin typeface="Calibri"/>
              <a:ea typeface="Calibri"/>
              <a:cs typeface="Calibri"/>
              <a:sym typeface="Calibri"/>
            </a:endParaRPr>
          </a:p>
        </p:txBody>
      </p:sp>
      <p:sp>
        <p:nvSpPr>
          <p:cNvPr id="187" name="TextBox 186"/>
          <p:cNvSpPr txBox="1"/>
          <p:nvPr/>
        </p:nvSpPr>
        <p:spPr>
          <a:xfrm>
            <a:off x="685800" y="1783080"/>
            <a:ext cx="5120640" cy="3886200"/>
          </a:xfrm>
          <a:prstGeom prst="rect">
            <a:avLst/>
          </a:prstGeom>
          <a:noFill/>
        </p:spPr>
        <p:txBody>
          <a:bodyPr wrap="square" lIns="36576" tIns="18288" rIns="36576" bIns="18288">
            <a:noAutofit/>
          </a:bodyPr>
          <a:lstStyle/>
          <a:p>
            <a:r>
              <a:rPr sz="1450" b="1">
                <a:solidFill>
                  <a:srgbClr val="0B1F4D"/>
                </a:solidFill>
                <a:latin typeface="Arial"/>
              </a:rPr>
              <a:t>Сработало</a:t>
            </a:r>
          </a:p>
          <a:p>
            <a:endParaRPr sz="1450" b="1">
              <a:solidFill>
                <a:srgbClr val="0B1F4D"/>
              </a:solidFill>
              <a:latin typeface="Arial"/>
            </a:endParaRPr>
          </a:p>
          <a:p>
            <a:r>
              <a:rPr sz="1450" b="0">
                <a:solidFill>
                  <a:srgbClr val="0B1F4D"/>
                </a:solidFill>
                <a:latin typeface="Arial"/>
              </a:rPr>
              <a:t>• сильные бустинги на разных feature spaces</a:t>
            </a:r>
          </a:p>
          <a:p>
            <a:r>
              <a:rPr sz="1450" b="0">
                <a:solidFill>
                  <a:srgbClr val="0B1F4D"/>
                </a:solidFill>
                <a:latin typeface="Arial"/>
              </a:rPr>
              <a:t>• OOF target encoding и meta-features без утечки</a:t>
            </a:r>
          </a:p>
          <a:p>
            <a:r>
              <a:rPr sz="1450" b="0">
                <a:solidFill>
                  <a:srgbClr val="0B1F4D"/>
                </a:solidFill>
                <a:latin typeface="Arial"/>
              </a:rPr>
              <a:t>• drift-aware варианты признаков</a:t>
            </a:r>
          </a:p>
          <a:p>
            <a:r>
              <a:rPr sz="1450" b="0">
                <a:solidFill>
                  <a:srgbClr val="0B1F4D"/>
                </a:solidFill>
                <a:latin typeface="Arial"/>
              </a:rPr>
              <a:t>• probability + rank blending</a:t>
            </a:r>
          </a:p>
          <a:p>
            <a:r>
              <a:rPr sz="1450" b="0">
                <a:solidFill>
                  <a:srgbClr val="0B1F4D"/>
                </a:solidFill>
                <a:latin typeface="Arial"/>
              </a:rPr>
              <a:t>• подбор весов ансамбля по OOF</a:t>
            </a:r>
          </a:p>
        </p:txBody>
      </p:sp>
      <p:sp>
        <p:nvSpPr>
          <p:cNvPr id="188" name="TextBox 187"/>
          <p:cNvSpPr txBox="1"/>
          <p:nvPr/>
        </p:nvSpPr>
        <p:spPr>
          <a:xfrm>
            <a:off x="6080760" y="1783080"/>
            <a:ext cx="5074920" cy="3886200"/>
          </a:xfrm>
          <a:prstGeom prst="rect">
            <a:avLst/>
          </a:prstGeom>
          <a:noFill/>
        </p:spPr>
        <p:txBody>
          <a:bodyPr wrap="square" lIns="36576" tIns="18288" rIns="36576" bIns="18288">
            <a:noAutofit/>
          </a:bodyPr>
          <a:lstStyle/>
          <a:p>
            <a:r>
              <a:rPr sz="1450" b="1">
                <a:solidFill>
                  <a:srgbClr val="0B1F4D"/>
                </a:solidFill>
                <a:latin typeface="Arial"/>
              </a:rPr>
              <a:t>Не дало устойчивого прироста</a:t>
            </a:r>
          </a:p>
          <a:p>
            <a:endParaRPr sz="1450" b="1">
              <a:solidFill>
                <a:srgbClr val="0B1F4D"/>
              </a:solidFill>
              <a:latin typeface="Arial"/>
            </a:endParaRPr>
          </a:p>
          <a:p>
            <a:r>
              <a:rPr sz="1450" b="0">
                <a:solidFill>
                  <a:srgbClr val="0B1F4D"/>
                </a:solidFill>
                <a:latin typeface="Arial"/>
              </a:rPr>
              <a:t>• ставка на один «лучший» датасет</a:t>
            </a:r>
          </a:p>
          <a:p>
            <a:r>
              <a:rPr sz="1450" b="0">
                <a:solidFill>
                  <a:srgbClr val="0B1F4D"/>
                </a:solidFill>
                <a:latin typeface="Arial"/>
              </a:rPr>
              <a:t>• нейросети без дополнительной регуляризации</a:t>
            </a:r>
          </a:p>
          <a:p>
            <a:r>
              <a:rPr sz="1450" b="0">
                <a:solidFill>
                  <a:srgbClr val="0B1F4D"/>
                </a:solidFill>
                <a:latin typeface="Arial"/>
              </a:rPr>
              <a:t>• чистый correlation-based feature selection</a:t>
            </a:r>
          </a:p>
          <a:p>
            <a:r>
              <a:rPr sz="1450" b="0">
                <a:solidFill>
                  <a:srgbClr val="0B1F4D"/>
                </a:solidFill>
                <a:latin typeface="Arial"/>
              </a:rPr>
              <a:t>• агрессивный подбор по public-score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4"/>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92" name="Google Shape;192;p14"/>
          <p:cNvSpPr txBox="1"/>
          <p:nvPr/>
        </p:nvSpPr>
        <p:spPr>
          <a:xfrm>
            <a:off x="6247204" y="529421"/>
            <a:ext cx="2668196"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94" name="Google Shape;194;p14"/>
          <p:cNvSpPr txBox="1"/>
          <p:nvPr/>
        </p:nvSpPr>
        <p:spPr>
          <a:xfrm>
            <a:off x="3492100" y="458537"/>
            <a:ext cx="2399665" cy="705321"/>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95" name="Google Shape;195;p14" descr="$PPTXTitle"/>
          <p:cNvSpPr txBox="1">
            <a:spLocks noGrp="1"/>
          </p:cNvSpPr>
          <p:nvPr>
            <p:ph type="title"/>
          </p:nvPr>
        </p:nvSpPr>
        <p:spPr>
          <a:xfrm>
            <a:off x="10545240" y="501146"/>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14/15</a:t>
            </a:r>
            <a:endParaRPr sz="2400">
              <a:latin typeface="Calibri"/>
              <a:ea typeface="Calibri"/>
              <a:cs typeface="Calibri"/>
              <a:sym typeface="Calibri"/>
            </a:endParaRPr>
          </a:p>
        </p:txBody>
      </p:sp>
      <p:sp>
        <p:nvSpPr>
          <p:cNvPr id="196" name="TextBox 195"/>
          <p:cNvSpPr txBox="1"/>
          <p:nvPr/>
        </p:nvSpPr>
        <p:spPr>
          <a:xfrm>
            <a:off x="640080" y="1234440"/>
            <a:ext cx="10972800" cy="502920"/>
          </a:xfrm>
          <a:prstGeom prst="rect">
            <a:avLst/>
          </a:prstGeom>
          <a:noFill/>
        </p:spPr>
        <p:txBody>
          <a:bodyPr wrap="square" lIns="36576" tIns="18288" rIns="36576" bIns="18288">
            <a:noAutofit/>
          </a:bodyPr>
          <a:lstStyle/>
          <a:p>
            <a:r>
              <a:rPr sz="3000" b="1">
                <a:solidFill>
                  <a:srgbClr val="0B1F4D"/>
                </a:solidFill>
                <a:latin typeface="Arial"/>
              </a:rPr>
              <a:t>Выводы</a:t>
            </a:r>
          </a:p>
        </p:txBody>
      </p:sp>
      <p:sp>
        <p:nvSpPr>
          <p:cNvPr id="197" name="TextBox 196"/>
          <p:cNvSpPr txBox="1"/>
          <p:nvPr/>
        </p:nvSpPr>
        <p:spPr>
          <a:xfrm>
            <a:off x="777240" y="1965960"/>
            <a:ext cx="10515600" cy="3931920"/>
          </a:xfrm>
          <a:prstGeom prst="rect">
            <a:avLst/>
          </a:prstGeom>
          <a:noFill/>
        </p:spPr>
        <p:txBody>
          <a:bodyPr wrap="square" lIns="36576" tIns="18288" rIns="36576" bIns="18288">
            <a:noAutofit/>
          </a:bodyPr>
          <a:lstStyle/>
          <a:p>
            <a:r>
              <a:rPr sz="1500">
                <a:solidFill>
                  <a:srgbClr val="061A4D"/>
                </a:solidFill>
                <a:latin typeface="Arial"/>
              </a:rPr>
              <a:t>Построен полный ML-пайплайн для табличной задачи бинарной классификации с сильным дисбалансом классов.</a:t>
            </a:r>
          </a:p>
          <a:p/>
          <a:p>
            <a:r>
              <a:rPr sz="1500">
                <a:solidFill>
                  <a:srgbClr val="061A4D"/>
                </a:solidFill>
                <a:latin typeface="Arial"/>
              </a:rPr>
              <a:t>1. EDA показал слабый одиночный сигнал, избыточность признаков и важность нелинейных комбинаций.</a:t>
            </a:r>
          </a:p>
          <a:p>
            <a:r>
              <a:rPr sz="1500">
                <a:solidFill>
                  <a:srgbClr val="061A4D"/>
                </a:solidFill>
                <a:latin typeface="Arial"/>
              </a:rPr>
              <a:t>2. Feature engineering дал несколько полезных пространств признаков вместо одного универсального набора.</a:t>
            </a:r>
          </a:p>
          <a:p>
            <a:r>
              <a:rPr sz="1500">
                <a:solidFill>
                  <a:srgbClr val="061A4D"/>
                </a:solidFill>
                <a:latin typeface="Arial"/>
              </a:rPr>
              <a:t>3. Лучший одиночный submit на private test: 0.69074 ROC-AUC.</a:t>
            </a:r>
          </a:p>
          <a:p>
            <a:r>
              <a:rPr sz="1500">
                <a:solidFill>
                  <a:srgbClr val="061A4D"/>
                </a:solidFill>
                <a:latin typeface="Arial"/>
              </a:rPr>
              <a:t>4. Лучшие финальные комбинации моделей: до 0.70393 private ROC-AUC.</a:t>
            </a:r>
          </a:p>
          <a:p>
            <a:r>
              <a:rPr sz="1500">
                <a:solidFill>
                  <a:srgbClr val="061A4D"/>
                </a:solidFill>
                <a:latin typeface="Arial"/>
              </a:rPr>
              <a:t>5. Основной вклад дали разнородные бустинги, rank/probability blending и аккуратный контроль валидации.</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99"/>
        <p:cNvGrpSpPr/>
        <p:nvPr/>
      </p:nvGrpSpPr>
      <p:grpSpPr>
        <a:xfrm>
          <a:off x="0" y="0"/>
          <a:ext cx="0" cy="0"/>
          <a:chOff x="0" y="0"/>
          <a:chExt cx="0" cy="0"/>
        </a:xfrm>
      </p:grpSpPr>
      <p:sp>
        <p:nvSpPr>
          <p:cNvPr id="200" name="Google Shape;200;p15"/>
          <p:cNvSpPr/>
          <p:nvPr/>
        </p:nvSpPr>
        <p:spPr>
          <a:xfrm>
            <a:off x="29198" y="152400"/>
            <a:ext cx="12192000" cy="6858000"/>
          </a:xfrm>
          <a:custGeom>
            <a:avLst/>
            <a:gdLst/>
            <a:ahLst/>
            <a:cxnLst/>
            <a:rect l="l" t="t" r="r" b="b"/>
            <a:pathLst>
              <a:path w="12192000" h="6858000" extrusionOk="0">
                <a:moveTo>
                  <a:pt x="12191999" y="6857999"/>
                </a:moveTo>
                <a:lnTo>
                  <a:pt x="0" y="6857999"/>
                </a:lnTo>
                <a:lnTo>
                  <a:pt x="0" y="0"/>
                </a:lnTo>
                <a:lnTo>
                  <a:pt x="12191999" y="0"/>
                </a:lnTo>
                <a:lnTo>
                  <a:pt x="12191999" y="6857999"/>
                </a:lnTo>
                <a:close/>
              </a:path>
            </a:pathLst>
          </a:custGeom>
          <a:solidFill>
            <a:srgbClr val="0F2C6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201" name="Google Shape;201;p15"/>
          <p:cNvGrpSpPr/>
          <p:nvPr/>
        </p:nvGrpSpPr>
        <p:grpSpPr>
          <a:xfrm>
            <a:off x="29200" y="-78300"/>
            <a:ext cx="12192000" cy="6858000"/>
            <a:chOff x="0" y="0"/>
            <a:chExt cx="12192000" cy="6858000"/>
          </a:xfrm>
        </p:grpSpPr>
        <p:sp>
          <p:nvSpPr>
            <p:cNvPr id="202" name="Google Shape;202;p15"/>
            <p:cNvSpPr/>
            <p:nvPr/>
          </p:nvSpPr>
          <p:spPr>
            <a:xfrm>
              <a:off x="0" y="0"/>
              <a:ext cx="12192000" cy="6858000"/>
            </a:xfrm>
            <a:custGeom>
              <a:avLst/>
              <a:gdLst/>
              <a:ahLst/>
              <a:cxnLst/>
              <a:rect l="l" t="t" r="r" b="b"/>
              <a:pathLst>
                <a:path w="12192000" h="6858000" extrusionOk="0">
                  <a:moveTo>
                    <a:pt x="0" y="0"/>
                  </a:moveTo>
                  <a:lnTo>
                    <a:pt x="12191999" y="0"/>
                  </a:lnTo>
                  <a:lnTo>
                    <a:pt x="12191999" y="6857999"/>
                  </a:lnTo>
                  <a:lnTo>
                    <a:pt x="0" y="6857999"/>
                  </a:lnTo>
                  <a:lnTo>
                    <a:pt x="0" y="0"/>
                  </a:lnTo>
                  <a:close/>
                </a:path>
              </a:pathLst>
            </a:custGeom>
            <a:noFill/>
            <a:ln w="12675" cap="flat" cmpd="sng">
              <a:solidFill>
                <a:srgbClr val="0A20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03" name="Google Shape;203;p15"/>
            <p:cNvPicPr preferRelativeResize="0"/>
            <p:nvPr/>
          </p:nvPicPr>
          <p:blipFill rotWithShape="1">
            <a:blip r:embed="rId3">
              <a:alphaModFix/>
            </a:blip>
            <a:srcRect/>
            <a:stretch/>
          </p:blipFill>
          <p:spPr>
            <a:xfrm>
              <a:off x="5310809" y="2643809"/>
              <a:ext cx="1570383" cy="1570382"/>
            </a:xfrm>
            <a:prstGeom prst="rect">
              <a:avLst/>
            </a:prstGeom>
            <a:noFill/>
            <a:ln>
              <a:noFill/>
            </a:ln>
          </p:spPr>
        </p:pic>
      </p:grpSp>
      <p:sp>
        <p:nvSpPr>
          <p:cNvPr id="204" name="Google Shape;204;p15"/>
          <p:cNvSpPr txBox="1"/>
          <p:nvPr/>
        </p:nvSpPr>
        <p:spPr>
          <a:xfrm>
            <a:off x="292281" y="5416124"/>
            <a:ext cx="4806315" cy="421640"/>
          </a:xfrm>
          <a:prstGeom prst="rect">
            <a:avLst/>
          </a:prstGeom>
          <a:noFill/>
          <a:ln>
            <a:noFill/>
          </a:ln>
        </p:spPr>
        <p:txBody>
          <a:bodyPr spcFirstLastPara="1" wrap="square" lIns="0" tIns="12700" rIns="0" bIns="0" anchor="t" anchorCtr="0">
            <a:noAutofit/>
          </a:bodyPr>
          <a:lstStyle/>
          <a:p>
            <a:r>
              <a:rPr lang="ru-RU" sz="900" b="0" dirty="0" err="1">
                <a:solidFill>
                  <a:srgbClr val="FFFFFF"/>
                </a:solidFill>
                <a:latin typeface="Trebuchet MS"/>
              </a:rPr>
              <a:t>Пеганов</a:t>
            </a:r>
            <a:r>
              <a:rPr lang="ru-RU" sz="900" b="0" dirty="0">
                <a:solidFill>
                  <a:srgbClr val="FFFFFF"/>
                </a:solidFill>
                <a:latin typeface="Trebuchet MS"/>
              </a:rPr>
              <a:t> Илья, Поздеев Арсений, Сорочан Дмитрий</a:t>
            </a:r>
          </a:p>
          <a:p>
            <a:r>
              <a:rPr sz="900" b="0" dirty="0">
                <a:solidFill>
                  <a:srgbClr val="FFFFFF"/>
                </a:solidFill>
                <a:latin typeface="Trebuchet MS"/>
              </a:rPr>
              <a:t>VK Predict CMC Hackathon</a:t>
            </a:r>
          </a:p>
        </p:txBody>
      </p:sp>
      <p:sp>
        <p:nvSpPr>
          <p:cNvPr id="205" name="Google Shape;205;p15"/>
          <p:cNvSpPr txBox="1"/>
          <p:nvPr/>
        </p:nvSpPr>
        <p:spPr>
          <a:xfrm>
            <a:off x="5011647" y="4369083"/>
            <a:ext cx="2386965" cy="299720"/>
          </a:xfrm>
          <a:prstGeom prst="rect">
            <a:avLst/>
          </a:prstGeom>
          <a:noFill/>
          <a:ln>
            <a:noFill/>
          </a:ln>
        </p:spPr>
        <p:txBody>
          <a:bodyPr spcFirstLastPara="1" wrap="square" lIns="0" tIns="12700" rIns="0" bIns="0" anchor="t" anchorCtr="0">
            <a:noAutofit/>
          </a:bodyPr>
          <a:lstStyle/>
          <a:p>
            <a:pPr marL="12700" lvl="0" indent="0" algn="ctr" rtl="0">
              <a:lnSpc>
                <a:spcPct val="100000"/>
              </a:lnSpc>
              <a:spcBef>
                <a:spcPts val="0"/>
              </a:spcBef>
              <a:spcAft>
                <a:spcPts val="0"/>
              </a:spcAft>
              <a:buNone/>
            </a:pPr>
            <a:r>
              <a:rPr sz="1800" b="1">
                <a:solidFill>
                  <a:srgbClr val="FFFFFF"/>
                </a:solidFill>
                <a:latin typeface="Arial"/>
              </a:rPr>
              <a:t>Спасибо за внимание!</a:t>
            </a:r>
            <a:endParaRPr sz="1800">
              <a:latin typeface="Trebuchet MS"/>
              <a:ea typeface="Trebuchet MS"/>
              <a:cs typeface="Trebuchet MS"/>
              <a:sym typeface="Trebuchet MS"/>
            </a:endParaRPr>
          </a:p>
        </p:txBody>
      </p:sp>
      <p:sp>
        <p:nvSpPr>
          <p:cNvPr id="206" name="Google Shape;206;p15"/>
          <p:cNvSpPr txBox="1"/>
          <p:nvPr/>
        </p:nvSpPr>
        <p:spPr>
          <a:xfrm>
            <a:off x="7045986" y="5423746"/>
            <a:ext cx="4815205" cy="825867"/>
          </a:xfrm>
          <a:prstGeom prst="rect">
            <a:avLst/>
          </a:prstGeom>
          <a:noFill/>
          <a:ln>
            <a:noFill/>
          </a:ln>
        </p:spPr>
        <p:txBody>
          <a:bodyPr spcFirstLastPara="1" wrap="square" lIns="0" tIns="12700" rIns="0" bIns="0" anchor="t" anchorCtr="0">
            <a:noAutofit/>
          </a:bodyPr>
          <a:lstStyle/>
          <a:p>
            <a:pPr marL="63500" marR="5080" lvl="0" indent="-51435" algn="l" rtl="0">
              <a:spcBef>
                <a:spcPts val="0"/>
              </a:spcBef>
              <a:spcAft>
                <a:spcPts val="0"/>
              </a:spcAft>
              <a:buNone/>
            </a:pPr>
            <a:r>
              <a:rPr sz="900" b="0">
                <a:solidFill>
                  <a:srgbClr val="FFFFFF"/>
                </a:solidFill>
                <a:latin typeface="Trebuchet MS"/>
              </a:rPr>
              <a:t>Прогнозирование склонности пользователя к секретному событию</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1098</Words>
  <Application>Microsoft Macintosh PowerPoint</Application>
  <PresentationFormat>Widescreen</PresentationFormat>
  <Paragraphs>266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Trebuchet MS</vt:lpstr>
      <vt:lpstr>Helvetica Neue</vt:lpstr>
      <vt:lpstr>Calibri</vt:lpstr>
      <vt:lpstr>Office Theme</vt:lpstr>
      <vt:lpstr>PowerPoint Presentation</vt:lpstr>
      <vt:lpstr>2/15</vt:lpstr>
      <vt:lpstr>3/15</vt:lpstr>
      <vt:lpstr>4/15</vt:lpstr>
      <vt:lpstr>5/15</vt:lpstr>
      <vt:lpstr>6/15</vt:lpstr>
      <vt:lpstr>7/15</vt:lpstr>
      <vt:lpstr>8/15</vt:lpstr>
      <vt:lpstr>9/15</vt:lpstr>
      <vt:lpstr>10/15</vt:lpstr>
      <vt:lpstr>11/15</vt:lpstr>
      <vt:lpstr>12/15</vt:lpstr>
      <vt:lpstr>13/15</vt:lpstr>
      <vt:lpstr>14/15</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Дмитрий Сорочан</cp:lastModifiedBy>
  <cp:revision>1</cp:revision>
  <dcterms:created xsi:type="dcterms:W3CDTF">2026-06-09T00:00:31Z</dcterms:created>
  <dcterms:modified xsi:type="dcterms:W3CDTF">2026-06-16T10:51:34Z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2026-06-09T00:00:00Z</vt:filetime>
  </property>
  <property fmtid="{D5CDD505-2E9C-101B-9397-08002B2CF9AE}" pid="4" name="Creator">
    <vt:lpwstr>Google</vt:lpwstr>
  </property>
  <property fmtid="{D5CDD505-2E9C-101B-9397-08002B2CF9AE}" pid="5" name="LastSaved">
    <vt:filetime>2026-06-09T00:00:00Z</vt:filetime>
  </property>
</Properties>
</file>